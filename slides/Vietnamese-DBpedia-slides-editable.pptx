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 Topic, architecture, data collection (Trung)" id="{0c1d069a-b2ec-7668-0f9d-a55f6204d9f1}">
          <p14:sldIdLst>
            <p14:sldId id="256"/>
            <p14:sldId id="257"/>
            <p14:sldId id="258"/>
            <p14:sldId id="259"/>
            <p14:sldId id="260"/>
          </p14:sldIdLst>
        </p14:section>
        <p14:section name="Part 2 · Ontology, RDF and one entity (Phung)" id="{7f327440-1caa-3ba8-8fb9-e1a9713753b7}">
          <p14:sldIdLst>
            <p14:sldId id="261"/>
            <p14:sldId id="262"/>
            <p14:sldId id="263"/>
            <p14:sldId id="264"/>
            <p14:sldId id="265"/>
          </p14:sldIdLst>
        </p14:section>
        <p14:section name="Part 3 · Quality, Linked Data, interface (Hoang)" id="{d7946786-2991-1184-b80b-a29166289226}">
          <p14:sldIdLst>
            <p14:sldId id="266"/>
            <p14:sldId id="267"/>
            <p14:sldId id="268"/>
            <p14:sldId id="269"/>
            <p14:sldId id="270"/>
            <p14:sldId id="271"/>
          </p14:sldIdLst>
        </p14:section>
        <p14:section name="Part 4 · Live demo, evaluation, closing (Dung)" id="{e3e1705a-86fc-6fe7-4caf-28b9b855f517}">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Title</a:t>
            </a:r>
          </a:p>
          <a:p>
            <a:r>
              <a:t>Nói: Chào thầy và các bạn. Nhóm 23 trình bày đề tài 2 của môn Semantic Web: xây dựng một phiên bản DBpedia cho tiếng Việt. Mình là Trung, mở đầu bằng đề bài, kiến trúc và cách nhóm thu thập dữ liệu.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The Assignment and What We Built</a:t>
            </a:r>
          </a:p>
          <a:p>
            <a:r>
              <a:t>Nói: Đề bài có năm yêu cầu, và bảng này cho thấy nhóm đáp ứng từng yêu cầu ra sao: ontology vio: 18 lớp, 990 bài viết tiếng Việt, 131 nghìn triple RDF, 777 liên kết sang DBpedia tiếng Anh, và giao diện truy vấn. Nhóm không trích toàn bộ Wikipedia tiếng Việt mà chọn một miền và làm sâu.</a:t>
            </a:r>
          </a:p>
          <a:p>
            <a:r>
              <a:t>Số phải trúng: 18 lớp, 54 thuộc tính; 990 bài; 131.543 triple; 777 liên kết.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Why This Domain?</a:t>
            </a:r>
          </a:p>
          <a:p>
            <a:r>
              <a:t>Nói: Miền được chọn là bóng đá Việt Nam, tỉnh thành và đại học, vì các thực thể trỏ lẫn nhau: cầu thủ, câu lạc bộ, sân nhà, tỉnh. 97% bài có infobox, 78% có bài tiếng Anh để liên kết.</a:t>
            </a:r>
          </a:p>
          <a:p>
            <a:r>
              <a:t>Số phải trúng: 611 cầu thủ, 110 tỉnh (34 hiện hành); 97%, 78%.</a:t>
            </a:r>
          </a:p>
          <a:p>
            <a:r>
              <a:t>Nếu bị hỏi "sao không chọn thực thể theo thể loại Wikipedia?": thể loại do người viết gán, không nhất quán; Wikidata cho lớp (P31) và quốc gia (Q881) chính xác hơn.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Architecture</a:t>
            </a:r>
          </a:p>
          <a:p>
            <a:r>
              <a:t>Nói: Hệ thống có bốn tầng, mỗi bước là một lệnh. Chỉ tầng thu thập gọi mạng; mọi thứ được cache nên dựng lại được mà không cần Internet.</a:t>
            </a:r>
          </a:p>
          <a:p>
            <a:r>
              <a:t>Số phải trúng: 6 lệnh: seeds, enrich, ontology, build, postprocess, serve.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Collecting Entities and Articles</a:t>
            </a:r>
          </a:p>
          <a:p>
            <a:r>
              <a:t>Nói: Mỗi lớp là một truy vấn Wikidata; đây là truy vấn cho cầu thủ. Sau đó lấy bài viết qua MediaWiki API: abstract, thể loại, redirect và tham số infobox. Request được giãn cách và cache lại. Tiếp theo, Phụng trình bày ontology và cách chuyển dữ liệu sang RDF.</a:t>
            </a:r>
          </a:p>
          <a:p>
            <a:r>
              <a:t>Số phải trúng: 2.588 đích liên kết trong infobox, 71 trang định hướng.</a:t>
            </a:r>
          </a:p>
          <a:p>
            <a:r>
              <a:t>Nếu bị hỏi "sao không dùng bản dump của Wikipedia?": với 990 bài, API nhanh hơn và chỉ lấy đúng phần cần; cache SQLite và cờ --offline cho kết quả lặp lại được như dùng dump.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Ontology vio: as an RDFS Graph</a:t>
            </a:r>
          </a:p>
          <a:p>
            <a:r>
              <a:t>Nói: Mình là Phụng, phụ trách ontology và cách chuyển dữ liệu sang RDF. Đây là một phần ontology vẽ dạng đồ thị RDFS. Phía trên đường kẻ là schema: lớp là rdfs:Class, thuộc tính là rdf:Property, nối bằng subClassOf và subPropertyOf; careerStation có domain là cầu thủ, range là chặng thi đấu. Phía dưới là dữ liệu: Công Phượng có chặng thi đấu ở Hoàng Anh Gia Lai, quê Nghệ An. Nét đứt là triple RDFS suy ra: Công Phượng cũng là dbo:Person. Trên cùng là dbo:Animal: DBpedia tự đặt dbo:Person dưới dbo:Animal, nhóm giữ nguyên chuỗi lớp đó.</a:t>
            </a:r>
          </a:p>
          <a:p>
            <a:r>
              <a:t>Số phải trúng: toàn bộ ontology có 18 lớp, 54 thuộc tính; lớp nào cũng là lớp con của một lớp DBpedia.</a:t>
            </a:r>
          </a:p>
          <a:p>
            <a:r>
              <a:t>Nếu bị hỏi "vì sao Công Phượng là dbo:Person?": luật rdfs9, kiểu được truyền lên theo subClassOf: FootballPlayer ⊑ Athlete ⊑ Person ⊑ dbo:Person, và tiếp lên dbo:Animal (luật rdfs11).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OWL Axioms Do the Work ← DỪNG</a:t>
            </a:r>
          </a:p>
          <a:p>
            <a:r>
              <a:t>Nói: Các tiên đề OWL làm phần lớn công việc. Chuỗi thuộc tính careerStation rồi team cho 2.772 cạnh "từng thi đấu cho". Ràng buộc tồn tại xếp 486 cầu thủ vào lớp tuyển thủ quốc gia. Ràng buộc "với mọi" gán lớp CLB cho 154 đội không phải seed. Tiên đề tách lớp còn giúp phát hiện hai lỗi mô hình hoá.</a:t>
            </a:r>
          </a:p>
          <a:p>
            <a:r>
              <a:t>Số phải trúng: 2.772; 486; 154; 2 lỗi.</a:t>
            </a:r>
          </a:p>
          <a:p>
            <a:r>
              <a:t>Nếu bị hỏi "vì sao không đặt domain cho latitude hay province?": CLB và trường đại học cũng có toạ độ và tỉnh; nếu domain là Location thì reasoner sẽ suy ra CLB là địa điểm, trái với tiên đề tách lớp.</a:t>
            </a:r>
          </a:p>
          <a:p>
            <a:r>
              <a:t>Nếu bị hỏi "vì sao có nhãn Động vật mà không có vio:Animal?": ontology hai tầng theo bài giảng. Tầng trên dùng lại lớp dbo: (thêm nhãn tiếng Việt, rdfs:isDefinedBy dbo:); chỉ tạo lớp vio: khi cần tiên đề như domain hay tách lớp. vio: nối lên dbo: bằng subClassOf chứ không equivalentClass, để tiên đề của nhóm chỉ ràng buộc dữ liệu của nhóm (anti-pattern Exclusivity). Tiên đề tuyển thủ quốc gia viết dạng giao FootballPlayer ⊓ ∃careerStation.NationalTeamStation cũng theo lời giải của anti-pattern này.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 From Wikitext to RDF</a:t>
            </a:r>
          </a:p>
          <a:p>
            <a:r>
              <a:t>Nói: Infobox đi qua bốn bước: diễn giải template, đọc giá trị kiểu Việt như "16.361,2" hay dấu cho mượn, ánh xạ khoá sang vio:, rồi chọn Wikidata hay infobox cho từng thuộc tính. Các hàng năm, CLB, số trận, bàn thắng thành 3.382 chặng thi đấu.</a:t>
            </a:r>
          </a:p>
          <a:p>
            <a:r>
              <a:t>Số phải trúng: 3.382 chặng của 601 cầu thủ; 24.605 triple infobox thô.</a:t>
            </a:r>
          </a:p>
          <a:p>
            <a:r>
              <a:t>Nếu bị hỏi "khi Wikidata và infobox khác nhau thì lấy bên nào?": bảng PRECEDENCE quyết định; Wikidata cho ngày, chiều cao, dân số, sức chứa; infobox cho số áo, số sinh viên, khẩu hiệu.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 Transform to 4★: One Infobox, Before and After ← DỪNG</a:t>
            </a:r>
          </a:p>
          <a:p>
            <a:r>
              <a:t>Nói: Đây là bước chuyển sang 4 sao trên một infobox thật. Phía trên là wikitext: máy đọc được nhưng chỉ là chữ, không có URI. Phía dưới là RDF: mỗi thứ có một IRI, kể cả chặng cho mượn ở Mito; giá trị có kiểu, như ngày sinh là xsd:date; dấu "mượn" thành onLoan true; còn chiều cao lấy theo Wikidata là 1,68 thay vì 1,69 của infobox.</a:t>
            </a:r>
          </a:p>
          <a:p>
            <a:r>
              <a:t>Số phải trúng: 21/01/1995; Mito HollyHock 2016, 5 trận, 0 bàn, cho mượn.</a:t>
            </a:r>
          </a:p>
          <a:p>
            <a:r>
              <a:t>Nếu bị hỏi "3 sao khác 4 sao ở đâu?": 3 sao là định dạng mở như CSV hay JSON; 4 sao là dùng URI để định danh từng thứ, để người khác trỏ tới và tra được (303 ở slide 13).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 One Entity, End to End ← DỪNG</a:t>
            </a:r>
          </a:p>
          <a:p>
            <a:r>
              <a:t>Nói: Ghép lại, đây là Nguyễn Công Phượng dưới dạng đồ thị RDF, vẽ đúng ký hiệu bài giảng: elip là tài nguyên, chữ nhật là literal, mỗi mũi tên là một triple ghi tên thuộc tính. Nét xám là dữ liệu khai báo: nhãn, ngày sinh, tỉnh Nghệ An và chặng cho mượn năm 2016 sang Mito HollyHock. Nét đỏ đứt là phần suy luận: kiểu dbo:SoccerPlayer, cạnh playedFor từ chuỗi thuộc tính, và Mito được xếp vào lớp CLB nhờ ràng buộc ∀ của ClubStation. Nét xanh là liên kết owl:sameAs sang DBpedia và Wikidata. Tiếp theo, Hoàng trình bày phần kiểm tra, suy luận và Linked Data.</a:t>
            </a:r>
          </a:p>
          <a:p>
            <a:r>
              <a:t>Số phải trúng: 11 chặng thi đấu; chặng mượn 2016: 5 trận, 0 bàn.</a:t>
            </a:r>
          </a:p>
          <a:p>
            <a:r>
              <a:t>Nếu bị hỏi "chặng thi đấu là gì trong RDF?": một tài nguyên trung gian cho quan hệ nhiều ngôi (cầu thủ, đội, năm, số trận), như nút trung gian ở slide 02_RDF và mẫu "Roles taken at a time" ở slide 07; nhóm đặt IRI cho nó thay vì nút rỗng để nó cũng tra được.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 Validation and OWL 2 RL Reasoning</a:t>
            </a:r>
          </a:p>
          <a:p>
            <a:r>
              <a:t>Nói: Mình là Hoàng, phụ trách kiểm tra chất lượng, suy luận, Linked Data và giao diện. Trước khi xuất, tám hàm kiểm tra chạy trên dữ liệu: lần dựng cuối không có lỗi nào. Suy luận thêm 41.730 triple trong 35 giây, nhờ đó truy vấn bằng từ vựng DBpedia mới có kết quả. Suy luận còn bắt được hai lỗi mô hình hoá mà nhóm đã sửa.</a:t>
            </a:r>
          </a:p>
          <a:p>
            <a:r>
              <a:t>Số phải trúng: 0 lỗi, 0 cảnh báo; 152 test (62 của pipeline, 90 của giao diện); +41.730 triple.</a:t>
            </a:r>
          </a:p>
          <a:p>
            <a:r>
              <a:t>Nếu bị hỏi về hai lỗi: (1) đội tuyển bị suy ra là CLB vì domain của ground đặt sai; (2) khai báo tenant là nghịch đảo của ground làm sai sân nhà, vì ô "bên thuê" liệt kê mọi đội từng dùng sân.</a:t>
            </a:r>
          </a:p>
          <a:p>
            <a:r>
              <a:t>Nếu bị hỏi "sao bỏ owl:sameAs và functional khỏi reasoner?": OWL 2 RL sinh x sameAs x cho mọi nút và gộp các thực thể có cùng giá trị functional; functional được kiểm tra riêng ở bước validation.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 Linking to English DBpedia ← DỪNG</a:t>
            </a:r>
          </a:p>
          <a:p>
            <a:r>
              <a:t>Nói: Liên kết lấy từ sitelink tiếng Anh của chính item Wikidata, không ghép theo tên vì tên Việt trùng nhiều. Có 777 liên kết sang DBpedia và 990 sang Wikidata. Nhóm kiểm tra cả 777 trên DBpedia thật: 733 trỏ đúng bài viết, 44 còn lại lệch vì DBpedia lấy dữ liệu từ bản Wikipedia cũ hơn.</a:t>
            </a:r>
          </a:p>
          <a:p>
            <a:r>
              <a:t>Số phải trúng: 777 / 990; 733 (94,3%); 12 đổi hướng, 32 chưa có.</a:t>
            </a:r>
          </a:p>
          <a:p>
            <a:r>
              <a:t>Nếu bị hỏi "sửa 44 liên kết thế nào?": 12 cái đi theo dbo:wikiPageRedirects là sửa được; 32 cái phải chờ bản DBpedia mới hoặc kiểm lại sau mỗi lần phát hành.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 Dereferenceable IRIs</a:t>
            </a:r>
          </a:p>
          <a:p>
            <a:r>
              <a:t>Nói: Mỗi IRI tra được như DBpedia: máy chủ trả 303, chuyển trình duyệt tới trang thực thể và chuyển client RDF tới Turtle, N-Triples, JSON-LD hoặc RDF/XML theo header Accept. Endpoint /sparql theo chuẩn SPARQL 1.1 Protocol, chạy cùng máy chủ ở cổng 8000.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 Five Stars, Checked</a:t>
            </a:r>
          </a:p>
          <a:p>
            <a:r>
              <a:t>Nói: Vậy dataset đạt đủ năm sao: giấy phép mở, máy đọc được, định dạng mở, URI cho mọi thứ, và liên kết sang DBpedia, Wikidata. Lưu ý duy nhất: nhóm không sở hữu tên miền vi.dbpedia.org, nên IRI chỉ mở được qua máy chủ của dự án.</a:t>
            </a:r>
          </a:p>
          <a:p>
            <a:r>
              <a:t>Nếu bị hỏi "vậy sao đã đủ 4 sao?": 4 sao đòi hỏi định danh bằng URI và tra được; IRI của nhóm dereference đúng chuẩn (303, content negotiation) trên máy chủ dự án; đưa lên Internet thật thì cần một tên miền của nhóm hoặc dịch vụ như w3id.org.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 Web Interface</a:t>
            </a:r>
          </a:p>
          <a:p>
            <a:r>
              <a:t>Nói: Giao diện có năm trang: Tổng quan, Ontology, Thực thể, Hỏi đáp và SPARQL. Bên trái là trang thực thể giống dbpedia.org/page: lớp khai báo và lớp suy luận, thẻ Liên kết dữ liệu mở, đồ thị lân cận kéo thả được. Bên phải là trang SPARQL đang đếm thực thể theo lớp DBpedia, toàn bộ có nhờ suy luận: tắt công tắc suy luận thì số dbo:Person từ 659 về 0.</a:t>
            </a:r>
          </a:p>
          <a:p>
            <a:r>
              <a:t>(Không demo ở đây: Dũng demo trực tiếp ngay sau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 Question Answering</a:t>
            </a:r>
          </a:p>
          <a:p>
            <a:r>
              <a:t>Nói: Trang Hỏi đáp nhận câu hỏi tiếng Việt hoặc tiếng Anh và hiện câu trả lời ngay dưới ô hỏi, bên dưới là sáu bước: nhận diện thực thể bằng chỉ mục tên, mô hình viết SPARQL với IRI đã nhận diện, kiểm tra truy vấn, chạy có và không có suy luận, mô hình trả lời từ tối đa 30 dòng, và đồ thị bằng chứng. Ví dụ hỏi ai từng chơi cho Than Quảng Ninh: 39 cầu thủ khi có suy luận, 0 khi chỉ dùng dữ liệu khai báo. Sau đây, Dũng demo trực tiếp trên web.</a:t>
            </a:r>
          </a:p>
          <a:p>
            <a:r>
              <a:t>Số phải trúng: 39 và 0; 10,7 giây xuống 0,27 giây nhờ subquery.</a:t>
            </a:r>
          </a:p>
          <a:p>
            <a:r>
              <a:t>Nếu bị hỏi "LLM viết sai truy vấn thì sao?": truy vấn được parse trước khi chạy, chỉ SELECT/ASK, không FROM/SERVICE; bước kiểm tra nêu tên IRI không có trong graph hoặc sai lớp và gửi lại cho mô hình sửa; mọi lần thử đều hiện ra trên trang.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 Evaluation</a:t>
            </a:r>
          </a:p>
          <a:p>
            <a:r>
              <a:t>Nói (trước demo): Mình là Dũng. Mình demo nhanh hệ thống đang chạy, rồi tổng kết đánh giá, hạn chế và hướng phát triển.</a:t>
            </a:r>
          </a:p>
          <a:p>
            <a:r>
              <a:t>Demo (25–30 giây, quay màn hình): chạy sẵn python -m ui.api (cổng 8000) trước khi quay, và bấm câu mẫu Than Quảng Ninh một lần để server nhớ kết quả. Mở http://127.0.0.1:8000/entity/Nguyễn_Công_Phượng: lớp khai báo, lớp suy luận, thẻ Liên kết dữ liệu mở; kéo một nút trong đồ thị lân cận, rồi tắt công tắc "Hiện suy luận" để các cạnh playedFor nét đứt biến mất. Sang Hỏi đáp, bấm câu mẫu "Cầu thủ nào từng chơi cho Than Quảng Ninh?": câu trả lời hiện ngay dưới ô hỏi, bước 4 cho thấy 39 dòng có suy luận và 0 dòng chỉ khai báo. Hỏi đáp dùng key LLM trong .env (đang là gpt-4o); LLM lỗi thì câu mẫu vẫn chạy bằng SPARQL viết sẵn.</a:t>
            </a:r>
          </a:p>
          <a:p>
            <a:r>
              <a:t>Nói (sau demo): Graph trả lời đúng các câu hỏi năng lực, ví dụ còn 34 tỉnh thành, Nghệ An nhiều cầu thủ nhất với 58 người. Mỗi câu là một test tự động.</a:t>
            </a:r>
          </a:p>
          <a:p>
            <a:r>
              <a:t>Số phải trúng: 34; Nghệ An 58; 11 đội của Công Phượng.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 Limitations and Future Work</a:t>
            </a:r>
          </a:p>
          <a:p>
            <a:r>
              <a:t>Nói: Hạn chế chính: mới một miền 990 thực thể, 44 liên kết DBpedia cần sửa, endpoint /sparql chưa giới hạn thời gian truy vấn, và chưa đo độ chính xác của hỏi đáp trên một bộ câu hỏi. Hướng tiếp theo: giới hạn thời gian hoặc dùng triple store khi dữ liệu lớn, thêm lớp mới, và bộ câu hỏi tiếng Việt để đo hỏi đáp.</a:t>
            </a:r>
          </a:p>
          <a:p>
            <a:r>
              <a:t>Nếu bị hỏi "SPARQL endpoint ở đâu?": http://127.0.0.1:8000/sparql, đúng SPARQL 1.1 Protocol, gọi bằng curl hay SPARQLWrapper; trong terminal thì dùng python -m vidbpedia query.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 Conclusion</a:t>
            </a:r>
          </a:p>
          <a:p>
            <a:r>
              <a:t>Nói: Tóm lại, nhóm đã xây dựng một DBpedia tiếng Việt năm sao cho ba miền dữ liệu. Suy luận OWL là thứ giúp dữ liệu dùng chung được với DBpedia. Mã nguồn và dữ liệu có trên GitHub.</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 Thank you</a:t>
            </a:r>
          </a:p>
          <a:p>
            <a:r>
              <a:t>Nói: Cảm ơn thầy và các bạn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UST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HUST_CLOSING-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UST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1627632"/>
            <a:ext cx="5486400" cy="347472"/>
          </a:xfrm>
          <a:prstGeom prst="rect">
            <a:avLst/>
          </a:prstGeom>
          <a:noFill/>
          <a:ln/>
        </p:spPr>
        <p:txBody>
          <a:bodyPr wrap="square" rtlCol="0"/>
          <a:lstStyle>
            <a:lvl1pPr indent="0" marL="0">
              <a:buNone/>
              <a:defRPr lang="en-US" sz="1600" b="1" dirty="0">
                <a:solidFill>
                  <a:schemeClr val="accent4"/>
                </a:solidFill>
              </a:defRPr>
            </a:lvl1pPr>
          </a:lstStyle>
          <a:p>
            <a:pPr indent="0" marL="0">
              <a:buNone/>
            </a:pPr>
            <a:endParaRPr lang="en-US" sz="1600" dirty="0"/>
          </a:p>
        </p:txBody>
      </p:sp>
      <p:sp>
        <p:nvSpPr>
          <p:cNvPr id="3" name="Text 0"/>
          <p:cNvSpPr/>
          <p:nvPr>
            <p:ph idx="101" type="title" hasCustomPrompt="1"/>
          </p:nvPr>
        </p:nvSpPr>
        <p:spPr>
          <a:xfrm>
            <a:off x="457200" y="1965960"/>
            <a:ext cx="6949440" cy="868680"/>
          </a:xfrm>
          <a:prstGeom prst="rect">
            <a:avLst/>
          </a:prstGeom>
          <a:noFill/>
          <a:ln/>
        </p:spPr>
        <p:txBody>
          <a:bodyPr wrap="square" rtlCol="0"/>
          <a:lstStyle>
            <a:lvl1pPr indent="0" marL="0">
              <a:buNone/>
              <a:defRPr lang="en-US" sz="5000" b="1" dirty="0">
                <a:solidFill>
                  <a:schemeClr val="accent1"/>
                </a:solidFill>
              </a:defRPr>
            </a:lvl1pPr>
          </a:lstStyle>
          <a:p>
            <a:pPr indent="0" marL="0">
              <a:buNone/>
            </a:pPr>
            <a:endParaRPr lang="en-US" sz="5000" dirty="0"/>
          </a:p>
        </p:txBody>
      </p:sp>
      <p:sp>
        <p:nvSpPr>
          <p:cNvPr id="4" name="Text 0"/>
          <p:cNvSpPr/>
          <p:nvPr>
            <p:ph idx="102" type="body" hasCustomPrompt="1"/>
          </p:nvPr>
        </p:nvSpPr>
        <p:spPr>
          <a:xfrm>
            <a:off x="502920" y="2971800"/>
            <a:ext cx="6035040" cy="868680"/>
          </a:xfrm>
          <a:prstGeom prst="rect">
            <a:avLst/>
          </a:prstGeom>
          <a:noFill/>
          <a:ln/>
        </p:spPr>
        <p:txBody>
          <a:bodyPr wrap="square" rtlCol="0"/>
          <a:lstStyle>
            <a:lvl1pPr indent="0" marL="0">
              <a:buNone/>
              <a:defRPr lang="en-US" sz="2400" dirty="0">
                <a:solidFill>
                  <a:schemeClr val="accent1"/>
                </a:solidFill>
              </a:defRPr>
            </a:lvl1pPr>
          </a:lstStyle>
          <a:p>
            <a:pPr indent="0" marL="0">
              <a:buNone/>
            </a:pPr>
            <a:endParaRPr lang="en-US" sz="2400" dirty="0"/>
          </a:p>
        </p:txBody>
      </p:sp>
      <p:sp>
        <p:nvSpPr>
          <p:cNvPr id="5" name="Text 0"/>
          <p:cNvSpPr/>
          <p:nvPr>
            <p:ph idx="103" type="body" hasCustomPrompt="1"/>
          </p:nvPr>
        </p:nvSpPr>
        <p:spPr>
          <a:xfrm>
            <a:off x="502920" y="3931920"/>
            <a:ext cx="2743200" cy="365760"/>
          </a:xfrm>
          <a:prstGeom prst="rect">
            <a:avLst/>
          </a:prstGeom>
          <a:noFill/>
          <a:ln/>
        </p:spPr>
        <p:txBody>
          <a:bodyPr wrap="square" rtlCol="0"/>
          <a:lstStyle>
            <a:lvl1pPr indent="0" marL="0">
              <a:buNone/>
              <a:defRPr lang="en-US" sz="2000" b="1" dirty="0">
                <a:solidFill>
                  <a:schemeClr val="accent1"/>
                </a:solidFill>
              </a:defRPr>
            </a:lvl1pPr>
          </a:lstStyle>
          <a:p>
            <a:pPr indent="0" marL="0">
              <a:buNone/>
            </a:pPr>
            <a:endParaRPr lang="en-US" sz="2000" dirty="0"/>
          </a:p>
        </p:txBody>
      </p:sp>
      <p:sp>
        <p:nvSpPr>
          <p:cNvPr id="6" name="Text 0"/>
          <p:cNvSpPr/>
          <p:nvPr>
            <p:ph idx="104" type="body" hasCustomPrompt="1"/>
          </p:nvPr>
        </p:nvSpPr>
        <p:spPr>
          <a:xfrm>
            <a:off x="658368" y="4297680"/>
            <a:ext cx="2011680" cy="105156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
        <p:nvSpPr>
          <p:cNvPr id="7" name="Text 0"/>
          <p:cNvSpPr/>
          <p:nvPr>
            <p:ph idx="105" type="body" hasCustomPrompt="1"/>
          </p:nvPr>
        </p:nvSpPr>
        <p:spPr>
          <a:xfrm>
            <a:off x="2468880" y="4297680"/>
            <a:ext cx="1097280" cy="105156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
        <p:nvSpPr>
          <p:cNvPr id="8" name="Text 0"/>
          <p:cNvSpPr/>
          <p:nvPr>
            <p:ph idx="106" type="body" hasCustomPrompt="1"/>
          </p:nvPr>
        </p:nvSpPr>
        <p:spPr>
          <a:xfrm>
            <a:off x="502920" y="5532120"/>
            <a:ext cx="3657600" cy="365760"/>
          </a:xfrm>
          <a:prstGeom prst="rect">
            <a:avLst/>
          </a:prstGeom>
          <a:noFill/>
          <a:ln/>
        </p:spPr>
        <p:txBody>
          <a:bodyPr wrap="square" rtlCol="0"/>
          <a:lstStyle>
            <a:lvl1pPr indent="0" marL="0">
              <a:buNone/>
              <a:defRPr lang="en-US" sz="1900" b="1" dirty="0">
                <a:solidFill>
                  <a:schemeClr val="accent1"/>
                </a:solidFill>
              </a:defRPr>
            </a:lvl1pPr>
          </a:lstStyle>
          <a:p>
            <a:pPr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UST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chemeClr val="accent1"/>
          </a:solidFill>
          <a:ln/>
        </p:spPr>
      </p:sp>
      <p:pic>
        <p:nvPicPr>
          <p:cNvPr id="3" name="Image 0" descr="D:/Master/course/Term3/Semantic_Web/vietnamese-dbpedia/slides/figures/hust_emblem.png">    </p:cNvPr>
          <p:cNvPicPr>
            <a:picLocks noChangeAspect="1"/>
          </p:cNvPicPr>
          <p:nvPr/>
        </p:nvPicPr>
        <p:blipFill>
          <a:blip r:embed="rId1"/>
          <a:stretch>
            <a:fillRect/>
          </a:stretch>
        </p:blipFill>
        <p:spPr>
          <a:xfrm>
            <a:off x="201168" y="6345936"/>
            <a:ext cx="347472" cy="393192"/>
          </a:xfrm>
          <a:prstGeom prst="rect">
            <a:avLst/>
          </a:prstGeom>
        </p:spPr>
      </p:pic>
      <p:sp>
        <p:nvSpPr>
          <p:cNvPr id="4" name="Text 1"/>
          <p:cNvSpPr/>
          <p:nvPr>
            <p:ph idx="102" type="title" hasCustomPrompt="1"/>
          </p:nvPr>
        </p:nvSpPr>
        <p:spPr>
          <a:xfrm>
            <a:off x="365760" y="73152"/>
            <a:ext cx="8412480" cy="6400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UST_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880360"/>
            <a:ext cx="6400800" cy="960120"/>
          </a:xfrm>
          <a:prstGeom prst="rect">
            <a:avLst/>
          </a:prstGeom>
          <a:noFill/>
          <a:ln/>
        </p:spPr>
        <p:txBody>
          <a:bodyPr wrap="square" rtlCol="0"/>
          <a:lstStyle>
            <a:lvl1pPr algn="ctr" indent="0" marL="0">
              <a:buNone/>
              <a:defRPr lang="en-US" sz="6000" b="1" dirty="0">
                <a:solidFill>
                  <a:schemeClr val="bg1"/>
                </a:solidFill>
              </a:defRPr>
            </a:lvl1pPr>
          </a:lstStyle>
          <a:p>
            <a:pPr algn="ctr" indent="0" marL="0">
              <a:buNone/>
            </a:pPr>
            <a:endParaRPr lang="en-US" sz="6000" dirty="0"/>
          </a:p>
        </p:txBody>
      </p:sp>
      <p:sp>
        <p:nvSpPr>
          <p:cNvPr id="3" name="Text 0"/>
          <p:cNvSpPr/>
          <p:nvPr>
            <p:ph idx="101" type="body" hasCustomPrompt="1"/>
          </p:nvPr>
        </p:nvSpPr>
        <p:spPr>
          <a:xfrm>
            <a:off x="1371600" y="3794760"/>
            <a:ext cx="6400800" cy="731520"/>
          </a:xfrm>
          <a:prstGeom prst="rect">
            <a:avLst/>
          </a:prstGeom>
          <a:noFill/>
          <a:ln/>
        </p:spPr>
        <p:txBody>
          <a:bodyPr wrap="square" rtlCol="0"/>
          <a:lstStyle>
            <a:lvl1pPr algn="ctr" indent="0" marL="0">
              <a:buNone/>
              <a:defRPr lang="en-US" sz="4400" b="1" dirty="0">
                <a:solidFill>
                  <a:schemeClr val="bg1"/>
                </a:solidFill>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body" hasCustomPrompt="1"/>
          </p:nvPr>
        </p:nvSpPr>
        <p:spPr>
          <a:xfrm>
            <a:off x="502920" y="1627632"/>
            <a:ext cx="5486400" cy="347472"/>
          </a:xfrm>
          <a:prstGeom prst="rect">
            <a:avLst/>
          </a:prstGeom>
          <a:noFill/>
          <a:ln/>
        </p:spPr>
        <p:txBody>
          <a:bodyPr wrap="square" lIns="0" tIns="0" rIns="0" bIns="0" rtlCol="0"/>
          <a:lstStyle/>
          <a:p>
            <a:pPr indent="0" marL="0">
              <a:buNone/>
            </a:pPr>
            <a:r>
              <a:rPr lang="en-US" sz="1600" b="1" dirty="0">
                <a:solidFill>
                  <a:schemeClr val="accent4"/>
                </a:solidFill>
              </a:rPr>
              <a:t>SEMANTIC WEB  ·  TOPIC 2</a:t>
            </a:r>
            <a:endParaRPr lang="en-US" sz="1600" dirty="0"/>
          </a:p>
        </p:txBody>
      </p:sp>
      <p:sp>
        <p:nvSpPr>
          <p:cNvPr id="4" name="Text 0"/>
          <p:cNvSpPr/>
          <p:nvPr>
            <p:ph idx="101" type="title" hasCustomPrompt="1"/>
          </p:nvPr>
        </p:nvSpPr>
        <p:spPr>
          <a:xfrm>
            <a:off x="457200" y="1965960"/>
            <a:ext cx="6949440" cy="868680"/>
          </a:xfrm>
          <a:prstGeom prst="rect">
            <a:avLst/>
          </a:prstGeom>
          <a:noFill/>
          <a:ln/>
        </p:spPr>
        <p:txBody>
          <a:bodyPr wrap="square" lIns="0" tIns="0" rIns="0" bIns="0" rtlCol="0" anchor="t"/>
          <a:lstStyle/>
          <a:p>
            <a:pPr indent="0" marL="0">
              <a:buNone/>
            </a:pPr>
            <a:r>
              <a:rPr lang="en-US" sz="5000" b="1" dirty="0">
                <a:solidFill>
                  <a:schemeClr val="accent1"/>
                </a:solidFill>
              </a:rPr>
              <a:t>Vietnamese DBpedia</a:t>
            </a:r>
            <a:endParaRPr lang="en-US" sz="5000" dirty="0"/>
          </a:p>
        </p:txBody>
      </p:sp>
      <p:sp>
        <p:nvSpPr>
          <p:cNvPr id="5" name="Text 0"/>
          <p:cNvSpPr/>
          <p:nvPr>
            <p:ph idx="102" type="body" hasCustomPrompt="1"/>
          </p:nvPr>
        </p:nvSpPr>
        <p:spPr>
          <a:xfrm>
            <a:off x="502920" y="2971800"/>
            <a:ext cx="6035040" cy="868680"/>
          </a:xfrm>
          <a:prstGeom prst="rect">
            <a:avLst/>
          </a:prstGeom>
          <a:noFill/>
          <a:ln/>
        </p:spPr>
        <p:txBody>
          <a:bodyPr wrap="square" lIns="0" tIns="0" rIns="0" bIns="0" rtlCol="0" anchor="t"/>
          <a:lstStyle/>
          <a:p>
            <a:pPr indent="0" marL="0">
              <a:buNone/>
            </a:pPr>
            <a:r>
              <a:rPr lang="en-US" sz="2400" dirty="0">
                <a:solidFill>
                  <a:schemeClr val="accent1"/>
                </a:solidFill>
              </a:rPr>
              <a:t>Building a DBpedia version</a:t>
            </a:r>
            <a:endParaRPr lang="en-US" sz="2400" dirty="0"/>
          </a:p>
          <a:p>
            <a:pPr indent="0" marL="0">
              <a:buNone/>
            </a:pPr>
            <a:r>
              <a:rPr lang="en-US" sz="2400" dirty="0">
                <a:solidFill>
                  <a:schemeClr val="accent1"/>
                </a:solidFill>
              </a:rPr>
              <a:t>for the Vietnamese language</a:t>
            </a:r>
            <a:endParaRPr lang="en-US" sz="2400" dirty="0"/>
          </a:p>
        </p:txBody>
      </p:sp>
      <p:sp>
        <p:nvSpPr>
          <p:cNvPr id="6" name="Text 0"/>
          <p:cNvSpPr/>
          <p:nvPr>
            <p:ph idx="103" type="body" hasCustomPrompt="1"/>
          </p:nvPr>
        </p:nvSpPr>
        <p:spPr>
          <a:xfrm>
            <a:off x="502920" y="3931920"/>
            <a:ext cx="2743200" cy="365760"/>
          </a:xfrm>
          <a:prstGeom prst="rect">
            <a:avLst/>
          </a:prstGeom>
          <a:noFill/>
          <a:ln/>
        </p:spPr>
        <p:txBody>
          <a:bodyPr wrap="square" lIns="0" tIns="0" rIns="0" bIns="0" rtlCol="0"/>
          <a:lstStyle/>
          <a:p>
            <a:pPr indent="0" marL="0">
              <a:buNone/>
            </a:pPr>
            <a:r>
              <a:rPr lang="en-US" sz="2000" b="1" dirty="0">
                <a:solidFill>
                  <a:schemeClr val="accent1"/>
                </a:solidFill>
              </a:rPr>
              <a:t>Group 23</a:t>
            </a:r>
            <a:endParaRPr lang="en-US" sz="2000" dirty="0"/>
          </a:p>
        </p:txBody>
      </p:sp>
      <p:sp>
        <p:nvSpPr>
          <p:cNvPr id="7" name="Text 0"/>
          <p:cNvSpPr/>
          <p:nvPr>
            <p:ph idx="104" type="body" hasCustomPrompt="1"/>
          </p:nvPr>
        </p:nvSpPr>
        <p:spPr>
          <a:xfrm>
            <a:off x="658368" y="4297680"/>
            <a:ext cx="2011680" cy="1051560"/>
          </a:xfrm>
          <a:prstGeom prst="rect">
            <a:avLst/>
          </a:prstGeom>
          <a:noFill/>
          <a:ln/>
        </p:spPr>
        <p:txBody>
          <a:bodyPr wrap="square" lIns="0" tIns="0" rIns="0" bIns="0" rtlCol="0" anchor="t"/>
          <a:lstStyle/>
          <a:p>
            <a:pPr indent="0" marL="0">
              <a:buNone/>
            </a:pPr>
            <a:r>
              <a:rPr lang="en-US" sz="1600" dirty="0">
                <a:solidFill>
                  <a:schemeClr val="accent1"/>
                </a:solidFill>
              </a:rPr>
              <a:t>Ha Thi Kim Phung</a:t>
            </a:r>
            <a:endParaRPr lang="en-US" sz="1600" dirty="0"/>
          </a:p>
          <a:p>
            <a:pPr indent="0" marL="0">
              <a:buNone/>
            </a:pPr>
            <a:r>
              <a:rPr lang="en-US" sz="1600" dirty="0">
                <a:solidFill>
                  <a:schemeClr val="accent1"/>
                </a:solidFill>
              </a:rPr>
              <a:t>Do Ngoc Trung</a:t>
            </a:r>
            <a:endParaRPr lang="en-US" sz="1600" dirty="0"/>
          </a:p>
          <a:p>
            <a:pPr indent="0" marL="0">
              <a:buNone/>
            </a:pPr>
            <a:r>
              <a:rPr lang="en-US" sz="1600" dirty="0">
                <a:solidFill>
                  <a:schemeClr val="accent1"/>
                </a:solidFill>
              </a:rPr>
              <a:t>Bui Duc Phan Hoang</a:t>
            </a:r>
            <a:endParaRPr lang="en-US" sz="1600" dirty="0"/>
          </a:p>
          <a:p>
            <a:pPr indent="0" marL="0">
              <a:buNone/>
            </a:pPr>
            <a:r>
              <a:rPr lang="en-US" sz="1600" dirty="0">
                <a:solidFill>
                  <a:schemeClr val="accent1"/>
                </a:solidFill>
              </a:rPr>
              <a:t>Do Hoang Dung</a:t>
            </a:r>
            <a:endParaRPr lang="en-US" sz="1600" dirty="0"/>
          </a:p>
        </p:txBody>
      </p:sp>
      <p:sp>
        <p:nvSpPr>
          <p:cNvPr id="8" name="Text 0"/>
          <p:cNvSpPr/>
          <p:nvPr>
            <p:ph idx="105" type="body" hasCustomPrompt="1"/>
          </p:nvPr>
        </p:nvSpPr>
        <p:spPr>
          <a:xfrm>
            <a:off x="2468880" y="4297680"/>
            <a:ext cx="1097280" cy="1051560"/>
          </a:xfrm>
          <a:prstGeom prst="rect">
            <a:avLst/>
          </a:prstGeom>
          <a:noFill/>
          <a:ln/>
        </p:spPr>
        <p:txBody>
          <a:bodyPr wrap="square" lIns="0" tIns="0" rIns="0" bIns="0" rtlCol="0" anchor="t"/>
          <a:lstStyle/>
          <a:p>
            <a:pPr indent="0" marL="0">
              <a:buNone/>
            </a:pPr>
            <a:r>
              <a:rPr lang="en-US" sz="1600" dirty="0">
                <a:solidFill>
                  <a:schemeClr val="accent1"/>
                </a:solidFill>
              </a:rPr>
              <a:t>20242460M</a:t>
            </a:r>
            <a:endParaRPr lang="en-US" sz="1600" dirty="0"/>
          </a:p>
          <a:p>
            <a:pPr indent="0" marL="0">
              <a:buNone/>
            </a:pPr>
            <a:r>
              <a:rPr lang="en-US" sz="1600" dirty="0">
                <a:solidFill>
                  <a:schemeClr val="accent1"/>
                </a:solidFill>
              </a:rPr>
              <a:t>20232311M</a:t>
            </a:r>
            <a:endParaRPr lang="en-US" sz="1600" dirty="0"/>
          </a:p>
          <a:p>
            <a:pPr indent="0" marL="0">
              <a:buNone/>
            </a:pPr>
            <a:r>
              <a:rPr lang="en-US" sz="1600" dirty="0">
                <a:solidFill>
                  <a:schemeClr val="accent1"/>
                </a:solidFill>
              </a:rPr>
              <a:t>20252004M</a:t>
            </a:r>
            <a:endParaRPr lang="en-US" sz="1600" dirty="0"/>
          </a:p>
          <a:p>
            <a:pPr indent="0" marL="0">
              <a:buNone/>
            </a:pPr>
            <a:r>
              <a:rPr lang="en-US" sz="1600" dirty="0">
                <a:solidFill>
                  <a:schemeClr val="accent1"/>
                </a:solidFill>
              </a:rPr>
              <a:t>20241184M</a:t>
            </a:r>
            <a:endParaRPr lang="en-US" sz="1600" dirty="0"/>
          </a:p>
        </p:txBody>
      </p:sp>
      <p:sp>
        <p:nvSpPr>
          <p:cNvPr id="9" name="Text 0"/>
          <p:cNvSpPr/>
          <p:nvPr>
            <p:ph idx="106" type="body" hasCustomPrompt="1"/>
          </p:nvPr>
        </p:nvSpPr>
        <p:spPr>
          <a:xfrm>
            <a:off x="502920" y="5532120"/>
            <a:ext cx="3657600" cy="365760"/>
          </a:xfrm>
          <a:prstGeom prst="rect">
            <a:avLst/>
          </a:prstGeom>
          <a:noFill/>
          <a:ln/>
        </p:spPr>
        <p:txBody>
          <a:bodyPr wrap="square" lIns="0" tIns="0" rIns="0" bIns="0" rtlCol="0"/>
          <a:lstStyle/>
          <a:p>
            <a:pPr indent="0" marL="0">
              <a:buNone/>
            </a:pPr>
            <a:r>
              <a:rPr lang="en-US" sz="1900" b="1" dirty="0">
                <a:solidFill>
                  <a:schemeClr val="accent1"/>
                </a:solidFill>
              </a:rPr>
              <a:t>Lecturer: Dr. Do Ba Lam</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The Assignment and What We Built</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40280"/>
                <a:gridCol w="3611880"/>
                <a:gridCol w="2377440"/>
              </a:tblGrid>
              <a:tr h="502920">
                <a:tc>
                  <a:txBody>
                    <a:bodyPr/>
                    <a:lstStyle/>
                    <a:p>
                      <a:pPr algn="l" indent="0" marL="0">
                        <a:buNone/>
                      </a:pPr>
                      <a:r>
                        <a:rPr lang="en-US" sz="1700" b="1" dirty="0">
                          <a:solidFill>
                            <a:schemeClr val="tx1"/>
                          </a:solidFill>
                          <a:latin typeface="Calibri" pitchFamily="34" charset="0"/>
                          <a:ea typeface="Calibri" pitchFamily="34" charset="-122"/>
                          <a:cs typeface="Calibri" pitchFamily="34" charset="-120"/>
                        </a:rPr>
                        <a:t>Task</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700" b="1" dirty="0">
                          <a:solidFill>
                            <a:schemeClr val="tx1"/>
                          </a:solidFill>
                          <a:latin typeface="Calibri" pitchFamily="34" charset="0"/>
                          <a:ea typeface="Calibri" pitchFamily="34" charset="-122"/>
                          <a:cs typeface="Calibri" pitchFamily="34" charset="-120"/>
                        </a:rPr>
                        <a:t>What we built</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700" b="1" dirty="0">
                          <a:solidFill>
                            <a:schemeClr val="tx1"/>
                          </a:solidFill>
                          <a:latin typeface="Calibri" pitchFamily="34" charset="0"/>
                          <a:ea typeface="Calibri" pitchFamily="34" charset="-122"/>
                          <a:cs typeface="Calibri" pitchFamily="34" charset="-120"/>
                        </a:rPr>
                        <a:t>Result</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1. Define an ontology</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700" dirty="0">
                          <a:solidFill>
                            <a:schemeClr val="tx1"/>
                          </a:solidFill>
                          <a:latin typeface="Consolas" pitchFamily="34" charset="0"/>
                          <a:ea typeface="Consolas" pitchFamily="34" charset="-122"/>
                          <a:cs typeface="Consolas" pitchFamily="34" charset="-120"/>
                        </a:rPr>
                        <a:t>vio:</a:t>
                      </a:r>
                      <a:pPr algn="l" indent="0" marL="0">
                        <a:buNone/>
                      </a:pPr>
                      <a:r>
                        <a:rPr lang="en-US" sz="1700" dirty="0">
                          <a:solidFill>
                            <a:schemeClr val="tx1"/>
                          </a:solidFill>
                          <a:latin typeface="Calibri" pitchFamily="34" charset="0"/>
                          <a:ea typeface="Calibri" pitchFamily="34" charset="-122"/>
                          <a:cs typeface="Calibri" pitchFamily="34" charset="-120"/>
                        </a:rPr>
                        <a:t> in OWL, every class under a </a:t>
                      </a:r>
                      <a:pPr algn="l" indent="0" marL="0">
                        <a:buNone/>
                      </a:pPr>
                      <a:r>
                        <a:rPr lang="en-US" sz="1700" dirty="0">
                          <a:solidFill>
                            <a:schemeClr val="tx1"/>
                          </a:solidFill>
                          <a:latin typeface="Consolas" pitchFamily="34" charset="0"/>
                          <a:ea typeface="Consolas" pitchFamily="34" charset="-122"/>
                          <a:cs typeface="Consolas" pitchFamily="34" charset="-120"/>
                        </a:rPr>
                        <a:t>dbo:</a:t>
                      </a:r>
                      <a:pPr algn="l" indent="0" marL="0">
                        <a:buNone/>
                      </a:pPr>
                      <a:r>
                        <a:rPr lang="en-US" sz="1700" dirty="0">
                          <a:solidFill>
                            <a:schemeClr val="tx1"/>
                          </a:solidFill>
                          <a:latin typeface="Calibri" pitchFamily="34" charset="0"/>
                          <a:ea typeface="Calibri" pitchFamily="34" charset="-122"/>
                          <a:cs typeface="Calibri" pitchFamily="34" charset="-120"/>
                        </a:rPr>
                        <a:t> class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18 classes, 54 properties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r>
              <a:tr h="50292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2. Collect articles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entities chosen via Wikidata, articles via the MediaWiki API</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990 articles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3. 4-star data</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infobox extraction, Unicode IRIs, quality checks, OWL 2 RL</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131,543 triples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4. Link to DBpedia</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chemeClr val="tx1"/>
                          </a:solidFill>
                          <a:latin typeface="Consolas" pitchFamily="34" charset="0"/>
                          <a:ea typeface="Consolas" pitchFamily="34" charset="-122"/>
                          <a:cs typeface="Consolas" pitchFamily="34" charset="-120"/>
                        </a:rPr>
                        <a:t>owl:sameAs</a:t>
                      </a:r>
                      <a:pPr algn="l" indent="0" marL="0">
                        <a:buNone/>
                      </a:pPr>
                      <a:r>
                        <a:rPr lang="en-US" sz="1700" dirty="0">
                          <a:solidFill>
                            <a:schemeClr val="tx1"/>
                          </a:solidFill>
                          <a:latin typeface="Calibri" pitchFamily="34" charset="0"/>
                          <a:ea typeface="Calibri" pitchFamily="34" charset="-122"/>
                          <a:cs typeface="Calibri" pitchFamily="34" charset="-120"/>
                        </a:rPr>
                        <a:t> from the Wikidata sitelink of the same item</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777 links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5. SPARQL endpoint / terminal</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latin typeface="Consolas" pitchFamily="34" charset="0"/>
                          <a:ea typeface="Consolas" pitchFamily="34" charset="-122"/>
                          <a:cs typeface="Consolas" pitchFamily="34" charset="-120"/>
                        </a:rPr>
                        <a:t>/sparql</a:t>
                      </a:r>
                      <a:pPr algn="l" indent="0" marL="0">
                        <a:buNone/>
                      </a:pPr>
                      <a:r>
                        <a:rPr lang="en-US" sz="1700" dirty="0">
                          <a:solidFill>
                            <a:schemeClr val="tx1"/>
                          </a:solidFill>
                          <a:latin typeface="Calibri" pitchFamily="34" charset="0"/>
                          <a:ea typeface="Calibri" pitchFamily="34" charset="-122"/>
                          <a:cs typeface="Calibri" pitchFamily="34" charset="-120"/>
                        </a:rPr>
                        <a:t> endpoint, </a:t>
                      </a:r>
                      <a:pPr algn="l" indent="0" marL="0">
                        <a:buNone/>
                      </a:pPr>
                      <a:r>
                        <a:rPr lang="en-US" sz="1700" dirty="0">
                          <a:solidFill>
                            <a:schemeClr val="tx1"/>
                          </a:solidFill>
                          <a:latin typeface="Consolas" pitchFamily="34" charset="0"/>
                          <a:ea typeface="Consolas" pitchFamily="34" charset="-122"/>
                          <a:cs typeface="Consolas" pitchFamily="34" charset="-120"/>
                        </a:rPr>
                        <a:t>query</a:t>
                      </a:r>
                      <a:pPr algn="l" indent="0" marL="0">
                        <a:buNone/>
                      </a:pPr>
                      <a:r>
                        <a:rPr lang="en-US" sz="1700" dirty="0">
                          <a:solidFill>
                            <a:schemeClr val="tx1"/>
                          </a:solidFill>
                          <a:latin typeface="Calibri" pitchFamily="34" charset="0"/>
                          <a:ea typeface="Calibri" pitchFamily="34" charset="-122"/>
                          <a:cs typeface="Calibri" pitchFamily="34" charset="-120"/>
                        </a:rPr>
                        <a:t> CLI, Linked Data, web UI</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endpoint, CLI, web UI</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r>
            </a:tbl>
          </a:graphicData>
        </a:graphic>
      </p:graphicFrame>
      <p:sp>
        <p:nvSpPr>
          <p:cNvPr id="5" name="Shape 1"/>
          <p:cNvSpPr/>
          <p:nvPr/>
        </p:nvSpPr>
        <p:spPr>
          <a:xfrm>
            <a:off x="457200" y="4572000"/>
            <a:ext cx="8229600" cy="1325880"/>
          </a:xfrm>
          <a:prstGeom prst="roundRect">
            <a:avLst>
              <a:gd name="adj" fmla="val 4828"/>
            </a:avLst>
          </a:prstGeom>
          <a:solidFill>
            <a:schemeClr val="bg2"/>
          </a:solidFill>
          <a:ln/>
        </p:spPr>
      </p:sp>
      <p:sp>
        <p:nvSpPr>
          <p:cNvPr id="6" name="Shape 2"/>
          <p:cNvSpPr/>
          <p:nvPr/>
        </p:nvSpPr>
        <p:spPr>
          <a:xfrm>
            <a:off x="457200" y="4572000"/>
            <a:ext cx="8229600" cy="384048"/>
          </a:xfrm>
          <a:prstGeom prst="roundRect">
            <a:avLst>
              <a:gd name="adj" fmla="val 16667"/>
            </a:avLst>
          </a:prstGeom>
          <a:solidFill>
            <a:schemeClr val="accent1"/>
          </a:solidFill>
          <a:ln/>
        </p:spPr>
      </p:sp>
      <p:sp>
        <p:nvSpPr>
          <p:cNvPr id="7" name="Shape 3"/>
          <p:cNvSpPr/>
          <p:nvPr/>
        </p:nvSpPr>
        <p:spPr>
          <a:xfrm>
            <a:off x="457200" y="4764024"/>
            <a:ext cx="8229600" cy="192024"/>
          </a:xfrm>
          <a:prstGeom prst="rect">
            <a:avLst/>
          </a:prstGeom>
          <a:solidFill>
            <a:schemeClr val="accent1"/>
          </a:solidFill>
          <a:ln/>
        </p:spPr>
      </p:sp>
      <p:sp>
        <p:nvSpPr>
          <p:cNvPr id="8" name="Text 4"/>
          <p:cNvSpPr txBox="1"/>
          <p:nvPr/>
        </p:nvSpPr>
        <p:spPr>
          <a:xfrm>
            <a:off x="548640" y="4572000"/>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Domain: in depth rather than in breadth</a:t>
            </a:r>
            <a:endParaRPr lang="en-US" sz="1900" dirty="0"/>
          </a:p>
        </p:txBody>
      </p:sp>
      <p:sp>
        <p:nvSpPr>
          <p:cNvPr id="9" name="Text 5"/>
          <p:cNvSpPr txBox="1"/>
          <p:nvPr/>
        </p:nvSpPr>
        <p:spPr>
          <a:xfrm>
            <a:off x="548640" y="5001768"/>
            <a:ext cx="8046720" cy="850392"/>
          </a:xfrm>
          <a:prstGeom prst="rect">
            <a:avLst/>
          </a:prstGeom>
          <a:noFill/>
          <a:ln/>
        </p:spPr>
        <p:txBody>
          <a:bodyPr wrap="square" lIns="0" tIns="0" rIns="0" bIns="0" rtlCol="0" anchor="t"/>
          <a:lstStyle/>
          <a:p>
            <a:pPr indent="0" marL="0">
              <a:buNone/>
            </a:pPr>
            <a:r>
              <a:rPr lang="en-US" sz="1900" dirty="0">
                <a:solidFill>
                  <a:schemeClr val="tx1"/>
                </a:solidFill>
                <a:latin typeface="Calibri" pitchFamily="34" charset="0"/>
                <a:ea typeface="Calibri" pitchFamily="34" charset="-122"/>
                <a:cs typeface="Calibri" pitchFamily="34" charset="-120"/>
              </a:rPr>
              <a:t>Vietnamese </a:t>
            </a:r>
            <a:pPr indent="0" marL="0">
              <a:buNone/>
            </a:pPr>
            <a:r>
              <a:rPr lang="en-US" sz="1900" dirty="0">
                <a:solidFill>
                  <a:schemeClr val="accent1"/>
                </a:solidFill>
                <a:latin typeface="Calibri" pitchFamily="34" charset="0"/>
                <a:ea typeface="Calibri" pitchFamily="34" charset="-122"/>
                <a:cs typeface="Calibri" pitchFamily="34" charset="-120"/>
              </a:rPr>
              <a:t>football</a:t>
            </a:r>
            <a:pPr indent="0" marL="0">
              <a:buNone/>
            </a:pPr>
            <a:r>
              <a:rPr lang="en-US" sz="1900" dirty="0">
                <a:solidFill>
                  <a:schemeClr val="tx1"/>
                </a:solidFill>
                <a:latin typeface="Calibri" pitchFamily="34" charset="0"/>
                <a:ea typeface="Calibri" pitchFamily="34" charset="-122"/>
                <a:cs typeface="Calibri" pitchFamily="34" charset="-120"/>
              </a:rPr>
              <a:t> (players, clubs, national teams, stadiums), </a:t>
            </a:r>
            <a:pPr indent="0" marL="0">
              <a:buNone/>
            </a:pPr>
            <a:r>
              <a:rPr lang="en-US" sz="1900" dirty="0">
                <a:solidFill>
                  <a:schemeClr val="accent1"/>
                </a:solidFill>
                <a:latin typeface="Calibri" pitchFamily="34" charset="0"/>
                <a:ea typeface="Calibri" pitchFamily="34" charset="-122"/>
                <a:cs typeface="Calibri" pitchFamily="34" charset="-120"/>
              </a:rPr>
              <a:t>provinces</a:t>
            </a:r>
            <a:pPr indent="0" marL="0">
              <a:buNone/>
            </a:pPr>
            <a:r>
              <a:rPr lang="en-US" sz="1900" dirty="0">
                <a:solidFill>
                  <a:schemeClr val="tx1"/>
                </a:solidFill>
                <a:latin typeface="Calibri" pitchFamily="34" charset="0"/>
                <a:ea typeface="Calibri" pitchFamily="34" charset="-122"/>
                <a:cs typeface="Calibri" pitchFamily="34" charset="-120"/>
              </a:rPr>
              <a:t> and </a:t>
            </a:r>
            <a:pPr indent="0" marL="0">
              <a:buNone/>
            </a:pPr>
            <a:r>
              <a:rPr lang="en-US" sz="1900" dirty="0">
                <a:solidFill>
                  <a:schemeClr val="accent1"/>
                </a:solidFill>
                <a:latin typeface="Calibri" pitchFamily="34" charset="0"/>
                <a:ea typeface="Calibri" pitchFamily="34" charset="-122"/>
                <a:cs typeface="Calibri" pitchFamily="34" charset="-120"/>
              </a:rPr>
              <a:t>universities</a:t>
            </a:r>
            <a:pPr indent="0" marL="0">
              <a:buNone/>
            </a:pPr>
            <a:r>
              <a:rPr lang="en-US" sz="1900" dirty="0">
                <a:solidFill>
                  <a:schemeClr val="tx1"/>
                </a:solidFill>
                <a:latin typeface="Calibri" pitchFamily="34" charset="0"/>
                <a:ea typeface="Calibri" pitchFamily="34" charset="-122"/>
                <a:cs typeface="Calibri" pitchFamily="34" charset="-120"/>
              </a:rPr>
              <a:t> — not all of Vietnamese Wikipedia</a:t>
            </a:r>
            <a:endParaRPr lang="en-US" sz="19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Why This Domain?</a:t>
            </a:r>
            <a:endParaRPr lang="en-US" sz="2600" dirty="0"/>
          </a:p>
        </p:txBody>
      </p:sp>
      <p:sp>
        <p:nvSpPr>
          <p:cNvPr id="4" name="Text 1"/>
          <p:cNvSpPr txBox="1"/>
          <p:nvPr/>
        </p:nvSpPr>
        <p:spPr>
          <a:xfrm>
            <a:off x="457200" y="1005840"/>
            <a:ext cx="3566160" cy="365760"/>
          </a:xfrm>
          <a:prstGeom prst="rect">
            <a:avLst/>
          </a:prstGeom>
          <a:noFill/>
          <a:ln/>
        </p:spPr>
        <p:txBody>
          <a:bodyPr wrap="square" lIns="38100" tIns="38100" rIns="38100" bIns="3810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990 entities</a:t>
            </a:r>
            <a:endParaRPr lang="en-US" sz="2000" dirty="0"/>
          </a:p>
        </p:txBody>
      </p:sp>
      <p:sp>
        <p:nvSpPr>
          <p:cNvPr id="5" name="Text 2"/>
          <p:cNvSpPr txBox="1"/>
          <p:nvPr/>
        </p:nvSpPr>
        <p:spPr>
          <a:xfrm>
            <a:off x="457200" y="1371600"/>
            <a:ext cx="3566160" cy="2377440"/>
          </a:xfrm>
          <a:prstGeom prst="rect">
            <a:avLst/>
          </a:prstGeom>
          <a:noFill/>
          <a:ln/>
        </p:spPr>
        <p:txBody>
          <a:bodyPr wrap="square" lIns="38100" tIns="38100" rIns="38100" bIns="38100" rtlCol="0" anchor="t"/>
          <a:lstStyle/>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611 football players</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61 clubs, 10 national teams</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29 stadiums</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168 universities</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110 provinces (34 current)</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1 country</a:t>
            </a:r>
            <a:endParaRPr lang="en-US" sz="1800" dirty="0"/>
          </a:p>
        </p:txBody>
      </p:sp>
      <p:sp>
        <p:nvSpPr>
          <p:cNvPr id="6" name="Text 3"/>
          <p:cNvSpPr txBox="1"/>
          <p:nvPr/>
        </p:nvSpPr>
        <p:spPr>
          <a:xfrm>
            <a:off x="4160520" y="1005840"/>
            <a:ext cx="4526280" cy="365760"/>
          </a:xfrm>
          <a:prstGeom prst="rect">
            <a:avLst/>
          </a:prstGeom>
          <a:noFill/>
          <a:ln/>
        </p:spPr>
        <p:txBody>
          <a:bodyPr wrap="square" lIns="38100" tIns="38100" rIns="38100" bIns="3810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Chosen because they are</a:t>
            </a:r>
            <a:endParaRPr lang="en-US" sz="2000" dirty="0"/>
          </a:p>
        </p:txBody>
      </p:sp>
      <p:sp>
        <p:nvSpPr>
          <p:cNvPr id="7" name="Text 4"/>
          <p:cNvSpPr txBox="1"/>
          <p:nvPr/>
        </p:nvSpPr>
        <p:spPr>
          <a:xfrm>
            <a:off x="4160520" y="1371600"/>
            <a:ext cx="4526280" cy="2651760"/>
          </a:xfrm>
          <a:prstGeom prst="rect">
            <a:avLst/>
          </a:prstGeom>
          <a:noFill/>
          <a:ln/>
        </p:spPr>
        <p:txBody>
          <a:bodyPr wrap="square" lIns="38100" tIns="38100" rIns="38100" bIns="38100" rtlCol="0" anchor="t"/>
          <a:lstStyle/>
          <a:p>
            <a:pPr marL="203200" indent="-203200">
              <a:spcAft>
                <a:spcPts val="400"/>
              </a:spcAft>
              <a:buSzPct val="100000"/>
              <a:buChar char="•"/>
            </a:pPr>
            <a:r>
              <a:rPr lang="en-US" sz="1800" dirty="0">
                <a:solidFill>
                  <a:schemeClr val="accent1"/>
                </a:solidFill>
                <a:latin typeface="Calibri" pitchFamily="34" charset="0"/>
                <a:ea typeface="Calibri" pitchFamily="34" charset="-122"/>
                <a:cs typeface="Calibri" pitchFamily="34" charset="-120"/>
              </a:rPr>
              <a:t>densely linked</a:t>
            </a:r>
            <a:pPr indent="0" marL="0">
              <a:buNone/>
            </a:pPr>
            <a:r>
              <a:rPr lang="en-US" sz="1800" dirty="0">
                <a:solidFill>
                  <a:schemeClr val="tx1"/>
                </a:solidFill>
                <a:latin typeface="Calibri" pitchFamily="34" charset="0"/>
                <a:ea typeface="Calibri" pitchFamily="34" charset="-122"/>
                <a:cs typeface="Calibri" pitchFamily="34" charset="-120"/>
              </a:rPr>
              <a:t> → multi-hop questions</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rich in infoboxes: </a:t>
            </a:r>
            <a:pPr indent="0" marL="0">
              <a:buNone/>
            </a:pPr>
            <a:r>
              <a:rPr lang="en-US" sz="1800" dirty="0">
                <a:solidFill>
                  <a:schemeClr val="accent1"/>
                </a:solidFill>
                <a:latin typeface="Calibri" pitchFamily="34" charset="0"/>
                <a:ea typeface="Calibri" pitchFamily="34" charset="-122"/>
                <a:cs typeface="Calibri" pitchFamily="34" charset="-120"/>
              </a:rPr>
              <a:t>97%</a:t>
            </a:r>
            <a:pPr indent="0" marL="0">
              <a:buNone/>
            </a:pPr>
            <a:r>
              <a:rPr lang="en-US" sz="1800" dirty="0">
                <a:solidFill>
                  <a:schemeClr val="tx1"/>
                </a:solidFill>
                <a:latin typeface="Calibri" pitchFamily="34" charset="0"/>
                <a:ea typeface="Calibri" pitchFamily="34" charset="-122"/>
                <a:cs typeface="Calibri" pitchFamily="34" charset="-120"/>
              </a:rPr>
              <a:t> of articles</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linkable: </a:t>
            </a:r>
            <a:pPr indent="0" marL="0">
              <a:buNone/>
            </a:pPr>
            <a:r>
              <a:rPr lang="en-US" sz="1800" dirty="0">
                <a:solidFill>
                  <a:schemeClr val="accent1"/>
                </a:solidFill>
                <a:latin typeface="Calibri" pitchFamily="34" charset="0"/>
                <a:ea typeface="Calibri" pitchFamily="34" charset="-122"/>
                <a:cs typeface="Calibri" pitchFamily="34" charset="-120"/>
              </a:rPr>
              <a:t>78%</a:t>
            </a:r>
            <a:pPr indent="0" marL="0">
              <a:buNone/>
            </a:pPr>
            <a:r>
              <a:rPr lang="en-US" sz="1800" dirty="0">
                <a:solidFill>
                  <a:schemeClr val="tx1"/>
                </a:solidFill>
                <a:latin typeface="Calibri" pitchFamily="34" charset="0"/>
                <a:ea typeface="Calibri" pitchFamily="34" charset="-122"/>
                <a:cs typeface="Calibri" pitchFamily="34" charset="-120"/>
              </a:rPr>
              <a:t> have an English article</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selected through Wikidata (</a:t>
            </a:r>
            <a:pPr indent="0" marL="0">
              <a:buNone/>
            </a:pPr>
            <a:r>
              <a:rPr lang="en-US" sz="1800" dirty="0">
                <a:solidFill>
                  <a:schemeClr val="tx1"/>
                </a:solidFill>
                <a:latin typeface="Consolas" pitchFamily="34" charset="0"/>
                <a:ea typeface="Consolas" pitchFamily="34" charset="-122"/>
                <a:cs typeface="Consolas" pitchFamily="34" charset="-120"/>
              </a:rPr>
              <a:t>P31</a:t>
            </a:r>
            <a:pPr indent="0" marL="0">
              <a:buNone/>
            </a:pPr>
            <a:r>
              <a:rPr lang="en-US" sz="1800" dirty="0">
                <a:solidFill>
                  <a:schemeClr val="tx1"/>
                </a:solidFill>
                <a:latin typeface="Calibri" pitchFamily="34" charset="0"/>
                <a:ea typeface="Calibri" pitchFamily="34" charset="-122"/>
                <a:cs typeface="Calibri" pitchFamily="34" charset="-120"/>
              </a:rPr>
              <a:t>, country </a:t>
            </a:r>
            <a:pPr indent="0" marL="0">
              <a:buNone/>
            </a:pPr>
            <a:r>
              <a:rPr lang="en-US" sz="1800" dirty="0">
                <a:solidFill>
                  <a:schemeClr val="tx1"/>
                </a:solidFill>
                <a:latin typeface="Consolas" pitchFamily="34" charset="0"/>
                <a:ea typeface="Consolas" pitchFamily="34" charset="-122"/>
                <a:cs typeface="Consolas" pitchFamily="34" charset="-120"/>
              </a:rPr>
              <a:t>Q881</a:t>
            </a:r>
            <a:pPr indent="0" marL="0">
              <a:buNone/>
            </a:pPr>
            <a:r>
              <a:rPr lang="en-US" sz="1800" dirty="0">
                <a:solidFill>
                  <a:schemeClr val="tx1"/>
                </a:solidFill>
                <a:latin typeface="Calibri" pitchFamily="34" charset="0"/>
                <a:ea typeface="Calibri" pitchFamily="34" charset="-122"/>
                <a:cs typeface="Calibri" pitchFamily="34" charset="-120"/>
              </a:rPr>
              <a:t>), not through viwiki categories, which editors assign inconsistently</a:t>
            </a:r>
            <a:endParaRPr lang="en-US" sz="18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3</a:t>
            </a:fld>
            <a:endParaRPr lang="en-US"/>
          </a:p>
        </p:txBody>
      </p:sp>
      <p:sp>
        <p:nvSpPr>
          <p:cNvPr id="26" name="Oval 25"/>
          <p:cNvSpPr/>
          <p:nvPr/>
        </p:nvSpPr>
        <p:spPr>
          <a:xfrm>
            <a:off x="457200" y="4334256"/>
            <a:ext cx="1754505" cy="384048"/>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i="0">
                <a:solidFill>
                  <a:srgbClr val="333333"/>
                </a:solidFill>
                <a:latin typeface="Consolas"/>
                <a:ea typeface="Consolas"/>
                <a:cs typeface="Consolas"/>
              </a:rPr>
              <a:t>vio:FootballPlayer</a:t>
            </a:r>
          </a:p>
        </p:txBody>
      </p:sp>
      <p:sp>
        <p:nvSpPr>
          <p:cNvPr id="27" name="Oval 26"/>
          <p:cNvSpPr/>
          <p:nvPr/>
        </p:nvSpPr>
        <p:spPr>
          <a:xfrm>
            <a:off x="2906606" y="4334256"/>
            <a:ext cx="1667192" cy="384048"/>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i="0">
                <a:solidFill>
                  <a:srgbClr val="333333"/>
                </a:solidFill>
                <a:latin typeface="Consolas"/>
                <a:ea typeface="Consolas"/>
                <a:cs typeface="Consolas"/>
              </a:rPr>
              <a:t>vio:CareerStation</a:t>
            </a:r>
          </a:p>
        </p:txBody>
      </p:sp>
      <p:sp>
        <p:nvSpPr>
          <p:cNvPr id="28" name="Oval 27"/>
          <p:cNvSpPr/>
          <p:nvPr/>
        </p:nvSpPr>
        <p:spPr>
          <a:xfrm>
            <a:off x="5268700" y="4334256"/>
            <a:ext cx="1579880" cy="384048"/>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i="0">
                <a:solidFill>
                  <a:srgbClr val="333333"/>
                </a:solidFill>
                <a:latin typeface="Consolas"/>
                <a:ea typeface="Consolas"/>
                <a:cs typeface="Consolas"/>
              </a:rPr>
              <a:t>vio:FootballClub</a:t>
            </a:r>
          </a:p>
        </p:txBody>
      </p:sp>
      <p:sp>
        <p:nvSpPr>
          <p:cNvPr id="29" name="Oval 28"/>
          <p:cNvSpPr/>
          <p:nvPr/>
        </p:nvSpPr>
        <p:spPr>
          <a:xfrm>
            <a:off x="7543482" y="4334256"/>
            <a:ext cx="1143317" cy="384048"/>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i="0">
                <a:solidFill>
                  <a:srgbClr val="333333"/>
                </a:solidFill>
                <a:latin typeface="Consolas"/>
                <a:ea typeface="Consolas"/>
                <a:cs typeface="Consolas"/>
              </a:rPr>
              <a:t>vio:Stadium</a:t>
            </a:r>
          </a:p>
        </p:txBody>
      </p:sp>
      <p:sp>
        <p:nvSpPr>
          <p:cNvPr id="30" name="Oval 29"/>
          <p:cNvSpPr/>
          <p:nvPr/>
        </p:nvSpPr>
        <p:spPr>
          <a:xfrm>
            <a:off x="7499826" y="5477256"/>
            <a:ext cx="1230630" cy="384048"/>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i="0">
                <a:solidFill>
                  <a:srgbClr val="333333"/>
                </a:solidFill>
                <a:latin typeface="Consolas"/>
                <a:ea typeface="Consolas"/>
                <a:cs typeface="Consolas"/>
              </a:rPr>
              <a:t>vio:Province</a:t>
            </a:r>
          </a:p>
        </p:txBody>
      </p:sp>
      <p:sp>
        <p:nvSpPr>
          <p:cNvPr id="31" name="Oval 30"/>
          <p:cNvSpPr/>
          <p:nvPr/>
        </p:nvSpPr>
        <p:spPr>
          <a:xfrm>
            <a:off x="5399669" y="5477256"/>
            <a:ext cx="1405255" cy="384048"/>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i="0">
                <a:solidFill>
                  <a:srgbClr val="333333"/>
                </a:solidFill>
                <a:latin typeface="Consolas"/>
                <a:ea typeface="Consolas"/>
                <a:cs typeface="Consolas"/>
              </a:rPr>
              <a:t>vio:University</a:t>
            </a:r>
          </a:p>
        </p:txBody>
      </p:sp>
      <p:cxnSp>
        <p:nvCxnSpPr>
          <p:cNvPr id="32" name="Connector 31"/>
          <p:cNvCxnSpPr/>
          <p:nvPr/>
        </p:nvCxnSpPr>
        <p:spPr>
          <a:xfrm>
            <a:off x="2211705" y="4526280"/>
            <a:ext cx="694901" cy="0"/>
          </a:xfrm>
          <a:prstGeom prst="line">
            <a:avLst/>
          </a:prstGeom>
          <a:ln w="12700">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31547" y="4133088"/>
            <a:ext cx="1055217" cy="182880"/>
          </a:xfrm>
          <a:prstGeom prst="rect">
            <a:avLst/>
          </a:prstGeom>
          <a:noFill/>
        </p:spPr>
        <p:txBody>
          <a:bodyPr wrap="none" lIns="0" rIns="0" tIns="0" bIns="0" anchor="ctr"/>
          <a:lstStyle/>
          <a:p>
            <a:pPr algn="ctr"/>
            <a:r>
              <a:rPr sz="900" i="1">
                <a:solidFill>
                  <a:srgbClr val="595959"/>
                </a:solidFill>
                <a:latin typeface="Calibri"/>
                <a:ea typeface="Calibri"/>
                <a:cs typeface="Calibri"/>
              </a:rPr>
              <a:t>vio:careerStation</a:t>
            </a:r>
          </a:p>
        </p:txBody>
      </p:sp>
      <p:cxnSp>
        <p:nvCxnSpPr>
          <p:cNvPr id="34" name="Connector 33"/>
          <p:cNvCxnSpPr/>
          <p:nvPr/>
        </p:nvCxnSpPr>
        <p:spPr>
          <a:xfrm>
            <a:off x="4573799" y="4526280"/>
            <a:ext cx="694901" cy="0"/>
          </a:xfrm>
          <a:prstGeom prst="line">
            <a:avLst/>
          </a:prstGeom>
          <a:ln w="12700">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648758" y="4133088"/>
            <a:ext cx="544982" cy="182880"/>
          </a:xfrm>
          <a:prstGeom prst="rect">
            <a:avLst/>
          </a:prstGeom>
          <a:noFill/>
        </p:spPr>
        <p:txBody>
          <a:bodyPr wrap="none" lIns="0" rIns="0" tIns="0" bIns="0" anchor="ctr"/>
          <a:lstStyle/>
          <a:p>
            <a:pPr algn="ctr"/>
            <a:r>
              <a:rPr sz="900" i="1">
                <a:solidFill>
                  <a:srgbClr val="595959"/>
                </a:solidFill>
                <a:latin typeface="Calibri"/>
                <a:ea typeface="Calibri"/>
                <a:cs typeface="Calibri"/>
              </a:rPr>
              <a:t>vio:team</a:t>
            </a:r>
          </a:p>
        </p:txBody>
      </p:sp>
      <p:cxnSp>
        <p:nvCxnSpPr>
          <p:cNvPr id="36" name="Connector 35"/>
          <p:cNvCxnSpPr/>
          <p:nvPr/>
        </p:nvCxnSpPr>
        <p:spPr>
          <a:xfrm>
            <a:off x="6848580" y="4526280"/>
            <a:ext cx="694902" cy="0"/>
          </a:xfrm>
          <a:prstGeom prst="line">
            <a:avLst/>
          </a:prstGeom>
          <a:ln w="12700">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866847" y="4133088"/>
            <a:ext cx="658368" cy="182880"/>
          </a:xfrm>
          <a:prstGeom prst="rect">
            <a:avLst/>
          </a:prstGeom>
          <a:noFill/>
        </p:spPr>
        <p:txBody>
          <a:bodyPr wrap="none" lIns="0" rIns="0" tIns="0" bIns="0" anchor="ctr"/>
          <a:lstStyle/>
          <a:p>
            <a:pPr algn="ctr"/>
            <a:r>
              <a:rPr sz="900" i="1">
                <a:solidFill>
                  <a:srgbClr val="595959"/>
                </a:solidFill>
                <a:latin typeface="Calibri"/>
                <a:ea typeface="Calibri"/>
                <a:cs typeface="Calibri"/>
              </a:rPr>
              <a:t>vio:ground</a:t>
            </a:r>
          </a:p>
        </p:txBody>
      </p:sp>
      <p:cxnSp>
        <p:nvCxnSpPr>
          <p:cNvPr id="38" name="Connector 37"/>
          <p:cNvCxnSpPr/>
          <p:nvPr/>
        </p:nvCxnSpPr>
        <p:spPr>
          <a:xfrm>
            <a:off x="8115141" y="4718304"/>
            <a:ext cx="0" cy="758952"/>
          </a:xfrm>
          <a:prstGeom prst="line">
            <a:avLst/>
          </a:prstGeom>
          <a:ln w="12700">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296192" y="5006340"/>
            <a:ext cx="771753" cy="182880"/>
          </a:xfrm>
          <a:prstGeom prst="rect">
            <a:avLst/>
          </a:prstGeom>
          <a:noFill/>
        </p:spPr>
        <p:txBody>
          <a:bodyPr wrap="none" lIns="0" rIns="0" tIns="0" bIns="0" anchor="ctr"/>
          <a:lstStyle/>
          <a:p>
            <a:pPr algn="ctr"/>
            <a:r>
              <a:rPr sz="900" i="1">
                <a:solidFill>
                  <a:srgbClr val="595959"/>
                </a:solidFill>
                <a:latin typeface="Calibri"/>
                <a:ea typeface="Calibri"/>
                <a:cs typeface="Calibri"/>
              </a:rPr>
              <a:t>vio:province</a:t>
            </a:r>
          </a:p>
        </p:txBody>
      </p:sp>
      <p:cxnSp>
        <p:nvCxnSpPr>
          <p:cNvPr id="40" name="Connector 39"/>
          <p:cNvCxnSpPr/>
          <p:nvPr/>
        </p:nvCxnSpPr>
        <p:spPr>
          <a:xfrm>
            <a:off x="6804924" y="5669280"/>
            <a:ext cx="694902" cy="0"/>
          </a:xfrm>
          <a:prstGeom prst="line">
            <a:avLst/>
          </a:prstGeom>
          <a:ln w="12700">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766498" y="5303520"/>
            <a:ext cx="771753" cy="182880"/>
          </a:xfrm>
          <a:prstGeom prst="rect">
            <a:avLst/>
          </a:prstGeom>
          <a:noFill/>
        </p:spPr>
        <p:txBody>
          <a:bodyPr wrap="none" lIns="0" rIns="0" tIns="0" bIns="0" anchor="ctr"/>
          <a:lstStyle/>
          <a:p>
            <a:pPr algn="ctr"/>
            <a:r>
              <a:rPr sz="900" i="1">
                <a:solidFill>
                  <a:srgbClr val="595959"/>
                </a:solidFill>
                <a:latin typeface="Calibri"/>
                <a:ea typeface="Calibri"/>
                <a:cs typeface="Calibri"/>
              </a:rPr>
              <a:t>vio:province</a:t>
            </a:r>
          </a:p>
        </p:txBody>
      </p:sp>
      <p:sp>
        <p:nvSpPr>
          <p:cNvPr id="3" name="Freeform 2"/>
          <p:cNvSpPr/>
          <p:nvPr/>
        </p:nvSpPr>
        <p:spPr>
          <a:xfrm>
            <a:off x="1334452" y="4718304"/>
            <a:ext cx="6780689" cy="1426464"/>
          </a:xfrm>
          <a:custGeom>
            <a:avLst/>
            <a:gdLst/>
            <a:ahLst/>
            <a:cxnLst/>
            <a:rect l="l" t="t" r="r" b="b"/>
            <a:pathLst>
              <a:path w="6780689" h="1426464">
                <a:moveTo>
                  <a:pt x="0" y="0"/>
                </a:moveTo>
                <a:lnTo>
                  <a:pt x="0" y="1426464"/>
                </a:lnTo>
                <a:lnTo>
                  <a:pt x="6780689" y="1426464"/>
                </a:lnTo>
                <a:lnTo>
                  <a:pt x="6780689" y="1143000"/>
                </a:lnTo>
              </a:path>
            </a:pathLst>
          </a:custGeom>
          <a:noFill/>
          <a:ln w="12700">
            <a:solidFill>
              <a:srgbClr val="404040"/>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82788" y="6190488"/>
            <a:ext cx="1055217" cy="182880"/>
          </a:xfrm>
          <a:prstGeom prst="rect">
            <a:avLst/>
          </a:prstGeom>
          <a:noFill/>
        </p:spPr>
        <p:txBody>
          <a:bodyPr wrap="none" lIns="0" rIns="0" tIns="0" bIns="0" anchor="ctr"/>
          <a:lstStyle/>
          <a:p>
            <a:pPr algn="ctr"/>
            <a:r>
              <a:rPr sz="900" i="1">
                <a:solidFill>
                  <a:srgbClr val="595959"/>
                </a:solidFill>
                <a:latin typeface="Calibri"/>
                <a:ea typeface="Calibri"/>
                <a:cs typeface="Calibri"/>
              </a:rPr>
              <a:t>vio:birthProvince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Architecture: Four Layers, Seven Commands</a:t>
            </a:r>
            <a:endParaRPr lang="en-US" sz="2600" dirty="0"/>
          </a:p>
        </p:txBody>
      </p:sp>
      <p:sp>
        <p:nvSpPr>
          <p:cNvPr id="4" name="Text 1"/>
          <p:cNvSpPr txBox="1"/>
          <p:nvPr/>
        </p:nvSpPr>
        <p:spPr>
          <a:xfrm>
            <a:off x="457200" y="1051560"/>
            <a:ext cx="1828800" cy="1097280"/>
          </a:xfrm>
          <a:prstGeom prst="roundRect">
            <a:avLst>
              <a:gd name="adj" fmla="val 4167"/>
            </a:avLst>
          </a:prstGeom>
          <a:solidFill>
            <a:srgbClr val="FFFFFF"/>
          </a:solidFill>
          <a:ln w="9525">
            <a:solidFill>
              <a:srgbClr val="737373"/>
            </a:solidFill>
            <a:prstDash val="dash"/>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Wikidata Query Service</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MediaWiki API</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(vi.wikipedia.org)</a:t>
            </a:r>
            <a:endParaRPr lang="en-US" sz="1300" dirty="0"/>
          </a:p>
        </p:txBody>
      </p:sp>
      <p:sp>
        <p:nvSpPr>
          <p:cNvPr id="5" name="Text 2"/>
          <p:cNvSpPr txBox="1"/>
          <p:nvPr/>
        </p:nvSpPr>
        <p:spPr>
          <a:xfrm>
            <a:off x="2587752" y="1051560"/>
            <a:ext cx="1828800" cy="1097280"/>
          </a:xfrm>
          <a:prstGeom prst="roundRect">
            <a:avLst>
              <a:gd name="adj" fmla="val 4167"/>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(1) Collection</a:t>
            </a:r>
            <a:endParaRPr lang="en-US" sz="1300" dirty="0"/>
          </a:p>
          <a:p>
            <a:pPr algn="ctr" indent="0" marL="0">
              <a:buNone/>
            </a:pPr>
            <a:r>
              <a:rPr lang="en-US" sz="1300" dirty="0">
                <a:solidFill>
                  <a:schemeClr val="tx1"/>
                </a:solidFill>
                <a:latin typeface="Consolas" pitchFamily="34" charset="0"/>
                <a:ea typeface="Consolas" pitchFamily="34" charset="-122"/>
                <a:cs typeface="Consolas" pitchFamily="34" charset="-120"/>
              </a:rPr>
              <a:t>seeds, enrich</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SQLite HTTP cache</a:t>
            </a:r>
            <a:endParaRPr lang="en-US" sz="1300" dirty="0"/>
          </a:p>
        </p:txBody>
      </p:sp>
      <p:sp>
        <p:nvSpPr>
          <p:cNvPr id="6" name="Text 3"/>
          <p:cNvSpPr txBox="1"/>
          <p:nvPr/>
        </p:nvSpPr>
        <p:spPr>
          <a:xfrm>
            <a:off x="4718304" y="1051560"/>
            <a:ext cx="1828800" cy="1097280"/>
          </a:xfrm>
          <a:prstGeom prst="roundRect">
            <a:avLst>
              <a:gd name="adj" fmla="val 4167"/>
            </a:avLst>
          </a:prstGeom>
          <a:solidFill>
            <a:srgbClr val="EDEDED"/>
          </a:solidFill>
          <a:ln w="9525">
            <a:solidFill>
              <a:srgbClr val="737373"/>
            </a:solidFill>
          </a:ln>
        </p:spPr>
        <p:txBody>
          <a:bodyPr wrap="square" lIns="25400" tIns="25400" rIns="25400" bIns="25400" rtlCol="0" anchor="ctr"/>
          <a:lstStyle/>
          <a:p>
            <a:pPr algn="ctr" indent="0" marL="0">
              <a:buNone/>
            </a:pPr>
            <a:r>
              <a:rPr lang="en-US" sz="1300" dirty="0">
                <a:solidFill>
                  <a:schemeClr val="tx1"/>
                </a:solidFill>
                <a:latin typeface="Consolas" pitchFamily="34" charset="0"/>
                <a:ea typeface="Consolas" pitchFamily="34" charset="-122"/>
                <a:cs typeface="Consolas" pitchFamily="34" charset="-120"/>
              </a:rPr>
              <a:t>data/raw/</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Wikidata facts,</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articles, infoboxes</a:t>
            </a:r>
            <a:endParaRPr lang="en-US" sz="1300" dirty="0"/>
          </a:p>
        </p:txBody>
      </p:sp>
      <p:sp>
        <p:nvSpPr>
          <p:cNvPr id="7" name="Text 4"/>
          <p:cNvSpPr txBox="1"/>
          <p:nvPr/>
        </p:nvSpPr>
        <p:spPr>
          <a:xfrm>
            <a:off x="6848856" y="1051560"/>
            <a:ext cx="1828800" cy="1097280"/>
          </a:xfrm>
          <a:prstGeom prst="roundRect">
            <a:avLst>
              <a:gd name="adj" fmla="val 4167"/>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(2) Semantics</a:t>
            </a:r>
            <a:endParaRPr lang="en-US" sz="1300" dirty="0"/>
          </a:p>
          <a:p>
            <a:pPr algn="ctr" indent="0" marL="0">
              <a:buNone/>
            </a:pPr>
            <a:r>
              <a:rPr lang="en-US" sz="1300" dirty="0">
                <a:solidFill>
                  <a:schemeClr val="tx1"/>
                </a:solidFill>
                <a:latin typeface="Consolas" pitchFamily="34" charset="0"/>
                <a:ea typeface="Consolas" pitchFamily="34" charset="-122"/>
                <a:cs typeface="Consolas" pitchFamily="34" charset="-120"/>
              </a:rPr>
              <a:t>ontology, build:</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infobox → RDF</a:t>
            </a:r>
            <a:endParaRPr lang="en-US" sz="1300" dirty="0"/>
          </a:p>
        </p:txBody>
      </p:sp>
      <p:sp>
        <p:nvSpPr>
          <p:cNvPr id="8" name="Text 5"/>
          <p:cNvSpPr txBox="1"/>
          <p:nvPr/>
        </p:nvSpPr>
        <p:spPr>
          <a:xfrm>
            <a:off x="6848856" y="2560320"/>
            <a:ext cx="1828800" cy="1097280"/>
          </a:xfrm>
          <a:prstGeom prst="roundRect">
            <a:avLst>
              <a:gd name="adj" fmla="val 4167"/>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(3) Post-processing</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validate → OWL 2 RL</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 VoID → export</a:t>
            </a:r>
            <a:endParaRPr lang="en-US" sz="1300" dirty="0"/>
          </a:p>
        </p:txBody>
      </p:sp>
      <p:sp>
        <p:nvSpPr>
          <p:cNvPr id="9" name="Text 6"/>
          <p:cNvSpPr txBox="1"/>
          <p:nvPr/>
        </p:nvSpPr>
        <p:spPr>
          <a:xfrm>
            <a:off x="4718304" y="2560320"/>
            <a:ext cx="1828800" cy="1097280"/>
          </a:xfrm>
          <a:prstGeom prst="roundRect">
            <a:avLst>
              <a:gd name="adj" fmla="val 4167"/>
            </a:avLst>
          </a:prstGeom>
          <a:solidFill>
            <a:srgbClr val="EDEDED"/>
          </a:solidFill>
          <a:ln w="9525">
            <a:solidFill>
              <a:srgbClr val="737373"/>
            </a:solidFill>
          </a:ln>
        </p:spPr>
        <p:txBody>
          <a:bodyPr wrap="square" lIns="25400" tIns="25400" rIns="25400" bIns="25400" rtlCol="0" anchor="ctr"/>
          <a:lstStyle/>
          <a:p>
            <a:pPr algn="ctr" indent="0" marL="0">
              <a:buNone/>
            </a:pPr>
            <a:r>
              <a:rPr lang="en-US" sz="1300" dirty="0">
                <a:solidFill>
                  <a:schemeClr val="tx1"/>
                </a:solidFill>
                <a:latin typeface="Consolas" pitchFamily="34" charset="0"/>
                <a:ea typeface="Consolas" pitchFamily="34" charset="-122"/>
                <a:cs typeface="Consolas" pitchFamily="34" charset="-120"/>
              </a:rPr>
              <a:t>data/</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131,543 triples</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asserted / inferred</a:t>
            </a:r>
            <a:endParaRPr lang="en-US" sz="1300" dirty="0"/>
          </a:p>
        </p:txBody>
      </p:sp>
      <p:sp>
        <p:nvSpPr>
          <p:cNvPr id="10" name="Text 7"/>
          <p:cNvSpPr txBox="1"/>
          <p:nvPr/>
        </p:nvSpPr>
        <p:spPr>
          <a:xfrm>
            <a:off x="2587752" y="2560320"/>
            <a:ext cx="1828800" cy="1097280"/>
          </a:xfrm>
          <a:prstGeom prst="roundRect">
            <a:avLst>
              <a:gd name="adj" fmla="val 4167"/>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(4) Server</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FastAPI + React UI</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in-memory rdflib</a:t>
            </a:r>
            <a:endParaRPr lang="en-US" sz="1300" dirty="0"/>
          </a:p>
          <a:p>
            <a:pPr algn="ctr" indent="0" marL="0">
              <a:buNone/>
            </a:pPr>
            <a:r>
              <a:rPr lang="en-US" sz="1300" dirty="0">
                <a:solidFill>
                  <a:schemeClr val="tx1"/>
                </a:solidFill>
                <a:latin typeface="Consolas" pitchFamily="34" charset="0"/>
                <a:ea typeface="Consolas" pitchFamily="34" charset="-122"/>
                <a:cs typeface="Consolas" pitchFamily="34" charset="-120"/>
              </a:rPr>
              <a:t>/sparql</a:t>
            </a:r>
            <a:pPr algn="ctr" indent="0" marL="0">
              <a:buNone/>
            </a:pPr>
            <a:r>
              <a:rPr lang="en-US" sz="1300" dirty="0">
                <a:solidFill>
                  <a:schemeClr val="tx1"/>
                </a:solidFill>
                <a:latin typeface="Calibri" pitchFamily="34" charset="0"/>
                <a:ea typeface="Calibri" pitchFamily="34" charset="-122"/>
                <a:cs typeface="Calibri" pitchFamily="34" charset="-120"/>
              </a:rPr>
              <a:t> endpoint</a:t>
            </a:r>
            <a:endParaRPr lang="en-US" sz="1300" dirty="0"/>
          </a:p>
        </p:txBody>
      </p:sp>
      <p:sp>
        <p:nvSpPr>
          <p:cNvPr id="11" name="Text 8"/>
          <p:cNvSpPr txBox="1"/>
          <p:nvPr/>
        </p:nvSpPr>
        <p:spPr>
          <a:xfrm>
            <a:off x="457200" y="2560320"/>
            <a:ext cx="1828800" cy="1097280"/>
          </a:xfrm>
          <a:prstGeom prst="roundRect">
            <a:avLst>
              <a:gd name="adj" fmla="val 4167"/>
            </a:avLst>
          </a:prstGeom>
          <a:solidFill>
            <a:srgbClr val="FFFFFF"/>
          </a:solidFill>
          <a:ln w="9525">
            <a:solidFill>
              <a:srgbClr val="737373"/>
            </a:solidFill>
            <a:prstDash val="dash"/>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Browsers, curl,</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SPARQL clients</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LLM (optional)</a:t>
            </a:r>
            <a:endParaRPr lang="en-US" sz="1300" dirty="0"/>
          </a:p>
        </p:txBody>
      </p:sp>
      <p:sp>
        <p:nvSpPr>
          <p:cNvPr id="12" name="Shape 9"/>
          <p:cNvSpPr/>
          <p:nvPr/>
        </p:nvSpPr>
        <p:spPr>
          <a:xfrm>
            <a:off x="2286000" y="1600200"/>
            <a:ext cx="301752" cy="0"/>
          </a:xfrm>
          <a:prstGeom prst="line">
            <a:avLst/>
          </a:prstGeom>
          <a:noFill/>
          <a:ln w="19050">
            <a:solidFill>
              <a:srgbClr val="666666"/>
            </a:solidFill>
            <a:prstDash val="solid"/>
            <a:tailEnd type="triangle"/>
          </a:ln>
        </p:spPr>
      </p:sp>
      <p:sp>
        <p:nvSpPr>
          <p:cNvPr id="13" name="Shape 10"/>
          <p:cNvSpPr/>
          <p:nvPr/>
        </p:nvSpPr>
        <p:spPr>
          <a:xfrm>
            <a:off x="4416552" y="1600200"/>
            <a:ext cx="301752" cy="0"/>
          </a:xfrm>
          <a:prstGeom prst="line">
            <a:avLst/>
          </a:prstGeom>
          <a:noFill/>
          <a:ln w="19050">
            <a:solidFill>
              <a:srgbClr val="666666"/>
            </a:solidFill>
            <a:prstDash val="solid"/>
            <a:tailEnd type="triangle"/>
          </a:ln>
        </p:spPr>
      </p:sp>
      <p:sp>
        <p:nvSpPr>
          <p:cNvPr id="14" name="Shape 11"/>
          <p:cNvSpPr/>
          <p:nvPr/>
        </p:nvSpPr>
        <p:spPr>
          <a:xfrm>
            <a:off x="6547104" y="1600200"/>
            <a:ext cx="301752" cy="0"/>
          </a:xfrm>
          <a:prstGeom prst="line">
            <a:avLst/>
          </a:prstGeom>
          <a:noFill/>
          <a:ln w="19050">
            <a:solidFill>
              <a:srgbClr val="666666"/>
            </a:solidFill>
            <a:prstDash val="solid"/>
            <a:tailEnd type="triangle"/>
          </a:ln>
        </p:spPr>
      </p:sp>
      <p:sp>
        <p:nvSpPr>
          <p:cNvPr id="15" name="Shape 12"/>
          <p:cNvSpPr/>
          <p:nvPr/>
        </p:nvSpPr>
        <p:spPr>
          <a:xfrm>
            <a:off x="7763256" y="2148840"/>
            <a:ext cx="0" cy="411480"/>
          </a:xfrm>
          <a:prstGeom prst="line">
            <a:avLst/>
          </a:prstGeom>
          <a:noFill/>
          <a:ln w="19050">
            <a:solidFill>
              <a:srgbClr val="666666"/>
            </a:solidFill>
            <a:prstDash val="solid"/>
            <a:tailEnd type="triangle"/>
          </a:ln>
        </p:spPr>
      </p:sp>
      <p:sp>
        <p:nvSpPr>
          <p:cNvPr id="16" name="Shape 13"/>
          <p:cNvSpPr/>
          <p:nvPr/>
        </p:nvSpPr>
        <p:spPr>
          <a:xfrm flipH="1">
            <a:off x="6547104" y="3108960"/>
            <a:ext cx="301752" cy="0"/>
          </a:xfrm>
          <a:prstGeom prst="line">
            <a:avLst/>
          </a:prstGeom>
          <a:noFill/>
          <a:ln w="19050">
            <a:solidFill>
              <a:srgbClr val="666666"/>
            </a:solidFill>
            <a:prstDash val="solid"/>
            <a:tailEnd type="triangle"/>
          </a:ln>
        </p:spPr>
      </p:sp>
      <p:sp>
        <p:nvSpPr>
          <p:cNvPr id="17" name="Shape 14"/>
          <p:cNvSpPr/>
          <p:nvPr/>
        </p:nvSpPr>
        <p:spPr>
          <a:xfrm flipH="1">
            <a:off x="4416552" y="3108960"/>
            <a:ext cx="301752" cy="0"/>
          </a:xfrm>
          <a:prstGeom prst="line">
            <a:avLst/>
          </a:prstGeom>
          <a:noFill/>
          <a:ln w="19050">
            <a:solidFill>
              <a:srgbClr val="666666"/>
            </a:solidFill>
            <a:prstDash val="solid"/>
            <a:tailEnd type="triangle"/>
          </a:ln>
        </p:spPr>
      </p:sp>
      <p:sp>
        <p:nvSpPr>
          <p:cNvPr id="18" name="Shape 15"/>
          <p:cNvSpPr/>
          <p:nvPr/>
        </p:nvSpPr>
        <p:spPr>
          <a:xfrm flipH="1">
            <a:off x="2286000" y="3108960"/>
            <a:ext cx="301752" cy="0"/>
          </a:xfrm>
          <a:prstGeom prst="line">
            <a:avLst/>
          </a:prstGeom>
          <a:noFill/>
          <a:ln w="19050">
            <a:solidFill>
              <a:srgbClr val="666666"/>
            </a:solidFill>
            <a:prstDash val="solid"/>
            <a:headEnd type="triangle"/>
            <a:tailEnd type="triangle"/>
          </a:ln>
        </p:spPr>
      </p:sp>
      <p:sp>
        <p:nvSpPr>
          <p:cNvPr id="19" name="Shape 16"/>
          <p:cNvSpPr/>
          <p:nvPr/>
        </p:nvSpPr>
        <p:spPr>
          <a:xfrm>
            <a:off x="457200" y="3931920"/>
            <a:ext cx="8229600" cy="960120"/>
          </a:xfrm>
          <a:prstGeom prst="roundRect">
            <a:avLst>
              <a:gd name="adj" fmla="val 6667"/>
            </a:avLst>
          </a:prstGeom>
          <a:solidFill>
            <a:schemeClr val="bg2"/>
          </a:solidFill>
          <a:ln/>
        </p:spPr>
      </p:sp>
      <p:sp>
        <p:nvSpPr>
          <p:cNvPr id="20" name="Shape 17"/>
          <p:cNvSpPr/>
          <p:nvPr/>
        </p:nvSpPr>
        <p:spPr>
          <a:xfrm>
            <a:off x="457200" y="3931920"/>
            <a:ext cx="8229600" cy="384048"/>
          </a:xfrm>
          <a:prstGeom prst="roundRect">
            <a:avLst>
              <a:gd name="adj" fmla="val 16667"/>
            </a:avLst>
          </a:prstGeom>
          <a:solidFill>
            <a:schemeClr val="accent1"/>
          </a:solidFill>
          <a:ln/>
        </p:spPr>
      </p:sp>
      <p:sp>
        <p:nvSpPr>
          <p:cNvPr id="21" name="Shape 18"/>
          <p:cNvSpPr/>
          <p:nvPr/>
        </p:nvSpPr>
        <p:spPr>
          <a:xfrm>
            <a:off x="457200" y="4123944"/>
            <a:ext cx="8229600" cy="192024"/>
          </a:xfrm>
          <a:prstGeom prst="rect">
            <a:avLst/>
          </a:prstGeom>
          <a:solidFill>
            <a:schemeClr val="accent1"/>
          </a:solidFill>
          <a:ln/>
        </p:spPr>
      </p:sp>
      <p:sp>
        <p:nvSpPr>
          <p:cNvPr id="22" name="Text 19"/>
          <p:cNvSpPr txBox="1"/>
          <p:nvPr/>
        </p:nvSpPr>
        <p:spPr>
          <a:xfrm>
            <a:off x="548640" y="3931920"/>
            <a:ext cx="8046720" cy="384048"/>
          </a:xfrm>
          <a:prstGeom prst="rect">
            <a:avLst/>
          </a:prstGeom>
          <a:noFill/>
          <a:ln/>
        </p:spPr>
        <p:txBody>
          <a:bodyPr wrap="square" lIns="0" tIns="0" rIns="0" bIns="0" rtlCol="0" anchor="ctr"/>
          <a:lstStyle/>
          <a:p>
            <a:pPr indent="0" marL="0">
              <a:buNone/>
            </a:pPr>
            <a:r>
              <a:rPr lang="en-US" sz="1800" dirty="0">
                <a:solidFill>
                  <a:schemeClr val="bg1"/>
                </a:solidFill>
                <a:latin typeface="Consolas" pitchFamily="34" charset="0"/>
                <a:ea typeface="Consolas" pitchFamily="34" charset="-122"/>
                <a:cs typeface="Consolas" pitchFamily="34" charset="-120"/>
              </a:rPr>
              <a:t>python -m vidbpedia &lt;step&gt;</a:t>
            </a:r>
            <a:endParaRPr lang="en-US" sz="1800" dirty="0"/>
          </a:p>
        </p:txBody>
      </p:sp>
      <p:sp>
        <p:nvSpPr>
          <p:cNvPr id="23" name="Text 20"/>
          <p:cNvSpPr txBox="1"/>
          <p:nvPr/>
        </p:nvSpPr>
        <p:spPr>
          <a:xfrm>
            <a:off x="548640" y="4361688"/>
            <a:ext cx="8046720" cy="484632"/>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seeds → enrich → ontology → build → postprocess --strict → serve</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then </a:t>
            </a:r>
            <a:r>
              <a:rPr lang="en-US" sz="1500" dirty="0">
                <a:solidFill>
                  <a:schemeClr val="tx1"/>
                </a:solidFill>
                <a:latin typeface="Consolas" pitchFamily="34" charset="0"/>
                <a:ea typeface="Consolas" pitchFamily="34" charset="-122"/>
                <a:cs typeface="Consolas" pitchFamily="34" charset="-120"/>
              </a:rPr>
              <a:t>query</a:t>
            </a:r>
            <a:r>
              <a:rPr lang="en-US" sz="1500" dirty="0">
                <a:solidFill>
                  <a:schemeClr val="tx1"/>
                </a:solidFill>
                <a:latin typeface="Calibri" pitchFamily="34" charset="0"/>
                <a:ea typeface="Calibri" pitchFamily="34" charset="-122"/>
                <a:cs typeface="Calibri" pitchFamily="34" charset="-120"/>
              </a:rPr>
              <a:t> from the terminal  ·  React UI: </a:t>
            </a:r>
            <a:r>
              <a:rPr lang="en-US" sz="1500" dirty="0">
                <a:solidFill>
                  <a:schemeClr val="tx1"/>
                </a:solidFill>
                <a:latin typeface="Consolas" pitchFamily="34" charset="0"/>
                <a:ea typeface="Consolas" pitchFamily="34" charset="-122"/>
                <a:cs typeface="Consolas" pitchFamily="34" charset="-120"/>
              </a:rPr>
              <a:t>python -m ui.api</a:t>
            </a:r>
            <a:endParaRPr lang="en-US" sz="1500" dirty="0"/>
          </a:p>
        </p:txBody>
      </p:sp>
      <p:sp>
        <p:nvSpPr>
          <p:cNvPr id="24" name="Text 21"/>
          <p:cNvSpPr txBox="1"/>
          <p:nvPr/>
        </p:nvSpPr>
        <p:spPr>
          <a:xfrm>
            <a:off x="457200" y="5074920"/>
            <a:ext cx="8229600" cy="1143000"/>
          </a:xfrm>
          <a:prstGeom prst="rect">
            <a:avLst/>
          </a:prstGeom>
          <a:noFill/>
          <a:ln/>
        </p:spPr>
        <p:txBody>
          <a:bodyPr wrap="square" lIns="38100" tIns="38100" rIns="38100" bIns="38100" rtlCol="0" anchor="t"/>
          <a:lstStyle/>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Only layer (1) calls the network; raw downloads are committed → the dataset rebuilds </a:t>
            </a:r>
            <a:pPr indent="0" marL="0">
              <a:buNone/>
            </a:pPr>
            <a:r>
              <a:rPr lang="en-US" sz="1800" dirty="0">
                <a:solidFill>
                  <a:schemeClr val="accent1"/>
                </a:solidFill>
                <a:latin typeface="Calibri" pitchFamily="34" charset="0"/>
                <a:ea typeface="Calibri" pitchFamily="34" charset="-122"/>
                <a:cs typeface="Calibri" pitchFamily="34" charset="-120"/>
              </a:rPr>
              <a:t>offline</a:t>
            </a:r>
            <a:pPr indent="0" marL="0">
              <a:buNone/>
            </a:pPr>
            <a:r>
              <a:rPr lang="en-US" sz="1800" dirty="0">
                <a:solidFill>
                  <a:schemeClr val="tx1"/>
                </a:solidFill>
                <a:latin typeface="Calibri" pitchFamily="34" charset="0"/>
                <a:ea typeface="Calibri" pitchFamily="34" charset="-122"/>
                <a:cs typeface="Calibri" pitchFamily="34" charset="-120"/>
              </a:rPr>
              <a:t>, identically</a:t>
            </a:r>
            <a:endParaRPr lang="en-US" sz="1800" dirty="0"/>
          </a:p>
          <a:p>
            <a:pPr marL="203200" indent="-203200">
              <a:spcAft>
                <a:spcPts val="400"/>
              </a:spcAft>
              <a:buSzPct val="100000"/>
              <a:buChar char="•"/>
            </a:pPr>
            <a:r>
              <a:rPr lang="en-US" sz="1800" dirty="0">
                <a:solidFill>
                  <a:schemeClr val="tx1"/>
                </a:solidFill>
                <a:latin typeface="Calibri" pitchFamily="34" charset="0"/>
                <a:ea typeface="Calibri" pitchFamily="34" charset="-122"/>
                <a:cs typeface="Calibri" pitchFamily="34" charset="-120"/>
              </a:rPr>
              <a:t>Graphs built with the rdflib API; </a:t>
            </a:r>
            <a:pPr indent="0" marL="0">
              <a:buNone/>
            </a:pPr>
            <a:r>
              <a:rPr lang="en-US" sz="1800" dirty="0">
                <a:solidFill>
                  <a:schemeClr val="accent1"/>
                </a:solidFill>
                <a:latin typeface="Calibri" pitchFamily="34" charset="0"/>
                <a:ea typeface="Calibri" pitchFamily="34" charset="-122"/>
                <a:cs typeface="Calibri" pitchFamily="34" charset="-120"/>
              </a:rPr>
              <a:t>one function</a:t>
            </a:r>
            <a:pPr indent="0" marL="0">
              <a:buNone/>
            </a:pPr>
            <a:r>
              <a:rPr lang="en-US" sz="1800" dirty="0">
                <a:solidFill>
                  <a:schemeClr val="tx1"/>
                </a:solidFill>
                <a:latin typeface="Calibri" pitchFamily="34" charset="0"/>
                <a:ea typeface="Calibri" pitchFamily="34" charset="-122"/>
                <a:cs typeface="Calibri" pitchFamily="34" charset="-120"/>
              </a:rPr>
              <a:t> creates every IRI</a:t>
            </a:r>
            <a:endParaRPr lang="en-US" sz="18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Collecting Entities and Articles</a:t>
            </a:r>
            <a:endParaRPr lang="en-US" sz="2600" dirty="0"/>
          </a:p>
        </p:txBody>
      </p:sp>
      <p:sp>
        <p:nvSpPr>
          <p:cNvPr id="4" name="Text 1"/>
          <p:cNvSpPr txBox="1"/>
          <p:nvPr/>
        </p:nvSpPr>
        <p:spPr>
          <a:xfrm>
            <a:off x="457200" y="932688"/>
            <a:ext cx="8229600" cy="347472"/>
          </a:xfrm>
          <a:prstGeom prst="rect">
            <a:avLst/>
          </a:prstGeom>
          <a:noFill/>
          <a:ln/>
        </p:spPr>
        <p:txBody>
          <a:bodyPr wrap="square" lIns="38100" tIns="38100" rIns="38100" bIns="38100" rtlCol="0" anchor="t"/>
          <a:lstStyle/>
          <a:p>
            <a:pPr indent="0" marL="0">
              <a:buNone/>
            </a:pPr>
            <a:r>
              <a:rPr lang="en-US" sz="1900" b="1" dirty="0">
                <a:solidFill>
                  <a:schemeClr val="tx1"/>
                </a:solidFill>
                <a:latin typeface="Calibri" pitchFamily="34" charset="0"/>
                <a:ea typeface="Calibri" pitchFamily="34" charset="-122"/>
                <a:cs typeface="Calibri" pitchFamily="34" charset="-120"/>
              </a:rPr>
              <a:t>Wikidata Query Service</a:t>
            </a:r>
            <a:pPr indent="0" marL="0">
              <a:buNone/>
            </a:pPr>
            <a:r>
              <a:rPr lang="en-US" sz="1900" dirty="0">
                <a:solidFill>
                  <a:schemeClr val="tx1"/>
                </a:solidFill>
                <a:latin typeface="Calibri" pitchFamily="34" charset="0"/>
                <a:ea typeface="Calibri" pitchFamily="34" charset="-122"/>
                <a:cs typeface="Calibri" pitchFamily="34" charset="-120"/>
              </a:rPr>
              <a:t> — one query per class, e.g. players:</a:t>
            </a:r>
            <a:endParaRPr lang="en-US" sz="1900" dirty="0"/>
          </a:p>
        </p:txBody>
      </p:sp>
      <p:sp>
        <p:nvSpPr>
          <p:cNvPr id="5" name="Shape 2"/>
          <p:cNvSpPr/>
          <p:nvPr/>
        </p:nvSpPr>
        <p:spPr>
          <a:xfrm>
            <a:off x="457200" y="1298448"/>
            <a:ext cx="8229600" cy="1078992"/>
          </a:xfrm>
          <a:prstGeom prst="rect">
            <a:avLst/>
          </a:prstGeom>
          <a:solidFill>
            <a:srgbClr val="FFFFFF"/>
          </a:solidFill>
          <a:ln w="9525">
            <a:solidFill>
              <a:srgbClr val="A6A6A6"/>
            </a:solidFill>
            <a:prstDash val="solid"/>
          </a:ln>
        </p:spPr>
      </p:sp>
      <p:sp>
        <p:nvSpPr>
          <p:cNvPr id="6" name="Text 3"/>
          <p:cNvSpPr txBox="1"/>
          <p:nvPr/>
        </p:nvSpPr>
        <p:spPr>
          <a:xfrm>
            <a:off x="512064" y="1335024"/>
            <a:ext cx="8119872" cy="1005840"/>
          </a:xfrm>
          <a:prstGeom prst="rect">
            <a:avLst/>
          </a:prstGeom>
          <a:noFill/>
          <a:ln/>
        </p:spPr>
        <p:txBody>
          <a:bodyPr wrap="square" lIns="25400" tIns="25400" rIns="25400" bIns="25400" rtlCol="0" anchor="ctr"/>
          <a:lstStyle/>
          <a:p>
            <a:pPr indent="0" marL="0">
              <a:lnSpc>
                <a:spcPct val="100000"/>
              </a:lnSpc>
              <a:buNone/>
            </a:pPr>
            <a:r>
              <a:rPr lang="en-US" sz="1250" dirty="0">
                <a:solidFill>
                  <a:schemeClr val="tx1"/>
                </a:solidFill>
                <a:latin typeface="Consolas" pitchFamily="34" charset="0"/>
                <a:ea typeface="Consolas" pitchFamily="34" charset="-122"/>
                <a:cs typeface="Consolas" pitchFamily="34" charset="-120"/>
              </a:rPr>
              <a:t>?item wdt:P31 wd:Q5 ;                        # human</a:t>
            </a:r>
            <a:endParaRPr lang="en-US" sz="1250" dirty="0"/>
          </a:p>
          <a:p>
            <a:pPr indent="0" marL="0">
              <a:lnSpc>
                <a:spcPct val="100000"/>
              </a:lnSpc>
              <a:buNone/>
            </a:pPr>
            <a:r>
              <a:rPr lang="en-US" sz="1250" dirty="0">
                <a:solidFill>
                  <a:schemeClr val="tx1"/>
                </a:solidFill>
                <a:latin typeface="Consolas" pitchFamily="34" charset="0"/>
                <a:ea typeface="Consolas" pitchFamily="34" charset="-122"/>
                <a:cs typeface="Consolas" pitchFamily="34" charset="-120"/>
              </a:rPr>
              <a:t>      wdt:P106 wd:Q937857 ;                  # association football player</a:t>
            </a:r>
            <a:endParaRPr lang="en-US" sz="1250" dirty="0"/>
          </a:p>
          <a:p>
            <a:pPr indent="0" marL="0">
              <a:lnSpc>
                <a:spcPct val="100000"/>
              </a:lnSpc>
              <a:buNone/>
            </a:pPr>
            <a:r>
              <a:rPr lang="en-US" sz="1250" dirty="0">
                <a:solidFill>
                  <a:schemeClr val="tx1"/>
                </a:solidFill>
                <a:latin typeface="Consolas" pitchFamily="34" charset="0"/>
                <a:ea typeface="Consolas" pitchFamily="34" charset="-122"/>
                <a:cs typeface="Consolas" pitchFamily="34" charset="-120"/>
              </a:rPr>
              <a:t>      wdt:P27 wd:Q881 .                      # citizen of Vietnam</a:t>
            </a:r>
            <a:endParaRPr lang="en-US" sz="1250" dirty="0"/>
          </a:p>
          <a:p>
            <a:pPr indent="0" marL="0">
              <a:lnSpc>
                <a:spcPct val="100000"/>
              </a:lnSpc>
              <a:buNone/>
            </a:pPr>
            <a:r>
              <a:rPr lang="en-US" sz="1250" dirty="0">
                <a:solidFill>
                  <a:schemeClr val="tx1"/>
                </a:solidFill>
                <a:latin typeface="Consolas" pitchFamily="34" charset="0"/>
                <a:ea typeface="Consolas" pitchFamily="34" charset="-122"/>
                <a:cs typeface="Consolas" pitchFamily="34" charset="-120"/>
              </a:rPr>
              <a:t>?vs schema:about ?item ; schema:name ?viTitle ;</a:t>
            </a:r>
            <a:endParaRPr lang="en-US" sz="1250" dirty="0"/>
          </a:p>
          <a:p>
            <a:pPr indent="0" marL="0">
              <a:lnSpc>
                <a:spcPct val="100000"/>
              </a:lnSpc>
              <a:buNone/>
            </a:pPr>
            <a:r>
              <a:rPr lang="en-US" sz="1250" dirty="0">
                <a:solidFill>
                  <a:schemeClr val="tx1"/>
                </a:solidFill>
                <a:latin typeface="Consolas" pitchFamily="34" charset="0"/>
                <a:ea typeface="Consolas" pitchFamily="34" charset="-122"/>
                <a:cs typeface="Consolas" pitchFamily="34" charset="-120"/>
              </a:rPr>
              <a:t>    schema:isPartOf &lt;https://vi.wikipedia.org/&gt; .   # has a Vietnamese article</a:t>
            </a:r>
            <a:endParaRPr lang="en-US" sz="1250" dirty="0"/>
          </a:p>
        </p:txBody>
      </p:sp>
      <p:sp>
        <p:nvSpPr>
          <p:cNvPr id="7" name="Text 4"/>
          <p:cNvSpPr txBox="1"/>
          <p:nvPr/>
        </p:nvSpPr>
        <p:spPr>
          <a:xfrm>
            <a:off x="457200" y="2450592"/>
            <a:ext cx="8229600" cy="1325880"/>
          </a:xfrm>
          <a:prstGeom prst="rect">
            <a:avLst/>
          </a:prstGeom>
          <a:noFill/>
          <a:ln/>
        </p:spPr>
        <p:txBody>
          <a:bodyPr wrap="square" lIns="38100" tIns="38100" rIns="38100" bIns="38100" rtlCol="0" anchor="t"/>
          <a:lstStyle/>
          <a:p>
            <a:pPr marL="203200" indent="-2032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drop list and disambiguation pages; English article optional</a:t>
            </a:r>
            <a:endParaRPr lang="en-US" sz="1600" dirty="0"/>
          </a:p>
          <a:p>
            <a:pPr marL="203200" indent="-2032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facts in blocks of 300: dates </a:t>
            </a:r>
            <a:pPr indent="0" marL="0">
              <a:buNone/>
            </a:pPr>
            <a:r>
              <a:rPr lang="en-US" sz="1600" dirty="0">
                <a:solidFill>
                  <a:schemeClr val="accent1"/>
                </a:solidFill>
                <a:latin typeface="Calibri" pitchFamily="34" charset="0"/>
                <a:ea typeface="Calibri" pitchFamily="34" charset="-122"/>
                <a:cs typeface="Calibri" pitchFamily="34" charset="-120"/>
              </a:rPr>
              <a:t>with precision</a:t>
            </a:r>
            <a:pPr indent="0" marL="0">
              <a:buNone/>
            </a:pPr>
            <a:r>
              <a:rPr lang="en-US" sz="1600" dirty="0">
                <a:solidFill>
                  <a:schemeClr val="tx1"/>
                </a:solidFill>
                <a:latin typeface="Calibri" pitchFamily="34" charset="0"/>
                <a:ea typeface="Calibri" pitchFamily="34" charset="-122"/>
                <a:cs typeface="Calibri" pitchFamily="34" charset="-120"/>
              </a:rPr>
              <a:t>, quantities with point in time, relations with start/end/apps/goals qualifiers</a:t>
            </a:r>
            <a:endParaRPr lang="en-US" sz="1600" dirty="0"/>
          </a:p>
          <a:p>
            <a:pPr marL="203200" indent="-2032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birthplaces and locations mapped to a province through </a:t>
            </a:r>
            <a:pPr indent="0" marL="0">
              <a:buNone/>
            </a:pPr>
            <a:r>
              <a:rPr lang="en-US" sz="1600" dirty="0">
                <a:solidFill>
                  <a:schemeClr val="tx1"/>
                </a:solidFill>
                <a:latin typeface="Consolas" pitchFamily="34" charset="0"/>
                <a:ea typeface="Consolas" pitchFamily="34" charset="-122"/>
                <a:cs typeface="Consolas" pitchFamily="34" charset="-120"/>
              </a:rPr>
              <a:t>P131*</a:t>
            </a:r>
            <a:endParaRPr lang="en-US" sz="1600" dirty="0"/>
          </a:p>
        </p:txBody>
      </p:sp>
      <p:sp>
        <p:nvSpPr>
          <p:cNvPr id="8" name="Text 5"/>
          <p:cNvSpPr txBox="1"/>
          <p:nvPr/>
        </p:nvSpPr>
        <p:spPr>
          <a:xfrm>
            <a:off x="457200" y="3749040"/>
            <a:ext cx="8229600" cy="347472"/>
          </a:xfrm>
          <a:prstGeom prst="rect">
            <a:avLst/>
          </a:prstGeom>
          <a:noFill/>
          <a:ln/>
        </p:spPr>
        <p:txBody>
          <a:bodyPr wrap="square" lIns="38100" tIns="38100" rIns="38100" bIns="38100" rtlCol="0" anchor="t"/>
          <a:lstStyle/>
          <a:p>
            <a:pPr indent="0" marL="0">
              <a:buNone/>
            </a:pPr>
            <a:r>
              <a:rPr lang="en-US" sz="1900" b="1" dirty="0">
                <a:solidFill>
                  <a:schemeClr val="tx1"/>
                </a:solidFill>
                <a:latin typeface="Calibri" pitchFamily="34" charset="0"/>
                <a:ea typeface="Calibri" pitchFamily="34" charset="-122"/>
                <a:cs typeface="Calibri" pitchFamily="34" charset="-120"/>
              </a:rPr>
              <a:t>MediaWiki API</a:t>
            </a:r>
            <a:pPr indent="0" marL="0">
              <a:buNone/>
            </a:pPr>
            <a:r>
              <a:rPr lang="en-US" sz="1900" dirty="0">
                <a:solidFill>
                  <a:schemeClr val="tx1"/>
                </a:solidFill>
                <a:latin typeface="Calibri" pitchFamily="34" charset="0"/>
                <a:ea typeface="Calibri" pitchFamily="34" charset="-122"/>
                <a:cs typeface="Calibri" pitchFamily="34" charset="-120"/>
              </a:rPr>
              <a:t> (vi.wikipedia.org), batches of up to 50 titles</a:t>
            </a:r>
            <a:endParaRPr lang="en-US" sz="1900" dirty="0"/>
          </a:p>
        </p:txBody>
      </p:sp>
      <p:sp>
        <p:nvSpPr>
          <p:cNvPr id="9" name="Text 6"/>
          <p:cNvSpPr txBox="1"/>
          <p:nvPr/>
        </p:nvSpPr>
        <p:spPr>
          <a:xfrm>
            <a:off x="457200" y="4096512"/>
            <a:ext cx="8229600" cy="960120"/>
          </a:xfrm>
          <a:prstGeom prst="rect">
            <a:avLst/>
          </a:prstGeom>
          <a:noFill/>
          <a:ln/>
        </p:spPr>
        <p:txBody>
          <a:bodyPr wrap="square" lIns="38100" tIns="38100" rIns="38100" bIns="38100" rtlCol="0" anchor="t"/>
          <a:lstStyle/>
          <a:p>
            <a:pPr marL="203200" indent="-2032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page ID, revision, image, coordinates, lead section (abstract)</a:t>
            </a:r>
            <a:endParaRPr lang="en-US" sz="1600" dirty="0"/>
          </a:p>
          <a:p>
            <a:pPr marL="203200" indent="-2032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categories, redirects, infobox parameters, external links</a:t>
            </a:r>
            <a:endParaRPr lang="en-US" sz="1600" dirty="0"/>
          </a:p>
          <a:p>
            <a:pPr marL="203200" indent="-2032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2,588 infobox link targets resolved (71 disambiguation pages)</a:t>
            </a:r>
            <a:endParaRPr lang="en-US" sz="1600" dirty="0"/>
          </a:p>
        </p:txBody>
      </p:sp>
      <p:sp>
        <p:nvSpPr>
          <p:cNvPr id="10" name="Shape 7"/>
          <p:cNvSpPr/>
          <p:nvPr/>
        </p:nvSpPr>
        <p:spPr>
          <a:xfrm>
            <a:off x="457200" y="5138928"/>
            <a:ext cx="8229600" cy="932688"/>
          </a:xfrm>
          <a:prstGeom prst="roundRect">
            <a:avLst>
              <a:gd name="adj" fmla="val 6863"/>
            </a:avLst>
          </a:prstGeom>
          <a:solidFill>
            <a:schemeClr val="bg2"/>
          </a:solidFill>
          <a:ln/>
        </p:spPr>
      </p:sp>
      <p:sp>
        <p:nvSpPr>
          <p:cNvPr id="11" name="Shape 8"/>
          <p:cNvSpPr/>
          <p:nvPr/>
        </p:nvSpPr>
        <p:spPr>
          <a:xfrm>
            <a:off x="457200" y="5138928"/>
            <a:ext cx="8229600" cy="384048"/>
          </a:xfrm>
          <a:prstGeom prst="roundRect">
            <a:avLst>
              <a:gd name="adj" fmla="val 16667"/>
            </a:avLst>
          </a:prstGeom>
          <a:solidFill>
            <a:schemeClr val="accent1"/>
          </a:solidFill>
          <a:ln/>
        </p:spPr>
      </p:sp>
      <p:sp>
        <p:nvSpPr>
          <p:cNvPr id="12" name="Shape 9"/>
          <p:cNvSpPr/>
          <p:nvPr/>
        </p:nvSpPr>
        <p:spPr>
          <a:xfrm>
            <a:off x="457200" y="5330952"/>
            <a:ext cx="8229600" cy="192024"/>
          </a:xfrm>
          <a:prstGeom prst="rect">
            <a:avLst/>
          </a:prstGeom>
          <a:solidFill>
            <a:schemeClr val="accent1"/>
          </a:solidFill>
          <a:ln/>
        </p:spPr>
      </p:sp>
      <p:sp>
        <p:nvSpPr>
          <p:cNvPr id="13" name="Text 10"/>
          <p:cNvSpPr txBox="1"/>
          <p:nvPr/>
        </p:nvSpPr>
        <p:spPr>
          <a:xfrm>
            <a:off x="548640" y="5138928"/>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Polite and reproducible</a:t>
            </a:r>
            <a:endParaRPr lang="en-US" sz="1900" dirty="0"/>
          </a:p>
        </p:txBody>
      </p:sp>
      <p:sp>
        <p:nvSpPr>
          <p:cNvPr id="14" name="Text 11"/>
          <p:cNvSpPr txBox="1"/>
          <p:nvPr/>
        </p:nvSpPr>
        <p:spPr>
          <a:xfrm>
            <a:off x="548640" y="5568696"/>
            <a:ext cx="8046720" cy="4572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2 s / 1 s between requests, </a:t>
            </a:r>
            <a:pPr indent="0" marL="0">
              <a:buNone/>
            </a:pPr>
            <a:r>
              <a:rPr lang="en-US" sz="1600" dirty="0">
                <a:solidFill>
                  <a:schemeClr val="tx1"/>
                </a:solidFill>
                <a:latin typeface="Consolas" pitchFamily="34" charset="0"/>
                <a:ea typeface="Consolas" pitchFamily="34" charset="-122"/>
                <a:cs typeface="Consolas" pitchFamily="34" charset="-120"/>
              </a:rPr>
              <a:t>maxlag</a:t>
            </a:r>
            <a:pPr indent="0" marL="0">
              <a:buNone/>
            </a:pPr>
            <a:r>
              <a:rPr lang="en-US" sz="1600" dirty="0">
                <a:solidFill>
                  <a:schemeClr val="tx1"/>
                </a:solidFill>
                <a:latin typeface="Calibri" pitchFamily="34" charset="0"/>
                <a:ea typeface="Calibri" pitchFamily="34" charset="-122"/>
                <a:cs typeface="Calibri" pitchFamily="34" charset="-120"/>
              </a:rPr>
              <a:t>, retries on 429  ·  SQLite cache, </a:t>
            </a:r>
            <a:pPr indent="0" marL="0">
              <a:buNone/>
            </a:pPr>
            <a:r>
              <a:rPr lang="en-US" sz="1600" dirty="0">
                <a:solidFill>
                  <a:schemeClr val="tx1"/>
                </a:solidFill>
                <a:latin typeface="Consolas" pitchFamily="34" charset="0"/>
                <a:ea typeface="Consolas" pitchFamily="34" charset="-122"/>
                <a:cs typeface="Consolas" pitchFamily="34" charset="-120"/>
              </a:rPr>
              <a:t>--offline</a:t>
            </a:r>
            <a:pPr indent="0" marL="0">
              <a:buNone/>
            </a:pPr>
            <a:r>
              <a:rPr lang="en-US" sz="1600" dirty="0">
                <a:solidFill>
                  <a:schemeClr val="tx1"/>
                </a:solidFill>
                <a:latin typeface="Calibri" pitchFamily="34" charset="0"/>
                <a:ea typeface="Calibri" pitchFamily="34" charset="-122"/>
                <a:cs typeface="Calibri" pitchFamily="34" charset="-120"/>
              </a:rPr>
              <a:t> and </a:t>
            </a:r>
            <a:pPr indent="0" marL="0">
              <a:buNone/>
            </a:pPr>
            <a:r>
              <a:rPr lang="en-US" sz="1600" dirty="0">
                <a:solidFill>
                  <a:schemeClr val="tx1"/>
                </a:solidFill>
                <a:latin typeface="Consolas" pitchFamily="34" charset="0"/>
                <a:ea typeface="Consolas" pitchFamily="34" charset="-122"/>
                <a:cs typeface="Consolas" pitchFamily="34" charset="-120"/>
              </a:rPr>
              <a:t>--refresh</a:t>
            </a:r>
            <a:endParaRPr lang="en-US" sz="16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Ontology vio: as an RDFS Graph</a:t>
            </a:r>
            <a:endParaRPr lang="en-US" sz="2600" dirty="0"/>
          </a:p>
        </p:txBody>
      </p:sp>
      <p:sp>
        <p:nvSpPr>
          <p:cNvPr id="4" name="Text 1"/>
          <p:cNvSpPr txBox="1"/>
          <p:nvPr/>
        </p:nvSpPr>
        <p:spPr>
          <a:xfrm>
            <a:off x="2486551" y="1035320"/>
            <a:ext cx="1044382" cy="329184"/>
          </a:xfrm>
          <a:prstGeom prst="ellipse">
            <a:avLst/>
          </a:prstGeom>
          <a:solidFill>
            <a:srgbClr val="EBEBEB"/>
          </a:solidFill>
          <a:ln w="12700">
            <a:solidFill>
              <a:srgbClr val="808080"/>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rdfs:Class</a:t>
            </a:r>
            <a:endParaRPr lang="en-US" sz="900" dirty="0"/>
          </a:p>
        </p:txBody>
      </p:sp>
      <p:sp>
        <p:nvSpPr>
          <p:cNvPr id="5" name="Text 2"/>
          <p:cNvSpPr txBox="1"/>
          <p:nvPr/>
        </p:nvSpPr>
        <p:spPr>
          <a:xfrm>
            <a:off x="5278541" y="1035320"/>
            <a:ext cx="1222218" cy="329184"/>
          </a:xfrm>
          <a:prstGeom prst="ellipse">
            <a:avLst/>
          </a:prstGeom>
          <a:solidFill>
            <a:srgbClr val="EBEBEB"/>
          </a:solidFill>
          <a:ln w="12700">
            <a:solidFill>
              <a:srgbClr val="808080"/>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rdf:Property</a:t>
            </a:r>
            <a:endParaRPr lang="en-US" sz="900" dirty="0"/>
          </a:p>
        </p:txBody>
      </p:sp>
      <p:sp>
        <p:nvSpPr>
          <p:cNvPr id="6" name="Text 3"/>
          <p:cNvSpPr txBox="1"/>
          <p:nvPr/>
        </p:nvSpPr>
        <p:spPr>
          <a:xfrm>
            <a:off x="1070511" y="1718926"/>
            <a:ext cx="1044382" cy="329184"/>
          </a:xfrm>
          <a:prstGeom prst="ellipse">
            <a:avLst/>
          </a:prstGeom>
          <a:solidFill>
            <a:srgbClr val="FFFFFF"/>
          </a:solidFill>
          <a:ln w="12700">
            <a:solidFill>
              <a:srgbClr val="8C8C8C"/>
            </a:solidFill>
            <a:prstDash val="dash"/>
          </a:ln>
        </p:spPr>
        <p:txBody>
          <a:bodyPr wrap="square" lIns="0" tIns="0" rIns="0" bIns="0" rtlCol="0" anchor="ctr"/>
          <a:lstStyle/>
          <a:p>
            <a:pPr algn="ctr" indent="0" marL="0">
              <a:buNone/>
            </a:pPr>
            <a:r>
              <a:rPr lang="en-US" sz="900" dirty="0">
                <a:solidFill>
                  <a:srgbClr val="595959"/>
                </a:solidFill>
                <a:latin typeface="Consolas" pitchFamily="34" charset="0"/>
                <a:ea typeface="Consolas" pitchFamily="34" charset="-122"/>
                <a:cs typeface="Consolas" pitchFamily="34" charset="-120"/>
              </a:rPr>
              <a:t>dbo:Person</a:t>
            </a:r>
            <a:endParaRPr lang="en-US" sz="900" dirty="0"/>
          </a:p>
        </p:txBody>
      </p:sp>
      <p:sp>
        <p:nvSpPr>
          <p:cNvPr id="7" name="Text 4"/>
          <p:cNvSpPr txBox="1"/>
          <p:nvPr/>
        </p:nvSpPr>
        <p:spPr>
          <a:xfrm>
            <a:off x="1070511" y="2402531"/>
            <a:ext cx="1044382"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vio:Person</a:t>
            </a:r>
            <a:endParaRPr lang="en-US" sz="900" dirty="0"/>
          </a:p>
        </p:txBody>
      </p:sp>
      <p:sp>
        <p:nvSpPr>
          <p:cNvPr id="8" name="Text 5"/>
          <p:cNvSpPr txBox="1"/>
          <p:nvPr/>
        </p:nvSpPr>
        <p:spPr>
          <a:xfrm>
            <a:off x="1026052" y="3086137"/>
            <a:ext cx="1133300"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vio:Athlete</a:t>
            </a:r>
            <a:endParaRPr lang="en-US" sz="900" dirty="0"/>
          </a:p>
        </p:txBody>
      </p:sp>
      <p:sp>
        <p:nvSpPr>
          <p:cNvPr id="9" name="Text 6"/>
          <p:cNvSpPr txBox="1"/>
          <p:nvPr/>
        </p:nvSpPr>
        <p:spPr>
          <a:xfrm>
            <a:off x="714839" y="3769742"/>
            <a:ext cx="1755726"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vio:FootballPlayer</a:t>
            </a:r>
            <a:endParaRPr lang="en-US" sz="900" dirty="0"/>
          </a:p>
        </p:txBody>
      </p:sp>
      <p:sp>
        <p:nvSpPr>
          <p:cNvPr id="10" name="Text 7"/>
          <p:cNvSpPr txBox="1"/>
          <p:nvPr/>
        </p:nvSpPr>
        <p:spPr>
          <a:xfrm>
            <a:off x="2907772" y="3086137"/>
            <a:ext cx="1666808"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vio:CareerStation</a:t>
            </a:r>
            <a:endParaRPr lang="en-US" sz="900" dirty="0"/>
          </a:p>
        </p:txBody>
      </p:sp>
      <p:sp>
        <p:nvSpPr>
          <p:cNvPr id="11" name="Text 8"/>
          <p:cNvSpPr txBox="1"/>
          <p:nvPr/>
        </p:nvSpPr>
        <p:spPr>
          <a:xfrm>
            <a:off x="2996690" y="3769742"/>
            <a:ext cx="1488972"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vio:ClubStation</a:t>
            </a:r>
            <a:endParaRPr lang="en-US" sz="900" dirty="0"/>
          </a:p>
        </p:txBody>
      </p:sp>
      <p:sp>
        <p:nvSpPr>
          <p:cNvPr id="12" name="Text 9"/>
          <p:cNvSpPr txBox="1"/>
          <p:nvPr/>
        </p:nvSpPr>
        <p:spPr>
          <a:xfrm>
            <a:off x="5003048" y="3086137"/>
            <a:ext cx="1577890"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vio:Organisation</a:t>
            </a:r>
            <a:endParaRPr lang="en-US" sz="900" dirty="0"/>
          </a:p>
        </p:txBody>
      </p:sp>
      <p:sp>
        <p:nvSpPr>
          <p:cNvPr id="13" name="Text 10"/>
          <p:cNvSpPr txBox="1"/>
          <p:nvPr/>
        </p:nvSpPr>
        <p:spPr>
          <a:xfrm>
            <a:off x="5003048" y="3769742"/>
            <a:ext cx="1577890"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vio:FootballClub</a:t>
            </a:r>
            <a:endParaRPr lang="en-US" sz="900" dirty="0"/>
          </a:p>
        </p:txBody>
      </p:sp>
      <p:sp>
        <p:nvSpPr>
          <p:cNvPr id="14" name="Text 11"/>
          <p:cNvSpPr txBox="1"/>
          <p:nvPr/>
        </p:nvSpPr>
        <p:spPr>
          <a:xfrm>
            <a:off x="7280529" y="3086137"/>
            <a:ext cx="1222218"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vio:Location</a:t>
            </a:r>
            <a:endParaRPr lang="en-US" sz="900" dirty="0"/>
          </a:p>
        </p:txBody>
      </p:sp>
      <p:sp>
        <p:nvSpPr>
          <p:cNvPr id="15" name="Text 12"/>
          <p:cNvSpPr txBox="1"/>
          <p:nvPr/>
        </p:nvSpPr>
        <p:spPr>
          <a:xfrm>
            <a:off x="7280529" y="3769742"/>
            <a:ext cx="1222218" cy="329184"/>
          </a:xfrm>
          <a:prstGeom prst="ellipse">
            <a:avLst/>
          </a:prstGeom>
          <a:solidFill>
            <a:srgbClr val="FFFFFF"/>
          </a:solidFill>
          <a:ln w="12700">
            <a:solidFill>
              <a:srgbClr val="333333"/>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vio:Province</a:t>
            </a:r>
            <a:endParaRPr lang="en-US" sz="900" dirty="0"/>
          </a:p>
        </p:txBody>
      </p:sp>
      <p:sp>
        <p:nvSpPr>
          <p:cNvPr id="16" name="Text 13"/>
          <p:cNvSpPr txBox="1"/>
          <p:nvPr/>
        </p:nvSpPr>
        <p:spPr>
          <a:xfrm>
            <a:off x="2907772" y="1718926"/>
            <a:ext cx="1666808" cy="329184"/>
          </a:xfrm>
          <a:prstGeom prst="ellipse">
            <a:avLst/>
          </a:prstGeom>
          <a:solidFill>
            <a:srgbClr val="FFFFFF"/>
          </a:solidFill>
          <a:ln w="12700">
            <a:solidFill>
              <a:schemeClr val="accent4"/>
            </a:solidFill>
            <a:prstDash val="solid"/>
          </a:ln>
        </p:spPr>
        <p:txBody>
          <a:bodyPr wrap="square" lIns="0" tIns="0" rIns="0" bIns="0" rtlCol="0" anchor="ctr"/>
          <a:lstStyle/>
          <a:p>
            <a:pPr algn="ctr" indent="0" marL="0">
              <a:buNone/>
            </a:pPr>
            <a:r>
              <a:rPr lang="en-US" sz="900" dirty="0">
                <a:solidFill>
                  <a:schemeClr val="accent4"/>
                </a:solidFill>
                <a:latin typeface="Consolas" pitchFamily="34" charset="0"/>
                <a:ea typeface="Consolas" pitchFamily="34" charset="-122"/>
                <a:cs typeface="Consolas" pitchFamily="34" charset="-120"/>
              </a:rPr>
              <a:t>vio:careerStation</a:t>
            </a:r>
            <a:endParaRPr lang="en-US" sz="900" dirty="0"/>
          </a:p>
        </p:txBody>
      </p:sp>
      <p:sp>
        <p:nvSpPr>
          <p:cNvPr id="17" name="Text 14"/>
          <p:cNvSpPr txBox="1"/>
          <p:nvPr/>
        </p:nvSpPr>
        <p:spPr>
          <a:xfrm>
            <a:off x="5189624" y="1718926"/>
            <a:ext cx="1400054" cy="329184"/>
          </a:xfrm>
          <a:prstGeom prst="ellipse">
            <a:avLst/>
          </a:prstGeom>
          <a:solidFill>
            <a:srgbClr val="FFFFFF"/>
          </a:solidFill>
          <a:ln w="12700">
            <a:solidFill>
              <a:schemeClr val="accent4"/>
            </a:solidFill>
            <a:prstDash val="solid"/>
          </a:ln>
        </p:spPr>
        <p:txBody>
          <a:bodyPr wrap="square" lIns="0" tIns="0" rIns="0" bIns="0" rtlCol="0" anchor="ctr"/>
          <a:lstStyle/>
          <a:p>
            <a:pPr algn="ctr" indent="0" marL="0">
              <a:buNone/>
            </a:pPr>
            <a:r>
              <a:rPr lang="en-US" sz="900" dirty="0">
                <a:solidFill>
                  <a:schemeClr val="accent4"/>
                </a:solidFill>
                <a:latin typeface="Consolas" pitchFamily="34" charset="0"/>
                <a:ea typeface="Consolas" pitchFamily="34" charset="-122"/>
                <a:cs typeface="Consolas" pitchFamily="34" charset="-120"/>
              </a:rPr>
              <a:t>vio:birthPlace</a:t>
            </a:r>
            <a:endParaRPr lang="en-US" sz="900" dirty="0"/>
          </a:p>
        </p:txBody>
      </p:sp>
      <p:sp>
        <p:nvSpPr>
          <p:cNvPr id="18" name="Text 15"/>
          <p:cNvSpPr txBox="1"/>
          <p:nvPr/>
        </p:nvSpPr>
        <p:spPr>
          <a:xfrm>
            <a:off x="7338098" y="1718926"/>
            <a:ext cx="1400054" cy="329184"/>
          </a:xfrm>
          <a:prstGeom prst="ellipse">
            <a:avLst/>
          </a:prstGeom>
          <a:solidFill>
            <a:srgbClr val="FFFFFF"/>
          </a:solidFill>
          <a:ln w="12700">
            <a:solidFill>
              <a:schemeClr val="accent4"/>
            </a:solidFill>
            <a:prstDash val="dash"/>
          </a:ln>
        </p:spPr>
        <p:txBody>
          <a:bodyPr wrap="square" lIns="0" tIns="0" rIns="0" bIns="0" rtlCol="0" anchor="ctr"/>
          <a:lstStyle/>
          <a:p>
            <a:pPr algn="ctr" indent="0" marL="0">
              <a:buNone/>
            </a:pPr>
            <a:r>
              <a:rPr lang="en-US" sz="900" dirty="0">
                <a:solidFill>
                  <a:schemeClr val="accent4"/>
                </a:solidFill>
                <a:latin typeface="Consolas" pitchFamily="34" charset="0"/>
                <a:ea typeface="Consolas" pitchFamily="34" charset="-122"/>
                <a:cs typeface="Consolas" pitchFamily="34" charset="-120"/>
              </a:rPr>
              <a:t>dbo:birthPlace</a:t>
            </a:r>
            <a:endParaRPr lang="en-US" sz="900" dirty="0"/>
          </a:p>
        </p:txBody>
      </p:sp>
      <p:sp>
        <p:nvSpPr>
          <p:cNvPr id="19" name="Text 16"/>
          <p:cNvSpPr txBox="1"/>
          <p:nvPr/>
        </p:nvSpPr>
        <p:spPr>
          <a:xfrm>
            <a:off x="5056247" y="2402531"/>
            <a:ext cx="1666808" cy="329184"/>
          </a:xfrm>
          <a:prstGeom prst="ellipse">
            <a:avLst/>
          </a:prstGeom>
          <a:solidFill>
            <a:srgbClr val="FFFFFF"/>
          </a:solidFill>
          <a:ln w="12700">
            <a:solidFill>
              <a:schemeClr val="accent4"/>
            </a:solidFill>
            <a:prstDash val="solid"/>
          </a:ln>
        </p:spPr>
        <p:txBody>
          <a:bodyPr wrap="square" lIns="0" tIns="0" rIns="0" bIns="0" rtlCol="0" anchor="ctr"/>
          <a:lstStyle/>
          <a:p>
            <a:pPr algn="ctr" indent="0" marL="0">
              <a:buNone/>
            </a:pPr>
            <a:r>
              <a:rPr lang="en-US" sz="900" dirty="0">
                <a:solidFill>
                  <a:schemeClr val="accent4"/>
                </a:solidFill>
                <a:latin typeface="Consolas" pitchFamily="34" charset="0"/>
                <a:ea typeface="Consolas" pitchFamily="34" charset="-122"/>
                <a:cs typeface="Consolas" pitchFamily="34" charset="-120"/>
              </a:rPr>
              <a:t>vio:birthProvince</a:t>
            </a:r>
            <a:endParaRPr lang="en-US" sz="900" dirty="0"/>
          </a:p>
        </p:txBody>
      </p:sp>
      <p:sp>
        <p:nvSpPr>
          <p:cNvPr id="20" name="Text 17"/>
          <p:cNvSpPr txBox="1"/>
          <p:nvPr/>
        </p:nvSpPr>
        <p:spPr>
          <a:xfrm>
            <a:off x="492544" y="4819565"/>
            <a:ext cx="2200315" cy="329184"/>
          </a:xfrm>
          <a:prstGeom prst="ellipse">
            <a:avLst/>
          </a:prstGeom>
          <a:solidFill>
            <a:schemeClr val="bg2"/>
          </a:solidFill>
          <a:ln w="12700">
            <a:solidFill>
              <a:schemeClr val="accent1"/>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vres:Nguyễn_Công_Phượng</a:t>
            </a:r>
            <a:endParaRPr lang="en-US" sz="900" dirty="0"/>
          </a:p>
        </p:txBody>
      </p:sp>
      <p:sp>
        <p:nvSpPr>
          <p:cNvPr id="21" name="Text 18"/>
          <p:cNvSpPr txBox="1"/>
          <p:nvPr/>
        </p:nvSpPr>
        <p:spPr>
          <a:xfrm>
            <a:off x="3263444" y="4819565"/>
            <a:ext cx="955464" cy="329184"/>
          </a:xfrm>
          <a:prstGeom prst="ellipse">
            <a:avLst/>
          </a:prstGeom>
          <a:solidFill>
            <a:schemeClr val="bg2"/>
          </a:solidFill>
          <a:ln w="12700">
            <a:solidFill>
              <a:schemeClr val="accent1"/>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vres:…__2</a:t>
            </a:r>
            <a:endParaRPr lang="en-US" sz="900" dirty="0"/>
          </a:p>
        </p:txBody>
      </p:sp>
      <p:sp>
        <p:nvSpPr>
          <p:cNvPr id="22" name="Text 19"/>
          <p:cNvSpPr txBox="1"/>
          <p:nvPr/>
        </p:nvSpPr>
        <p:spPr>
          <a:xfrm>
            <a:off x="4691835" y="4819565"/>
            <a:ext cx="2200315" cy="329184"/>
          </a:xfrm>
          <a:prstGeom prst="ellipse">
            <a:avLst/>
          </a:prstGeom>
          <a:solidFill>
            <a:schemeClr val="bg2"/>
          </a:solidFill>
          <a:ln w="12700">
            <a:solidFill>
              <a:schemeClr val="accent1"/>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vres:…Hoàng_Anh_Gia_Lai</a:t>
            </a:r>
            <a:endParaRPr lang="en-US" sz="900" dirty="0"/>
          </a:p>
        </p:txBody>
      </p:sp>
      <p:sp>
        <p:nvSpPr>
          <p:cNvPr id="23" name="Text 20"/>
          <p:cNvSpPr txBox="1"/>
          <p:nvPr/>
        </p:nvSpPr>
        <p:spPr>
          <a:xfrm>
            <a:off x="7280529" y="4819565"/>
            <a:ext cx="1222218" cy="329184"/>
          </a:xfrm>
          <a:prstGeom prst="ellipse">
            <a:avLst/>
          </a:prstGeom>
          <a:solidFill>
            <a:schemeClr val="bg2"/>
          </a:solidFill>
          <a:ln w="12700">
            <a:solidFill>
              <a:schemeClr val="accent1"/>
            </a:solidFill>
            <a:prstDash val="solid"/>
          </a:ln>
        </p:spPr>
        <p:txBody>
          <a:bodyPr wrap="square" lIns="0" tIns="0" rIns="0" bIns="0" rtlCol="0" anchor="ctr"/>
          <a:lstStyle/>
          <a:p>
            <a:pPr algn="ctr" indent="0" marL="0">
              <a:buNone/>
            </a:pPr>
            <a:r>
              <a:rPr lang="en-US" sz="900" dirty="0">
                <a:solidFill>
                  <a:schemeClr val="tx1"/>
                </a:solidFill>
                <a:latin typeface="Consolas" pitchFamily="34" charset="0"/>
                <a:ea typeface="Consolas" pitchFamily="34" charset="-122"/>
                <a:cs typeface="Consolas" pitchFamily="34" charset="-120"/>
              </a:rPr>
              <a:t>vres:Nghệ_An</a:t>
            </a:r>
            <a:endParaRPr lang="en-US" sz="900" dirty="0"/>
          </a:p>
        </p:txBody>
      </p:sp>
      <p:sp>
        <p:nvSpPr>
          <p:cNvPr id="24" name="Shape 21"/>
          <p:cNvSpPr/>
          <p:nvPr/>
        </p:nvSpPr>
        <p:spPr>
          <a:xfrm flipV="1">
            <a:off x="1592702" y="2048110"/>
            <a:ext cx="0" cy="354421"/>
          </a:xfrm>
          <a:prstGeom prst="line">
            <a:avLst/>
          </a:prstGeom>
          <a:noFill/>
          <a:ln w="12700">
            <a:solidFill>
              <a:srgbClr val="333333"/>
            </a:solidFill>
            <a:prstDash val="solid"/>
            <a:tailEnd type="triangle"/>
          </a:ln>
        </p:spPr>
      </p:sp>
      <p:sp>
        <p:nvSpPr>
          <p:cNvPr id="25" name="Text 22"/>
          <p:cNvSpPr txBox="1"/>
          <p:nvPr/>
        </p:nvSpPr>
        <p:spPr>
          <a:xfrm>
            <a:off x="1638422" y="2133880"/>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rdfs:subClassOf</a:t>
            </a:r>
            <a:endParaRPr lang="en-US" sz="800" dirty="0"/>
          </a:p>
        </p:txBody>
      </p:sp>
      <p:sp>
        <p:nvSpPr>
          <p:cNvPr id="26" name="Shape 23"/>
          <p:cNvSpPr/>
          <p:nvPr/>
        </p:nvSpPr>
        <p:spPr>
          <a:xfrm flipV="1">
            <a:off x="1592702" y="2731715"/>
            <a:ext cx="0" cy="354421"/>
          </a:xfrm>
          <a:prstGeom prst="line">
            <a:avLst/>
          </a:prstGeom>
          <a:noFill/>
          <a:ln w="12700">
            <a:solidFill>
              <a:srgbClr val="333333"/>
            </a:solidFill>
            <a:prstDash val="solid"/>
            <a:tailEnd type="triangle"/>
          </a:ln>
        </p:spPr>
      </p:sp>
      <p:sp>
        <p:nvSpPr>
          <p:cNvPr id="27" name="Text 24"/>
          <p:cNvSpPr txBox="1"/>
          <p:nvPr/>
        </p:nvSpPr>
        <p:spPr>
          <a:xfrm>
            <a:off x="1638422" y="2817486"/>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rdfs:subClassOf</a:t>
            </a:r>
            <a:endParaRPr lang="en-US" sz="800" dirty="0"/>
          </a:p>
        </p:txBody>
      </p:sp>
      <p:sp>
        <p:nvSpPr>
          <p:cNvPr id="28" name="Shape 25"/>
          <p:cNvSpPr/>
          <p:nvPr/>
        </p:nvSpPr>
        <p:spPr>
          <a:xfrm flipV="1">
            <a:off x="1592702" y="3415321"/>
            <a:ext cx="0" cy="354421"/>
          </a:xfrm>
          <a:prstGeom prst="line">
            <a:avLst/>
          </a:prstGeom>
          <a:noFill/>
          <a:ln w="12700">
            <a:solidFill>
              <a:srgbClr val="333333"/>
            </a:solidFill>
            <a:prstDash val="solid"/>
            <a:tailEnd type="triangle"/>
          </a:ln>
        </p:spPr>
      </p:sp>
      <p:sp>
        <p:nvSpPr>
          <p:cNvPr id="29" name="Text 26"/>
          <p:cNvSpPr txBox="1"/>
          <p:nvPr/>
        </p:nvSpPr>
        <p:spPr>
          <a:xfrm>
            <a:off x="1638422" y="3501091"/>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rdfs:subClassOf</a:t>
            </a:r>
            <a:endParaRPr lang="en-US" sz="800" dirty="0"/>
          </a:p>
        </p:txBody>
      </p:sp>
      <p:sp>
        <p:nvSpPr>
          <p:cNvPr id="30" name="Shape 27"/>
          <p:cNvSpPr/>
          <p:nvPr/>
        </p:nvSpPr>
        <p:spPr>
          <a:xfrm flipV="1">
            <a:off x="3741176" y="3415321"/>
            <a:ext cx="0" cy="354421"/>
          </a:xfrm>
          <a:prstGeom prst="line">
            <a:avLst/>
          </a:prstGeom>
          <a:noFill/>
          <a:ln w="12700">
            <a:solidFill>
              <a:srgbClr val="333333"/>
            </a:solidFill>
            <a:prstDash val="solid"/>
            <a:tailEnd type="triangle"/>
          </a:ln>
        </p:spPr>
      </p:sp>
      <p:sp>
        <p:nvSpPr>
          <p:cNvPr id="31" name="Text 28"/>
          <p:cNvSpPr txBox="1"/>
          <p:nvPr/>
        </p:nvSpPr>
        <p:spPr>
          <a:xfrm>
            <a:off x="3786896" y="3501091"/>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rdfs:subClassOf</a:t>
            </a:r>
            <a:endParaRPr lang="en-US" sz="800" dirty="0"/>
          </a:p>
        </p:txBody>
      </p:sp>
      <p:sp>
        <p:nvSpPr>
          <p:cNvPr id="32" name="Shape 29"/>
          <p:cNvSpPr/>
          <p:nvPr/>
        </p:nvSpPr>
        <p:spPr>
          <a:xfrm flipV="1">
            <a:off x="5791992" y="3415321"/>
            <a:ext cx="0" cy="354421"/>
          </a:xfrm>
          <a:prstGeom prst="line">
            <a:avLst/>
          </a:prstGeom>
          <a:noFill/>
          <a:ln w="12700">
            <a:solidFill>
              <a:srgbClr val="333333"/>
            </a:solidFill>
            <a:prstDash val="solid"/>
            <a:tailEnd type="triangle"/>
          </a:ln>
        </p:spPr>
      </p:sp>
      <p:sp>
        <p:nvSpPr>
          <p:cNvPr id="33" name="Text 30"/>
          <p:cNvSpPr txBox="1"/>
          <p:nvPr/>
        </p:nvSpPr>
        <p:spPr>
          <a:xfrm>
            <a:off x="5837712" y="3501091"/>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rdfs:subClassOf</a:t>
            </a:r>
            <a:endParaRPr lang="en-US" sz="800" dirty="0"/>
          </a:p>
        </p:txBody>
      </p:sp>
      <p:sp>
        <p:nvSpPr>
          <p:cNvPr id="34" name="Shape 31"/>
          <p:cNvSpPr/>
          <p:nvPr/>
        </p:nvSpPr>
        <p:spPr>
          <a:xfrm flipV="1">
            <a:off x="7891638" y="3415321"/>
            <a:ext cx="0" cy="354421"/>
          </a:xfrm>
          <a:prstGeom prst="line">
            <a:avLst/>
          </a:prstGeom>
          <a:noFill/>
          <a:ln w="12700">
            <a:solidFill>
              <a:srgbClr val="333333"/>
            </a:solidFill>
            <a:prstDash val="solid"/>
            <a:tailEnd type="triangle"/>
          </a:ln>
        </p:spPr>
      </p:sp>
      <p:sp>
        <p:nvSpPr>
          <p:cNvPr id="35" name="Text 32"/>
          <p:cNvSpPr txBox="1"/>
          <p:nvPr/>
        </p:nvSpPr>
        <p:spPr>
          <a:xfrm>
            <a:off x="7937358" y="3501091"/>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rdfs:subClassOf</a:t>
            </a:r>
            <a:endParaRPr lang="en-US" sz="800" dirty="0"/>
          </a:p>
        </p:txBody>
      </p:sp>
      <p:sp>
        <p:nvSpPr>
          <p:cNvPr id="36" name="Shape 33"/>
          <p:cNvSpPr/>
          <p:nvPr/>
        </p:nvSpPr>
        <p:spPr>
          <a:xfrm flipV="1">
            <a:off x="5889650" y="2048110"/>
            <a:ext cx="0" cy="354421"/>
          </a:xfrm>
          <a:prstGeom prst="line">
            <a:avLst/>
          </a:prstGeom>
          <a:noFill/>
          <a:ln w="12700">
            <a:solidFill>
              <a:srgbClr val="333333"/>
            </a:solidFill>
            <a:prstDash val="solid"/>
            <a:tailEnd type="triangle"/>
          </a:ln>
        </p:spPr>
      </p:sp>
      <p:sp>
        <p:nvSpPr>
          <p:cNvPr id="37" name="Text 34"/>
          <p:cNvSpPr txBox="1"/>
          <p:nvPr/>
        </p:nvSpPr>
        <p:spPr>
          <a:xfrm>
            <a:off x="5935370" y="2133880"/>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rdfs:subPropertyOf</a:t>
            </a:r>
            <a:endParaRPr lang="en-US" sz="800" dirty="0"/>
          </a:p>
        </p:txBody>
      </p:sp>
      <p:sp>
        <p:nvSpPr>
          <p:cNvPr id="38" name="Shape 35"/>
          <p:cNvSpPr/>
          <p:nvPr/>
        </p:nvSpPr>
        <p:spPr>
          <a:xfrm>
            <a:off x="6589677" y="1883518"/>
            <a:ext cx="748420" cy="0"/>
          </a:xfrm>
          <a:prstGeom prst="line">
            <a:avLst/>
          </a:prstGeom>
          <a:noFill/>
          <a:ln w="12700">
            <a:solidFill>
              <a:srgbClr val="333333"/>
            </a:solidFill>
            <a:prstDash val="solid"/>
            <a:tailEnd type="triangle"/>
          </a:ln>
        </p:spPr>
      </p:sp>
      <p:sp>
        <p:nvSpPr>
          <p:cNvPr id="39" name="Text 36"/>
          <p:cNvSpPr txBox="1"/>
          <p:nvPr/>
        </p:nvSpPr>
        <p:spPr>
          <a:xfrm>
            <a:off x="6854160" y="2066398"/>
            <a:ext cx="128016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rdfs:subPropertyOf</a:t>
            </a:r>
            <a:endParaRPr lang="en-US" sz="800" dirty="0"/>
          </a:p>
        </p:txBody>
      </p:sp>
      <p:sp>
        <p:nvSpPr>
          <p:cNvPr id="40" name="Shape 37"/>
          <p:cNvSpPr/>
          <p:nvPr/>
        </p:nvSpPr>
        <p:spPr>
          <a:xfrm flipV="1">
            <a:off x="1754756" y="1356378"/>
            <a:ext cx="1091932" cy="1054280"/>
          </a:xfrm>
          <a:prstGeom prst="line">
            <a:avLst/>
          </a:prstGeom>
          <a:noFill/>
          <a:ln w="12700">
            <a:solidFill>
              <a:srgbClr val="8C8C8C"/>
            </a:solidFill>
            <a:prstDash val="solid"/>
            <a:tailEnd type="triangle"/>
          </a:ln>
        </p:spPr>
      </p:sp>
      <p:sp>
        <p:nvSpPr>
          <p:cNvPr id="41" name="Text 38"/>
          <p:cNvSpPr txBox="1"/>
          <p:nvPr/>
        </p:nvSpPr>
        <p:spPr>
          <a:xfrm rot="-2639695">
            <a:off x="1682217" y="1719717"/>
            <a:ext cx="1097280" cy="182880"/>
          </a:xfrm>
          <a:prstGeom prst="rect">
            <a:avLst/>
          </a:prstGeom>
          <a:noFill/>
          <a:ln/>
        </p:spPr>
        <p:txBody>
          <a:bodyPr wrap="square" lIns="0" tIns="0" rIns="0" bIns="0" rtlCol="0" anchor="ctr"/>
          <a:lstStyle/>
          <a:p>
            <a:pPr algn="ctr" indent="0" marL="0">
              <a:buNone/>
            </a:pPr>
            <a:r>
              <a:rPr lang="en-US" sz="800" i="1" dirty="0">
                <a:solidFill>
                  <a:srgbClr val="666666"/>
                </a:solidFill>
                <a:latin typeface="Calibri" pitchFamily="34" charset="0"/>
                <a:ea typeface="Calibri" pitchFamily="34" charset="-122"/>
                <a:cs typeface="Calibri" pitchFamily="34" charset="-120"/>
              </a:rPr>
              <a:t>rdf:type</a:t>
            </a:r>
            <a:endParaRPr lang="en-US" sz="800" dirty="0"/>
          </a:p>
        </p:txBody>
      </p:sp>
      <p:sp>
        <p:nvSpPr>
          <p:cNvPr id="42" name="Shape 39"/>
          <p:cNvSpPr/>
          <p:nvPr/>
        </p:nvSpPr>
        <p:spPr>
          <a:xfrm flipV="1">
            <a:off x="4180685" y="1325540"/>
            <a:ext cx="1314137" cy="418134"/>
          </a:xfrm>
          <a:prstGeom prst="line">
            <a:avLst/>
          </a:prstGeom>
          <a:noFill/>
          <a:ln w="12700">
            <a:solidFill>
              <a:srgbClr val="8C8C8C"/>
            </a:solidFill>
            <a:prstDash val="solid"/>
            <a:tailEnd type="triangle"/>
          </a:ln>
        </p:spPr>
      </p:sp>
      <p:sp>
        <p:nvSpPr>
          <p:cNvPr id="43" name="Text 40"/>
          <p:cNvSpPr txBox="1"/>
          <p:nvPr/>
        </p:nvSpPr>
        <p:spPr>
          <a:xfrm rot="-1059007">
            <a:off x="4258616" y="1347318"/>
            <a:ext cx="1097280" cy="182880"/>
          </a:xfrm>
          <a:prstGeom prst="rect">
            <a:avLst/>
          </a:prstGeom>
          <a:noFill/>
          <a:ln/>
        </p:spPr>
        <p:txBody>
          <a:bodyPr wrap="square" lIns="0" tIns="0" rIns="0" bIns="0" rtlCol="0" anchor="ctr"/>
          <a:lstStyle/>
          <a:p>
            <a:pPr algn="ctr" indent="0" marL="0">
              <a:buNone/>
            </a:pPr>
            <a:r>
              <a:rPr lang="en-US" sz="800" i="1" dirty="0">
                <a:solidFill>
                  <a:srgbClr val="666666"/>
                </a:solidFill>
                <a:latin typeface="Calibri" pitchFamily="34" charset="0"/>
                <a:ea typeface="Calibri" pitchFamily="34" charset="-122"/>
                <a:cs typeface="Calibri" pitchFamily="34" charset="-120"/>
              </a:rPr>
              <a:t>rdf:type</a:t>
            </a:r>
            <a:endParaRPr lang="en-US" sz="800" dirty="0"/>
          </a:p>
        </p:txBody>
      </p:sp>
      <p:sp>
        <p:nvSpPr>
          <p:cNvPr id="44" name="Shape 41"/>
          <p:cNvSpPr/>
          <p:nvPr/>
        </p:nvSpPr>
        <p:spPr>
          <a:xfrm flipV="1">
            <a:off x="5889650" y="1364504"/>
            <a:ext cx="0" cy="354421"/>
          </a:xfrm>
          <a:prstGeom prst="line">
            <a:avLst/>
          </a:prstGeom>
          <a:noFill/>
          <a:ln w="12700">
            <a:solidFill>
              <a:srgbClr val="8C8C8C"/>
            </a:solidFill>
            <a:prstDash val="solid"/>
            <a:tailEnd type="triangle"/>
          </a:ln>
        </p:spPr>
      </p:sp>
      <p:sp>
        <p:nvSpPr>
          <p:cNvPr id="45" name="Text 42"/>
          <p:cNvSpPr txBox="1"/>
          <p:nvPr/>
        </p:nvSpPr>
        <p:spPr>
          <a:xfrm>
            <a:off x="5935370" y="1450275"/>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rdf:type</a:t>
            </a:r>
            <a:endParaRPr lang="en-US" sz="800" dirty="0"/>
          </a:p>
        </p:txBody>
      </p:sp>
      <p:sp>
        <p:nvSpPr>
          <p:cNvPr id="46" name="Shape 43"/>
          <p:cNvSpPr/>
          <p:nvPr/>
        </p:nvSpPr>
        <p:spPr>
          <a:xfrm flipH="1" flipV="1">
            <a:off x="6284479" y="1325540"/>
            <a:ext cx="1337619" cy="425606"/>
          </a:xfrm>
          <a:prstGeom prst="line">
            <a:avLst/>
          </a:prstGeom>
          <a:noFill/>
          <a:ln w="12700">
            <a:solidFill>
              <a:srgbClr val="8C8C8C"/>
            </a:solidFill>
            <a:prstDash val="solid"/>
            <a:tailEnd type="triangle"/>
          </a:ln>
        </p:spPr>
      </p:sp>
      <p:sp>
        <p:nvSpPr>
          <p:cNvPr id="47" name="Text 44"/>
          <p:cNvSpPr txBox="1"/>
          <p:nvPr/>
        </p:nvSpPr>
        <p:spPr>
          <a:xfrm rot="1059007">
            <a:off x="6435146" y="1351054"/>
            <a:ext cx="1097280" cy="182880"/>
          </a:xfrm>
          <a:prstGeom prst="rect">
            <a:avLst/>
          </a:prstGeom>
          <a:noFill/>
          <a:ln/>
        </p:spPr>
        <p:txBody>
          <a:bodyPr wrap="square" lIns="0" tIns="0" rIns="0" bIns="0" rtlCol="0" anchor="ctr"/>
          <a:lstStyle/>
          <a:p>
            <a:pPr algn="ctr" indent="0" marL="0">
              <a:buNone/>
            </a:pPr>
            <a:r>
              <a:rPr lang="en-US" sz="800" i="1" dirty="0">
                <a:solidFill>
                  <a:srgbClr val="666666"/>
                </a:solidFill>
                <a:latin typeface="Calibri" pitchFamily="34" charset="0"/>
                <a:ea typeface="Calibri" pitchFamily="34" charset="-122"/>
                <a:cs typeface="Calibri" pitchFamily="34" charset="-120"/>
              </a:rPr>
              <a:t>rdf:type</a:t>
            </a:r>
            <a:endParaRPr lang="en-US" sz="800" dirty="0"/>
          </a:p>
        </p:txBody>
      </p:sp>
      <p:sp>
        <p:nvSpPr>
          <p:cNvPr id="48" name="Shape 45"/>
          <p:cNvSpPr/>
          <p:nvPr/>
        </p:nvSpPr>
        <p:spPr>
          <a:xfrm flipH="1">
            <a:off x="1761899" y="2044696"/>
            <a:ext cx="1810424" cy="1728132"/>
          </a:xfrm>
          <a:prstGeom prst="line">
            <a:avLst/>
          </a:prstGeom>
          <a:noFill/>
          <a:ln w="12700">
            <a:solidFill>
              <a:schemeClr val="accent4"/>
            </a:solidFill>
            <a:prstDash val="solid"/>
            <a:tailEnd type="triangle"/>
          </a:ln>
        </p:spPr>
      </p:sp>
      <p:sp>
        <p:nvSpPr>
          <p:cNvPr id="49" name="Text 46"/>
          <p:cNvSpPr txBox="1"/>
          <p:nvPr/>
        </p:nvSpPr>
        <p:spPr>
          <a:xfrm rot="-2620067">
            <a:off x="2049020" y="2744564"/>
            <a:ext cx="1097280" cy="182880"/>
          </a:xfrm>
          <a:prstGeom prst="rect">
            <a:avLst/>
          </a:prstGeom>
          <a:noFill/>
          <a:ln/>
        </p:spPr>
        <p:txBody>
          <a:bodyPr wrap="square" lIns="0" tIns="0" rIns="0" bIns="0" rtlCol="0" anchor="ctr"/>
          <a:lstStyle/>
          <a:p>
            <a:pPr algn="ctr" indent="0" marL="0">
              <a:buNone/>
            </a:pPr>
            <a:r>
              <a:rPr lang="en-US" sz="800" i="1" dirty="0">
                <a:solidFill>
                  <a:schemeClr val="accent4"/>
                </a:solidFill>
                <a:latin typeface="Calibri" pitchFamily="34" charset="0"/>
                <a:ea typeface="Calibri" pitchFamily="34" charset="-122"/>
                <a:cs typeface="Calibri" pitchFamily="34" charset="-120"/>
              </a:rPr>
              <a:t>rdfs:domain</a:t>
            </a:r>
            <a:endParaRPr lang="en-US" sz="800" dirty="0"/>
          </a:p>
        </p:txBody>
      </p:sp>
      <p:sp>
        <p:nvSpPr>
          <p:cNvPr id="50" name="Shape 47"/>
          <p:cNvSpPr/>
          <p:nvPr/>
        </p:nvSpPr>
        <p:spPr>
          <a:xfrm>
            <a:off x="3741176" y="2048110"/>
            <a:ext cx="0" cy="1038027"/>
          </a:xfrm>
          <a:prstGeom prst="line">
            <a:avLst/>
          </a:prstGeom>
          <a:noFill/>
          <a:ln w="12700">
            <a:solidFill>
              <a:schemeClr val="accent4"/>
            </a:solidFill>
            <a:prstDash val="solid"/>
            <a:tailEnd type="triangle"/>
          </a:ln>
        </p:spPr>
      </p:sp>
      <p:sp>
        <p:nvSpPr>
          <p:cNvPr id="51" name="Text 48"/>
          <p:cNvSpPr txBox="1"/>
          <p:nvPr/>
        </p:nvSpPr>
        <p:spPr>
          <a:xfrm>
            <a:off x="3786896" y="2475683"/>
            <a:ext cx="1097280" cy="182880"/>
          </a:xfrm>
          <a:prstGeom prst="rect">
            <a:avLst/>
          </a:prstGeom>
          <a:noFill/>
          <a:ln/>
        </p:spPr>
        <p:txBody>
          <a:bodyPr wrap="square" lIns="0" tIns="0" rIns="0" bIns="0" rtlCol="0" anchor="ctr"/>
          <a:lstStyle/>
          <a:p>
            <a:pPr algn="l" indent="0" marL="0">
              <a:buNone/>
            </a:pPr>
            <a:r>
              <a:rPr lang="en-US" sz="800" i="1" dirty="0">
                <a:solidFill>
                  <a:schemeClr val="accent4"/>
                </a:solidFill>
                <a:latin typeface="Calibri" pitchFamily="34" charset="0"/>
                <a:ea typeface="Calibri" pitchFamily="34" charset="-122"/>
                <a:cs typeface="Calibri" pitchFamily="34" charset="-120"/>
              </a:rPr>
              <a:t>rdfs:range</a:t>
            </a:r>
            <a:endParaRPr lang="en-US" sz="800" dirty="0"/>
          </a:p>
        </p:txBody>
      </p:sp>
      <p:sp>
        <p:nvSpPr>
          <p:cNvPr id="52" name="Shape 49"/>
          <p:cNvSpPr/>
          <p:nvPr/>
        </p:nvSpPr>
        <p:spPr>
          <a:xfrm>
            <a:off x="6121173" y="2725236"/>
            <a:ext cx="1546261" cy="1055983"/>
          </a:xfrm>
          <a:prstGeom prst="line">
            <a:avLst/>
          </a:prstGeom>
          <a:noFill/>
          <a:ln w="12700">
            <a:solidFill>
              <a:schemeClr val="accent4"/>
            </a:solidFill>
            <a:prstDash val="solid"/>
            <a:tailEnd type="triangle"/>
          </a:ln>
        </p:spPr>
      </p:sp>
      <p:sp>
        <p:nvSpPr>
          <p:cNvPr id="53" name="Text 50"/>
          <p:cNvSpPr txBox="1"/>
          <p:nvPr/>
        </p:nvSpPr>
        <p:spPr>
          <a:xfrm rot="2059813">
            <a:off x="6402389" y="3078725"/>
            <a:ext cx="1097280" cy="182880"/>
          </a:xfrm>
          <a:prstGeom prst="rect">
            <a:avLst/>
          </a:prstGeom>
          <a:noFill/>
          <a:ln/>
        </p:spPr>
        <p:txBody>
          <a:bodyPr wrap="square" lIns="0" tIns="0" rIns="0" bIns="0" rtlCol="0" anchor="ctr"/>
          <a:lstStyle/>
          <a:p>
            <a:pPr algn="ctr" indent="0" marL="0">
              <a:buNone/>
            </a:pPr>
            <a:r>
              <a:rPr lang="en-US" sz="800" i="1" dirty="0">
                <a:solidFill>
                  <a:schemeClr val="accent4"/>
                </a:solidFill>
                <a:latin typeface="Calibri" pitchFamily="34" charset="0"/>
                <a:ea typeface="Calibri" pitchFamily="34" charset="-122"/>
                <a:cs typeface="Calibri" pitchFamily="34" charset="-120"/>
              </a:rPr>
              <a:t>rdfs:range</a:t>
            </a:r>
            <a:endParaRPr lang="en-US" sz="800" dirty="0"/>
          </a:p>
        </p:txBody>
      </p:sp>
      <p:sp>
        <p:nvSpPr>
          <p:cNvPr id="54" name="Shape 51"/>
          <p:cNvSpPr/>
          <p:nvPr/>
        </p:nvSpPr>
        <p:spPr>
          <a:xfrm>
            <a:off x="2692860" y="4984157"/>
            <a:ext cx="570585" cy="0"/>
          </a:xfrm>
          <a:prstGeom prst="line">
            <a:avLst/>
          </a:prstGeom>
          <a:noFill/>
          <a:ln w="12700">
            <a:solidFill>
              <a:srgbClr val="333333"/>
            </a:solidFill>
            <a:prstDash val="solid"/>
            <a:tailEnd type="triangle"/>
          </a:ln>
        </p:spPr>
      </p:sp>
      <p:sp>
        <p:nvSpPr>
          <p:cNvPr id="55" name="Text 52"/>
          <p:cNvSpPr txBox="1"/>
          <p:nvPr/>
        </p:nvSpPr>
        <p:spPr>
          <a:xfrm>
            <a:off x="2338072" y="4618397"/>
            <a:ext cx="1280160" cy="182880"/>
          </a:xfrm>
          <a:prstGeom prst="rect">
            <a:avLst/>
          </a:prstGeom>
          <a:noFill/>
          <a:ln/>
        </p:spPr>
        <p:txBody>
          <a:bodyPr wrap="square" lIns="0" tIns="0" rIns="0" bIns="0" rtlCol="0" anchor="ctr"/>
          <a:lstStyle/>
          <a:p>
            <a:pPr algn="ctr" indent="0" marL="0">
              <a:buNone/>
            </a:pPr>
            <a:r>
              <a:rPr lang="en-US" sz="800" i="1" dirty="0">
                <a:solidFill>
                  <a:srgbClr val="666666"/>
                </a:solidFill>
                <a:latin typeface="Calibri" pitchFamily="34" charset="0"/>
                <a:ea typeface="Calibri" pitchFamily="34" charset="-122"/>
                <a:cs typeface="Calibri" pitchFamily="34" charset="-120"/>
              </a:rPr>
              <a:t>vio:careerStation</a:t>
            </a:r>
            <a:endParaRPr lang="en-US" sz="800" dirty="0"/>
          </a:p>
        </p:txBody>
      </p:sp>
      <p:sp>
        <p:nvSpPr>
          <p:cNvPr id="56" name="Shape 53"/>
          <p:cNvSpPr/>
          <p:nvPr/>
        </p:nvSpPr>
        <p:spPr>
          <a:xfrm>
            <a:off x="4218908" y="4984157"/>
            <a:ext cx="472927" cy="0"/>
          </a:xfrm>
          <a:prstGeom prst="line">
            <a:avLst/>
          </a:prstGeom>
          <a:noFill/>
          <a:ln w="12700">
            <a:solidFill>
              <a:srgbClr val="333333"/>
            </a:solidFill>
            <a:prstDash val="solid"/>
            <a:tailEnd type="triangle"/>
          </a:ln>
        </p:spPr>
      </p:sp>
      <p:sp>
        <p:nvSpPr>
          <p:cNvPr id="57" name="Text 54"/>
          <p:cNvSpPr txBox="1"/>
          <p:nvPr/>
        </p:nvSpPr>
        <p:spPr>
          <a:xfrm>
            <a:off x="3815291" y="4618397"/>
            <a:ext cx="1280160" cy="182880"/>
          </a:xfrm>
          <a:prstGeom prst="rect">
            <a:avLst/>
          </a:prstGeom>
          <a:noFill/>
          <a:ln/>
        </p:spPr>
        <p:txBody>
          <a:bodyPr wrap="square" lIns="0" tIns="0" rIns="0" bIns="0" rtlCol="0" anchor="ctr"/>
          <a:lstStyle/>
          <a:p>
            <a:pPr algn="ctr" indent="0" marL="0">
              <a:buNone/>
            </a:pPr>
            <a:r>
              <a:rPr lang="en-US" sz="800" i="1" dirty="0">
                <a:solidFill>
                  <a:srgbClr val="666666"/>
                </a:solidFill>
                <a:latin typeface="Calibri" pitchFamily="34" charset="0"/>
                <a:ea typeface="Calibri" pitchFamily="34" charset="-122"/>
                <a:cs typeface="Calibri" pitchFamily="34" charset="-120"/>
              </a:rPr>
              <a:t>vio:team</a:t>
            </a:r>
            <a:endParaRPr lang="en-US" sz="800" dirty="0"/>
          </a:p>
        </p:txBody>
      </p:sp>
      <p:sp>
        <p:nvSpPr>
          <p:cNvPr id="58" name="Shape 55"/>
          <p:cNvSpPr/>
          <p:nvPr/>
        </p:nvSpPr>
        <p:spPr>
          <a:xfrm flipV="1">
            <a:off x="1592702" y="4098926"/>
            <a:ext cx="0" cy="720639"/>
          </a:xfrm>
          <a:prstGeom prst="line">
            <a:avLst/>
          </a:prstGeom>
          <a:noFill/>
          <a:ln w="12700">
            <a:solidFill>
              <a:srgbClr val="8C8C8C"/>
            </a:solidFill>
            <a:prstDash val="solid"/>
            <a:tailEnd type="triangle"/>
          </a:ln>
        </p:spPr>
      </p:sp>
      <p:sp>
        <p:nvSpPr>
          <p:cNvPr id="59" name="Text 56"/>
          <p:cNvSpPr txBox="1"/>
          <p:nvPr/>
        </p:nvSpPr>
        <p:spPr>
          <a:xfrm>
            <a:off x="1638422" y="4367805"/>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rdf:type</a:t>
            </a:r>
            <a:endParaRPr lang="en-US" sz="800" dirty="0"/>
          </a:p>
        </p:txBody>
      </p:sp>
      <p:sp>
        <p:nvSpPr>
          <p:cNvPr id="60" name="Shape 57"/>
          <p:cNvSpPr/>
          <p:nvPr/>
        </p:nvSpPr>
        <p:spPr>
          <a:xfrm flipV="1">
            <a:off x="3741176" y="4098926"/>
            <a:ext cx="0" cy="720639"/>
          </a:xfrm>
          <a:prstGeom prst="line">
            <a:avLst/>
          </a:prstGeom>
          <a:noFill/>
          <a:ln w="12700">
            <a:solidFill>
              <a:srgbClr val="8C8C8C"/>
            </a:solidFill>
            <a:prstDash val="solid"/>
            <a:tailEnd type="triangle"/>
          </a:ln>
        </p:spPr>
      </p:sp>
      <p:sp>
        <p:nvSpPr>
          <p:cNvPr id="61" name="Text 58"/>
          <p:cNvSpPr txBox="1"/>
          <p:nvPr/>
        </p:nvSpPr>
        <p:spPr>
          <a:xfrm>
            <a:off x="3786896" y="4367805"/>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rdf:type</a:t>
            </a:r>
            <a:endParaRPr lang="en-US" sz="800" dirty="0"/>
          </a:p>
        </p:txBody>
      </p:sp>
      <p:sp>
        <p:nvSpPr>
          <p:cNvPr id="62" name="Shape 59"/>
          <p:cNvSpPr/>
          <p:nvPr/>
        </p:nvSpPr>
        <p:spPr>
          <a:xfrm flipV="1">
            <a:off x="5791992" y="4098926"/>
            <a:ext cx="0" cy="720639"/>
          </a:xfrm>
          <a:prstGeom prst="line">
            <a:avLst/>
          </a:prstGeom>
          <a:noFill/>
          <a:ln w="12700">
            <a:solidFill>
              <a:srgbClr val="8C8C8C"/>
            </a:solidFill>
            <a:prstDash val="solid"/>
            <a:tailEnd type="triangle"/>
          </a:ln>
        </p:spPr>
      </p:sp>
      <p:sp>
        <p:nvSpPr>
          <p:cNvPr id="63" name="Text 60"/>
          <p:cNvSpPr txBox="1"/>
          <p:nvPr/>
        </p:nvSpPr>
        <p:spPr>
          <a:xfrm>
            <a:off x="5837712" y="4367805"/>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rdf:type</a:t>
            </a:r>
            <a:endParaRPr lang="en-US" sz="800" dirty="0"/>
          </a:p>
        </p:txBody>
      </p:sp>
      <p:sp>
        <p:nvSpPr>
          <p:cNvPr id="64" name="Shape 61"/>
          <p:cNvSpPr/>
          <p:nvPr/>
        </p:nvSpPr>
        <p:spPr>
          <a:xfrm flipV="1">
            <a:off x="7891638" y="4098926"/>
            <a:ext cx="0" cy="720639"/>
          </a:xfrm>
          <a:prstGeom prst="line">
            <a:avLst/>
          </a:prstGeom>
          <a:noFill/>
          <a:ln w="12700">
            <a:solidFill>
              <a:srgbClr val="8C8C8C"/>
            </a:solidFill>
            <a:prstDash val="solid"/>
            <a:tailEnd type="triangle"/>
          </a:ln>
        </p:spPr>
      </p:sp>
      <p:sp>
        <p:nvSpPr>
          <p:cNvPr id="65" name="Text 62"/>
          <p:cNvSpPr txBox="1"/>
          <p:nvPr/>
        </p:nvSpPr>
        <p:spPr>
          <a:xfrm>
            <a:off x="7937358" y="4367805"/>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rdf:type</a:t>
            </a:r>
            <a:endParaRPr lang="en-US" sz="800" dirty="0"/>
          </a:p>
        </p:txBody>
      </p:sp>
      <p:sp>
        <p:nvSpPr>
          <p:cNvPr id="66" name="Shape 63"/>
          <p:cNvSpPr/>
          <p:nvPr/>
        </p:nvSpPr>
        <p:spPr>
          <a:xfrm>
            <a:off x="274320" y="4471453"/>
            <a:ext cx="8593897" cy="0"/>
          </a:xfrm>
          <a:prstGeom prst="line">
            <a:avLst/>
          </a:prstGeom>
          <a:noFill/>
          <a:ln w="19050">
            <a:solidFill>
              <a:srgbClr val="A6A6A6"/>
            </a:solidFill>
            <a:prstDash val="solid"/>
          </a:ln>
        </p:spPr>
      </p:sp>
      <p:sp>
        <p:nvSpPr>
          <p:cNvPr id="67" name="Text 64"/>
          <p:cNvSpPr txBox="1"/>
          <p:nvPr/>
        </p:nvSpPr>
        <p:spPr>
          <a:xfrm>
            <a:off x="274320" y="4270285"/>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schema (RDFS)</a:t>
            </a:r>
            <a:endParaRPr lang="en-US" sz="800" dirty="0"/>
          </a:p>
        </p:txBody>
      </p:sp>
      <p:sp>
        <p:nvSpPr>
          <p:cNvPr id="68" name="Text 65"/>
          <p:cNvSpPr txBox="1"/>
          <p:nvPr/>
        </p:nvSpPr>
        <p:spPr>
          <a:xfrm>
            <a:off x="274320" y="4489741"/>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data (RDF)</a:t>
            </a:r>
            <a:endParaRPr lang="en-US" sz="800" dirty="0"/>
          </a:p>
        </p:txBody>
      </p:sp>
      <p:sp>
        <p:nvSpPr>
          <p:cNvPr id="69" name="Shape 66"/>
          <p:cNvSpPr/>
          <p:nvPr/>
        </p:nvSpPr>
        <p:spPr>
          <a:xfrm>
            <a:off x="1592702" y="5148749"/>
            <a:ext cx="0" cy="246888"/>
          </a:xfrm>
          <a:prstGeom prst="line">
            <a:avLst/>
          </a:prstGeom>
          <a:noFill/>
          <a:ln w="12700">
            <a:solidFill>
              <a:srgbClr val="333333"/>
            </a:solidFill>
            <a:prstDash val="solid"/>
          </a:ln>
        </p:spPr>
      </p:sp>
      <p:sp>
        <p:nvSpPr>
          <p:cNvPr id="70" name="Shape 67"/>
          <p:cNvSpPr/>
          <p:nvPr/>
        </p:nvSpPr>
        <p:spPr>
          <a:xfrm>
            <a:off x="1592702" y="5395637"/>
            <a:ext cx="6298936" cy="0"/>
          </a:xfrm>
          <a:prstGeom prst="line">
            <a:avLst/>
          </a:prstGeom>
          <a:noFill/>
          <a:ln w="12700">
            <a:solidFill>
              <a:srgbClr val="333333"/>
            </a:solidFill>
            <a:prstDash val="solid"/>
          </a:ln>
        </p:spPr>
      </p:sp>
      <p:sp>
        <p:nvSpPr>
          <p:cNvPr id="71" name="Shape 68"/>
          <p:cNvSpPr/>
          <p:nvPr/>
        </p:nvSpPr>
        <p:spPr>
          <a:xfrm flipV="1">
            <a:off x="7891638" y="5148749"/>
            <a:ext cx="0" cy="246888"/>
          </a:xfrm>
          <a:prstGeom prst="line">
            <a:avLst/>
          </a:prstGeom>
          <a:noFill/>
          <a:ln w="12700">
            <a:solidFill>
              <a:srgbClr val="333333"/>
            </a:solidFill>
            <a:prstDash val="solid"/>
            <a:tailEnd type="triangle"/>
          </a:ln>
        </p:spPr>
      </p:sp>
      <p:sp>
        <p:nvSpPr>
          <p:cNvPr id="72" name="Text 69"/>
          <p:cNvSpPr txBox="1"/>
          <p:nvPr/>
        </p:nvSpPr>
        <p:spPr>
          <a:xfrm>
            <a:off x="4102090" y="5377349"/>
            <a:ext cx="1280160" cy="182880"/>
          </a:xfrm>
          <a:prstGeom prst="rect">
            <a:avLst/>
          </a:prstGeom>
          <a:solidFill>
            <a:srgbClr val="FFFFFF"/>
          </a:solidFill>
          <a:ln/>
        </p:spPr>
        <p:txBody>
          <a:bodyPr wrap="square" lIns="0" tIns="0" rIns="0" bIns="0" rtlCol="0" anchor="ctr"/>
          <a:lstStyle/>
          <a:p>
            <a:pPr algn="ctr" indent="0" marL="0">
              <a:buNone/>
            </a:pPr>
            <a:r>
              <a:rPr lang="en-US" sz="800" i="1" dirty="0">
                <a:solidFill>
                  <a:srgbClr val="666666"/>
                </a:solidFill>
                <a:latin typeface="Calibri" pitchFamily="34" charset="0"/>
                <a:ea typeface="Calibri" pitchFamily="34" charset="-122"/>
                <a:cs typeface="Calibri" pitchFamily="34" charset="-120"/>
              </a:rPr>
              <a:t>vio:birthProvince</a:t>
            </a:r>
            <a:endParaRPr lang="en-US" sz="800" dirty="0"/>
          </a:p>
        </p:txBody>
      </p:sp>
      <p:sp>
        <p:nvSpPr>
          <p:cNvPr id="73" name="Shape 70"/>
          <p:cNvSpPr/>
          <p:nvPr/>
        </p:nvSpPr>
        <p:spPr>
          <a:xfrm flipH="1">
            <a:off x="347472" y="4984157"/>
            <a:ext cx="145072" cy="0"/>
          </a:xfrm>
          <a:prstGeom prst="line">
            <a:avLst/>
          </a:prstGeom>
          <a:noFill/>
          <a:ln w="22225">
            <a:solidFill>
              <a:schemeClr val="accent1"/>
            </a:solidFill>
            <a:prstDash val="dash"/>
          </a:ln>
        </p:spPr>
      </p:sp>
      <p:sp>
        <p:nvSpPr>
          <p:cNvPr id="74" name="Shape 71"/>
          <p:cNvSpPr/>
          <p:nvPr/>
        </p:nvSpPr>
        <p:spPr>
          <a:xfrm flipV="1">
            <a:off x="347472" y="1883518"/>
            <a:ext cx="0" cy="3100639"/>
          </a:xfrm>
          <a:prstGeom prst="line">
            <a:avLst/>
          </a:prstGeom>
          <a:noFill/>
          <a:ln w="22225">
            <a:solidFill>
              <a:schemeClr val="accent1"/>
            </a:solidFill>
            <a:prstDash val="dash"/>
          </a:ln>
        </p:spPr>
      </p:sp>
      <p:sp>
        <p:nvSpPr>
          <p:cNvPr id="75" name="Shape 72"/>
          <p:cNvSpPr/>
          <p:nvPr/>
        </p:nvSpPr>
        <p:spPr>
          <a:xfrm>
            <a:off x="347472" y="1883518"/>
            <a:ext cx="723039" cy="0"/>
          </a:xfrm>
          <a:prstGeom prst="line">
            <a:avLst/>
          </a:prstGeom>
          <a:noFill/>
          <a:ln w="22225">
            <a:solidFill>
              <a:schemeClr val="accent1"/>
            </a:solidFill>
            <a:prstDash val="dash"/>
            <a:tailEnd type="triangle"/>
          </a:ln>
        </p:spPr>
      </p:sp>
      <p:sp>
        <p:nvSpPr>
          <p:cNvPr id="76" name="Text 73"/>
          <p:cNvSpPr txBox="1"/>
          <p:nvPr/>
        </p:nvSpPr>
        <p:spPr>
          <a:xfrm rot="-5400000">
            <a:off x="-91440" y="3068077"/>
            <a:ext cx="1097280" cy="182880"/>
          </a:xfrm>
          <a:prstGeom prst="rect">
            <a:avLst/>
          </a:prstGeom>
          <a:noFill/>
          <a:ln/>
        </p:spPr>
        <p:txBody>
          <a:bodyPr wrap="square" lIns="0" tIns="0" rIns="0" bIns="0" rtlCol="0" anchor="ctr"/>
          <a:lstStyle/>
          <a:p>
            <a:pPr algn="ctr" indent="0" marL="0">
              <a:buNone/>
            </a:pPr>
            <a:r>
              <a:rPr lang="en-US" sz="800" i="1" dirty="0">
                <a:solidFill>
                  <a:schemeClr val="accent1"/>
                </a:solidFill>
                <a:latin typeface="Calibri" pitchFamily="34" charset="0"/>
                <a:ea typeface="Calibri" pitchFamily="34" charset="-122"/>
                <a:cs typeface="Calibri" pitchFamily="34" charset="-120"/>
              </a:rPr>
              <a:t>rdf:type (entailed)</a:t>
            </a:r>
            <a:endParaRPr lang="en-US" sz="800" dirty="0"/>
          </a:p>
        </p:txBody>
      </p:sp>
      <p:sp>
        <p:nvSpPr>
          <p:cNvPr id="77" name="Text 74"/>
          <p:cNvSpPr txBox="1"/>
          <p:nvPr/>
        </p:nvSpPr>
        <p:spPr>
          <a:xfrm>
            <a:off x="457200" y="5833872"/>
            <a:ext cx="8229600" cy="384048"/>
          </a:xfrm>
          <a:prstGeom prst="rect">
            <a:avLst/>
          </a:prstGeom>
          <a:noFill/>
          <a:ln/>
        </p:spPr>
        <p:txBody>
          <a:bodyPr wrap="square" lIns="38100" tIns="38100" rIns="38100" bIns="3810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Excerpt: 18 classes and 54 properties in total, every class </a:t>
            </a:r>
            <a:pPr algn="ctr" indent="0" marL="0">
              <a:buNone/>
            </a:pPr>
            <a:r>
              <a:rPr lang="en-US" sz="1300" dirty="0">
                <a:solidFill>
                  <a:schemeClr val="tx1"/>
                </a:solidFill>
                <a:latin typeface="Cambria Math" pitchFamily="34" charset="0"/>
                <a:ea typeface="Cambria Math" pitchFamily="34" charset="-122"/>
                <a:cs typeface="Cambria Math" pitchFamily="34" charset="-120"/>
              </a:rPr>
              <a:t>⊑</a:t>
            </a:r>
            <a:pPr algn="ctr" indent="0" marL="0">
              <a:buNone/>
            </a:pPr>
            <a:r>
              <a:rPr lang="en-US" sz="1300" dirty="0">
                <a:solidFill>
                  <a:schemeClr val="tx1"/>
                </a:solidFill>
                <a:latin typeface="Calibri" pitchFamily="34" charset="0"/>
                <a:ea typeface="Calibri" pitchFamily="34" charset="-122"/>
                <a:cs typeface="Calibri" pitchFamily="34" charset="-120"/>
              </a:rPr>
              <a:t> a </a:t>
            </a:r>
            <a:pPr algn="ctr" indent="0" marL="0">
              <a:buNone/>
            </a:pPr>
            <a:r>
              <a:rPr lang="en-US" sz="1300" dirty="0">
                <a:solidFill>
                  <a:schemeClr val="tx1"/>
                </a:solidFill>
                <a:latin typeface="Consolas" pitchFamily="34" charset="0"/>
                <a:ea typeface="Consolas" pitchFamily="34" charset="-122"/>
                <a:cs typeface="Consolas" pitchFamily="34" charset="-120"/>
              </a:rPr>
              <a:t>dbo:</a:t>
            </a:r>
            <a:pPr algn="ctr" indent="0" marL="0">
              <a:buNone/>
            </a:pPr>
            <a:r>
              <a:rPr lang="en-US" sz="1300" dirty="0">
                <a:solidFill>
                  <a:schemeClr val="tx1"/>
                </a:solidFill>
                <a:latin typeface="Calibri" pitchFamily="34" charset="0"/>
                <a:ea typeface="Calibri" pitchFamily="34" charset="-122"/>
                <a:cs typeface="Calibri" pitchFamily="34" charset="-120"/>
              </a:rPr>
              <a:t> class  ·  </a:t>
            </a:r>
            <a:pPr algn="ctr" indent="0" marL="0">
              <a:buNone/>
            </a:pPr>
            <a:r>
              <a:rPr lang="en-US" sz="1300" dirty="0">
                <a:solidFill>
                  <a:schemeClr val="accent1"/>
                </a:solidFill>
                <a:latin typeface="Calibri" pitchFamily="34" charset="0"/>
                <a:ea typeface="Calibri" pitchFamily="34" charset="-122"/>
                <a:cs typeface="Calibri" pitchFamily="34" charset="-120"/>
              </a:rPr>
              <a:t>dashed: </a:t>
            </a:r>
            <a:pPr algn="ctr" indent="0" marL="0">
              <a:buNone/>
            </a:pPr>
            <a:r>
              <a:rPr lang="en-US" sz="1300" dirty="0">
                <a:solidFill>
                  <a:schemeClr val="accent1"/>
                </a:solidFill>
                <a:latin typeface="Consolas" pitchFamily="34" charset="0"/>
                <a:ea typeface="Consolas" pitchFamily="34" charset="-122"/>
                <a:cs typeface="Consolas" pitchFamily="34" charset="-120"/>
              </a:rPr>
              <a:t>rdf:type dbo:Person</a:t>
            </a:r>
            <a:pPr algn="ctr" indent="0" marL="0">
              <a:buNone/>
            </a:pPr>
            <a:r>
              <a:rPr lang="en-US" sz="1300" dirty="0">
                <a:solidFill>
                  <a:schemeClr val="accent1"/>
                </a:solidFill>
                <a:latin typeface="Calibri" pitchFamily="34" charset="0"/>
                <a:ea typeface="Calibri" pitchFamily="34" charset="-122"/>
                <a:cs typeface="Calibri" pitchFamily="34" charset="-120"/>
              </a:rPr>
              <a:t> entailed by RDFS</a:t>
            </a:r>
            <a:endParaRPr lang="en-US" sz="13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6</a:t>
            </a:fld>
            <a:endParaRPr lang="en-US"/>
          </a:p>
        </p:txBody>
      </p:sp>
      <p:sp>
        <p:nvSpPr>
          <p:cNvPr id="78" name="Ellipse dbo:Animal"/>
          <p:cNvSpPr txBox="1"/>
          <p:nvPr/>
        </p:nvSpPr>
        <p:spPr>
          <a:xfrm>
            <a:off x="1070511" y="1035321"/>
            <a:ext cx="1044382" cy="329184"/>
          </a:xfrm>
          <a:prstGeom prst="ellipse">
            <a:avLst/>
          </a:prstGeom>
          <a:solidFill>
            <a:srgbClr val="FFFFFF"/>
          </a:solidFill>
          <a:ln w="12700">
            <a:solidFill>
              <a:srgbClr val="8C8C8C"/>
            </a:solidFill>
            <a:prstDash val="dash"/>
          </a:ln>
        </p:spPr>
        <p:txBody>
          <a:bodyPr wrap="square" lIns="0" tIns="0" rIns="0" bIns="0" rtlCol="0" anchor="ctr"/>
          <a:lstStyle/>
          <a:p>
            <a:pPr algn="ctr" indent="0" marL="0">
              <a:buNone/>
            </a:pPr>
            <a:r>
              <a:rPr lang="en-US" sz="900" dirty="0">
                <a:solidFill>
                  <a:srgbClr val="595959"/>
                </a:solidFill>
                <a:latin typeface="Consolas" pitchFamily="34" charset="0"/>
                <a:ea typeface="Consolas" pitchFamily="34" charset="-122"/>
                <a:cs typeface="Consolas" pitchFamily="34" charset="-120"/>
              </a:rPr>
              <a:t>dbo:Animal</a:t>
            </a:r>
            <a:endParaRPr lang="en-US" sz="900" dirty="0"/>
          </a:p>
        </p:txBody>
      </p:sp>
      <p:sp>
        <p:nvSpPr>
          <p:cNvPr id="79" name="Line dbo:Person subClassOf dbo:Animal"/>
          <p:cNvSpPr/>
          <p:nvPr/>
        </p:nvSpPr>
        <p:spPr>
          <a:xfrm flipV="1">
            <a:off x="1592702" y="1364505"/>
            <a:ext cx="0" cy="354421"/>
          </a:xfrm>
          <a:prstGeom prst="line">
            <a:avLst/>
          </a:prstGeom>
          <a:noFill/>
          <a:ln w="12700">
            <a:solidFill>
              <a:srgbClr val="333333"/>
            </a:solidFill>
            <a:prstDash val="solid"/>
            <a:tailEnd type="triangle"/>
          </a:ln>
        </p:spPr>
      </p:sp>
      <p:sp>
        <p:nvSpPr>
          <p:cNvPr id="80" name="Label subClassOf dbo:Animal"/>
          <p:cNvSpPr txBox="1"/>
          <p:nvPr/>
        </p:nvSpPr>
        <p:spPr>
          <a:xfrm>
            <a:off x="1638422" y="1450275"/>
            <a:ext cx="1097280" cy="182880"/>
          </a:xfrm>
          <a:prstGeom prst="rect">
            <a:avLst/>
          </a:prstGeom>
          <a:noFill/>
          <a:ln/>
        </p:spPr>
        <p:txBody>
          <a:bodyPr wrap="square" lIns="0" tIns="0" rIns="0" bIns="0" rtlCol="0" anchor="ctr"/>
          <a:lstStyle/>
          <a:p>
            <a:pPr algn="l" indent="0" marL="0">
              <a:buNone/>
            </a:pPr>
            <a:r>
              <a:rPr lang="en-US" sz="800" i="1" dirty="0">
                <a:solidFill>
                  <a:srgbClr val="666666"/>
                </a:solidFill>
                <a:latin typeface="Calibri" pitchFamily="34" charset="0"/>
                <a:ea typeface="Calibri" pitchFamily="34" charset="-122"/>
                <a:cs typeface="Calibri" pitchFamily="34" charset="-120"/>
              </a:rPr>
              <a:t>rdfs:subClassOf</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OWL Axioms Do the Work</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00200"/>
                <a:gridCol w="4251960"/>
                <a:gridCol w="2377440"/>
              </a:tblGrid>
              <a:tr h="457200">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Axiom</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Definition</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After reasoning</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Property chain</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careerStation</a:t>
                      </a:r>
                      <a:pPr algn="l" indent="0" marL="0">
                        <a:buNone/>
                      </a:pPr>
                      <a:r>
                        <a:rPr lang="en-US" sz="1500" dirty="0">
                          <a:solidFill>
                            <a:schemeClr val="tx1"/>
                          </a:solidFill>
                          <a:latin typeface="Cambria Math" pitchFamily="34" charset="0"/>
                          <a:ea typeface="Cambria Math" pitchFamily="34" charset="-122"/>
                          <a:cs typeface="Cambria Math" pitchFamily="34" charset="-120"/>
                        </a:rPr>
                        <a:t> ∘ </a:t>
                      </a:r>
                      <a:pPr algn="l" indent="0" marL="0">
                        <a:buNone/>
                      </a:pPr>
                      <a:r>
                        <a:rPr lang="en-US" sz="1500" dirty="0">
                          <a:solidFill>
                            <a:schemeClr val="tx1"/>
                          </a:solidFill>
                          <a:latin typeface="Consolas" pitchFamily="34" charset="0"/>
                          <a:ea typeface="Consolas" pitchFamily="34" charset="-122"/>
                          <a:cs typeface="Consolas" pitchFamily="34" charset="-120"/>
                        </a:rPr>
                        <a:t>team</a:t>
                      </a:r>
                      <a:pPr algn="l" indent="0" marL="0">
                        <a:buNone/>
                      </a:pPr>
                      <a:r>
                        <a:rPr lang="en-US" sz="1500" dirty="0">
                          <a:solidFill>
                            <a:schemeClr val="tx1"/>
                          </a:solidFill>
                          <a:latin typeface="Cambria Math" pitchFamily="34" charset="0"/>
                          <a:ea typeface="Cambria Math" pitchFamily="34" charset="-122"/>
                          <a:cs typeface="Cambria Math" pitchFamily="34" charset="-120"/>
                        </a:rPr>
                        <a:t> ⊑ </a:t>
                      </a:r>
                      <a:pPr algn="l" indent="0" marL="0">
                        <a:buNone/>
                      </a:pPr>
                      <a:r>
                        <a:rPr lang="en-US" sz="1500" dirty="0">
                          <a:solidFill>
                            <a:schemeClr val="tx1"/>
                          </a:solidFill>
                          <a:latin typeface="Consolas" pitchFamily="34" charset="0"/>
                          <a:ea typeface="Consolas" pitchFamily="34" charset="-122"/>
                          <a:cs typeface="Consolas" pitchFamily="34" charset="-120"/>
                        </a:rPr>
                        <a:t>playedFor</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500" dirty="0">
                          <a:solidFill>
                            <a:schemeClr val="accent1"/>
                          </a:solidFill>
                          <a:latin typeface="Calibri" pitchFamily="34" charset="0"/>
                          <a:ea typeface="Calibri" pitchFamily="34" charset="-122"/>
                          <a:cs typeface="Calibri" pitchFamily="34" charset="-120"/>
                        </a:rPr>
                        <a:t>2,772</a:t>
                      </a:r>
                      <a:pPr algn="l" indent="0" marL="0">
                        <a:buNone/>
                      </a:pPr>
                      <a:r>
                        <a:rPr lang="en-US" sz="1500" dirty="0">
                          <a:solidFill>
                            <a:schemeClr val="tx1"/>
                          </a:solidFill>
                          <a:latin typeface="Calibri" pitchFamily="34" charset="0"/>
                          <a:ea typeface="Calibri" pitchFamily="34" charset="-122"/>
                          <a:cs typeface="Calibri" pitchFamily="34" charset="-120"/>
                        </a:rPr>
                        <a:t> player–team edges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r>
              <a:tr h="45720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Inverse</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hasPlayer</a:t>
                      </a:r>
                      <a:pPr algn="l" indent="0" marL="0">
                        <a:buNone/>
                      </a:pPr>
                      <a:r>
                        <a:rPr lang="en-US" sz="1500" dirty="0">
                          <a:solidFill>
                            <a:schemeClr val="tx1"/>
                          </a:solidFill>
                          <a:latin typeface="Cambria Math" pitchFamily="34" charset="0"/>
                          <a:ea typeface="Cambria Math" pitchFamily="34" charset="-122"/>
                          <a:cs typeface="Cambria Math" pitchFamily="34" charset="-120"/>
                        </a:rPr>
                        <a:t> ≡ </a:t>
                      </a:r>
                      <a:pPr algn="l" indent="0" marL="0">
                        <a:buNone/>
                      </a:pPr>
                      <a:r>
                        <a:rPr lang="en-US" sz="1500" dirty="0">
                          <a:solidFill>
                            <a:schemeClr val="tx1"/>
                          </a:solidFill>
                          <a:latin typeface="Consolas" pitchFamily="34" charset="0"/>
                          <a:ea typeface="Consolas" pitchFamily="34" charset="-122"/>
                          <a:cs typeface="Consolas" pitchFamily="34" charset="-120"/>
                        </a:rPr>
                        <a:t>playedFor</a:t>
                      </a:r>
                      <a:pPr algn="l" indent="0" marL="0">
                        <a:buNone/>
                      </a:pPr>
                      <a:r>
                        <a:rPr lang="en-US" sz="1500" dirty="0">
                          <a:solidFill>
                            <a:schemeClr val="tx1"/>
                          </a:solidFill>
                          <a:latin typeface="Cambria Math" pitchFamily="34" charset="0"/>
                          <a:ea typeface="Cambria Math" pitchFamily="34" charset="-122"/>
                          <a:cs typeface="Cambria Math" pitchFamily="34" charset="-120"/>
                        </a:rPr>
                        <a:t>⁻</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clubs list their players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500" dirty="0">
                          <a:solidFill>
                            <a:schemeClr val="tx1"/>
                          </a:solidFill>
                          <a:latin typeface="Cambria Math" pitchFamily="34" charset="0"/>
                          <a:ea typeface="Cambria Math" pitchFamily="34" charset="-122"/>
                          <a:cs typeface="Cambria Math" pitchFamily="34" charset="-120"/>
                        </a:rPr>
                        <a:t>∃</a:t>
                      </a:r>
                      <a:pPr algn="l" indent="0" marL="0">
                        <a:buNone/>
                      </a:pPr>
                      <a:r>
                        <a:rPr lang="en-US" sz="1500" dirty="0">
                          <a:solidFill>
                            <a:schemeClr val="tx1"/>
                          </a:solidFill>
                          <a:latin typeface="Calibri" pitchFamily="34" charset="0"/>
                          <a:ea typeface="Calibri" pitchFamily="34" charset="-122"/>
                          <a:cs typeface="Calibri" pitchFamily="34" charset="-120"/>
                        </a:rPr>
                        <a:t> restriction</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FootballPlayer</a:t>
                      </a:r>
                      <a:r>
                        <a:rPr lang="en-US" sz="1500" dirty="0">
                          <a:solidFill>
                            <a:schemeClr val="tx1"/>
                          </a:solidFill>
                          <a:latin typeface="Cambria Math" pitchFamily="34" charset="0"/>
                          <a:ea typeface="Cambria Math" pitchFamily="34" charset="-122"/>
                          <a:cs typeface="Cambria Math" pitchFamily="34" charset="-120"/>
                        </a:rPr>
                        <a:t> ⊓ </a:t>
                      </a:r>
                      <a:r>
                        <a:rPr lang="en-US" sz="1500" dirty="0">
                          <a:solidFill>
                            <a:schemeClr val="tx1"/>
                          </a:solidFill>
                          <a:latin typeface="Cambria Math" pitchFamily="34" charset="0"/>
                          <a:ea typeface="Cambria Math" pitchFamily="34" charset="-122"/>
                          <a:cs typeface="Cambria Math" pitchFamily="34" charset="-120"/>
                        </a:rPr>
                        <a:t>∃</a:t>
                      </a:r>
                      <a:pPr algn="l" indent="0" marL="0">
                        <a:buNone/>
                      </a:pPr>
                      <a:r>
                        <a:rPr lang="en-US" sz="1500" dirty="0">
                          <a:solidFill>
                            <a:schemeClr val="tx1"/>
                          </a:solidFill>
                          <a:latin typeface="Consolas" pitchFamily="34" charset="0"/>
                          <a:ea typeface="Consolas" pitchFamily="34" charset="-122"/>
                          <a:cs typeface="Consolas" pitchFamily="34" charset="-120"/>
                        </a:rPr>
                        <a:t>careerStation.NationalTeamStation</a:t>
                      </a:r>
                      <a:pPr algn="l" indent="0" marL="0">
                        <a:buNone/>
                      </a:pPr>
                      <a:r>
                        <a:rPr lang="en-US" sz="1500" dirty="0">
                          <a:solidFill>
                            <a:schemeClr val="tx1"/>
                          </a:solidFill>
                          <a:latin typeface="Cambria Math" pitchFamily="34" charset="0"/>
                          <a:ea typeface="Cambria Math" pitchFamily="34" charset="-122"/>
                          <a:cs typeface="Cambria Math" pitchFamily="34" charset="-120"/>
                        </a:rPr>
                        <a:t> ⊑ </a:t>
                      </a:r>
                      <a:pPr algn="l" indent="0" marL="0">
                        <a:buNone/>
                      </a:pPr>
                      <a:r>
                        <a:rPr lang="en-US" sz="1500" dirty="0">
                          <a:solidFill>
                            <a:schemeClr val="tx1"/>
                          </a:solidFill>
                          <a:latin typeface="Consolas" pitchFamily="34" charset="0"/>
                          <a:ea typeface="Consolas" pitchFamily="34" charset="-122"/>
                          <a:cs typeface="Consolas" pitchFamily="34" charset="-120"/>
                        </a:rPr>
                        <a:t>NationalTeamPlayer</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accent1"/>
                          </a:solidFill>
                          <a:latin typeface="Calibri" pitchFamily="34" charset="0"/>
                          <a:ea typeface="Calibri" pitchFamily="34" charset="-122"/>
                          <a:cs typeface="Calibri" pitchFamily="34" charset="-120"/>
                        </a:rPr>
                        <a:t>486</a:t>
                      </a:r>
                      <a:pPr algn="l" indent="0" marL="0">
                        <a:buNone/>
                      </a:pPr>
                      <a:r>
                        <a:rPr lang="en-US" sz="1500" dirty="0">
                          <a:solidFill>
                            <a:schemeClr val="tx1"/>
                          </a:solidFill>
                          <a:latin typeface="Calibri" pitchFamily="34" charset="0"/>
                          <a:ea typeface="Calibri" pitchFamily="34" charset="-122"/>
                          <a:cs typeface="Calibri" pitchFamily="34" charset="-120"/>
                        </a:rPr>
                        <a:t> national-team players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500" dirty="0">
                          <a:solidFill>
                            <a:schemeClr val="tx1"/>
                          </a:solidFill>
                          <a:latin typeface="Cambria Math" pitchFamily="34" charset="0"/>
                          <a:ea typeface="Cambria Math" pitchFamily="34" charset="-122"/>
                          <a:cs typeface="Cambria Math" pitchFamily="34" charset="-120"/>
                        </a:rPr>
                        <a:t>∀</a:t>
                      </a:r>
                      <a:pPr algn="l" indent="0" marL="0">
                        <a:buNone/>
                      </a:pPr>
                      <a:r>
                        <a:rPr lang="en-US" sz="1500" dirty="0">
                          <a:solidFill>
                            <a:schemeClr val="tx1"/>
                          </a:solidFill>
                          <a:latin typeface="Calibri" pitchFamily="34" charset="0"/>
                          <a:ea typeface="Calibri" pitchFamily="34" charset="-122"/>
                          <a:cs typeface="Calibri" pitchFamily="34" charset="-120"/>
                        </a:rPr>
                        <a:t> restriction</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ClubStation</a:t>
                      </a:r>
                      <a:pPr algn="l" indent="0" marL="0">
                        <a:buNone/>
                      </a:pPr>
                      <a:r>
                        <a:rPr lang="en-US" sz="1500" dirty="0">
                          <a:solidFill>
                            <a:schemeClr val="tx1"/>
                          </a:solidFill>
                          <a:latin typeface="Cambria Math" pitchFamily="34" charset="0"/>
                          <a:ea typeface="Cambria Math" pitchFamily="34" charset="-122"/>
                          <a:cs typeface="Cambria Math" pitchFamily="34" charset="-120"/>
                        </a:rPr>
                        <a:t> ⊑ ∀</a:t>
                      </a:r>
                      <a:pPr algn="l" indent="0" marL="0">
                        <a:buNone/>
                      </a:pPr>
                      <a:r>
                        <a:rPr lang="en-US" sz="1500" dirty="0">
                          <a:solidFill>
                            <a:schemeClr val="tx1"/>
                          </a:solidFill>
                          <a:latin typeface="Consolas" pitchFamily="34" charset="0"/>
                          <a:ea typeface="Consolas" pitchFamily="34" charset="-122"/>
                          <a:cs typeface="Consolas" pitchFamily="34" charset="-120"/>
                        </a:rPr>
                        <a:t>team.FootballClub</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accent1"/>
                          </a:solidFill>
                          <a:latin typeface="Calibri" pitchFamily="34" charset="0"/>
                          <a:ea typeface="Calibri" pitchFamily="34" charset="-122"/>
                          <a:cs typeface="Calibri" pitchFamily="34" charset="-120"/>
                        </a:rPr>
                        <a:t>154</a:t>
                      </a:r>
                      <a:pPr algn="l" indent="0" marL="0">
                        <a:buNone/>
                      </a:pPr>
                      <a:r>
                        <a:rPr lang="en-US" sz="1500" dirty="0">
                          <a:solidFill>
                            <a:schemeClr val="tx1"/>
                          </a:solidFill>
                          <a:latin typeface="Calibri" pitchFamily="34" charset="0"/>
                          <a:ea typeface="Calibri" pitchFamily="34" charset="-122"/>
                          <a:cs typeface="Calibri" pitchFamily="34" charset="-120"/>
                        </a:rPr>
                        <a:t> more clubs typed</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Alignment</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every </a:t>
                      </a:r>
                      <a:pPr algn="l" indent="0" marL="0">
                        <a:buNone/>
                      </a:pPr>
                      <a:r>
                        <a:rPr lang="en-US" sz="1500" dirty="0">
                          <a:solidFill>
                            <a:schemeClr val="tx1"/>
                          </a:solidFill>
                          <a:latin typeface="Consolas" pitchFamily="34" charset="0"/>
                          <a:ea typeface="Consolas" pitchFamily="34" charset="-122"/>
                          <a:cs typeface="Consolas" pitchFamily="34" charset="-120"/>
                        </a:rPr>
                        <a:t>vio:</a:t>
                      </a:r>
                      <a:pPr algn="l" indent="0" marL="0">
                        <a:buNone/>
                      </a:pPr>
                      <a:r>
                        <a:rPr lang="en-US" sz="1500" dirty="0">
                          <a:solidFill>
                            <a:schemeClr val="tx1"/>
                          </a:solidFill>
                          <a:latin typeface="Calibri" pitchFamily="34" charset="0"/>
                          <a:ea typeface="Calibri" pitchFamily="34" charset="-122"/>
                          <a:cs typeface="Calibri" pitchFamily="34" charset="-120"/>
                        </a:rPr>
                        <a:t> class, 38 properties </a:t>
                      </a:r>
                      <a:pPr algn="l" indent="0" marL="0">
                        <a:buNone/>
                      </a:pPr>
                      <a:r>
                        <a:rPr lang="en-US" sz="1500" dirty="0">
                          <a:solidFill>
                            <a:schemeClr val="tx1"/>
                          </a:solidFill>
                          <a:latin typeface="Cambria Math" pitchFamily="34" charset="0"/>
                          <a:ea typeface="Cambria Math" pitchFamily="34" charset="-122"/>
                          <a:cs typeface="Cambria Math" pitchFamily="34" charset="-120"/>
                        </a:rPr>
                        <a:t>⊑ </a:t>
                      </a:r>
                      <a:pPr algn="l" indent="0" marL="0">
                        <a:buNone/>
                      </a:pPr>
                      <a:r>
                        <a:rPr lang="en-US" sz="1500" dirty="0">
                          <a:solidFill>
                            <a:schemeClr val="tx1"/>
                          </a:solidFill>
                          <a:latin typeface="Consolas" pitchFamily="34" charset="0"/>
                          <a:ea typeface="Consolas" pitchFamily="34" charset="-122"/>
                          <a:cs typeface="Consolas" pitchFamily="34" charset="-120"/>
                        </a:rPr>
                        <a:t>dbo:</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dbo:Person</a:t>
                      </a:r>
                      <a:pPr algn="l" indent="0" marL="0">
                        <a:buNone/>
                      </a:pPr>
                      <a:r>
                        <a:rPr lang="en-US" sz="1500" dirty="0">
                          <a:solidFill>
                            <a:schemeClr val="tx1"/>
                          </a:solidFill>
                          <a:latin typeface="Calibri" pitchFamily="34" charset="0"/>
                          <a:ea typeface="Calibri" pitchFamily="34" charset="-122"/>
                          <a:cs typeface="Calibri" pitchFamily="34" charset="-120"/>
                        </a:rPr>
                        <a:t>: 0 → </a:t>
                      </a:r>
                      <a:pPr algn="l" indent="0" marL="0">
                        <a:buNone/>
                      </a:pPr>
                      <a:r>
                        <a:rPr lang="en-US" sz="1500" dirty="0">
                          <a:solidFill>
                            <a:schemeClr val="accent1"/>
                          </a:solidFill>
                          <a:latin typeface="Calibri" pitchFamily="34" charset="0"/>
                          <a:ea typeface="Calibri" pitchFamily="34" charset="-122"/>
                          <a:cs typeface="Calibri" pitchFamily="34" charset="-120"/>
                        </a:rPr>
                        <a:t>659</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Disjointness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4 </a:t>
                      </a:r>
                      <a:pPr algn="l" indent="0" marL="0">
                        <a:buNone/>
                      </a:pPr>
                      <a:r>
                        <a:rPr lang="en-US" sz="1500" dirty="0">
                          <a:solidFill>
                            <a:schemeClr val="tx1"/>
                          </a:solidFill>
                          <a:latin typeface="Consolas" pitchFamily="34" charset="0"/>
                          <a:ea typeface="Consolas" pitchFamily="34" charset="-122"/>
                          <a:cs typeface="Consolas" pitchFamily="34" charset="-120"/>
                        </a:rPr>
                        <a:t>owl:AllDisjointClasses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caught </a:t>
                      </a:r>
                      <a:pPr algn="l" indent="0" marL="0">
                        <a:buNone/>
                      </a:pPr>
                      <a:r>
                        <a:rPr lang="en-US" sz="1500" dirty="0">
                          <a:solidFill>
                            <a:schemeClr val="accent1"/>
                          </a:solidFill>
                          <a:latin typeface="Calibri" pitchFamily="34" charset="0"/>
                          <a:ea typeface="Calibri" pitchFamily="34" charset="-122"/>
                          <a:cs typeface="Calibri" pitchFamily="34" charset="-120"/>
                        </a:rPr>
                        <a:t>2 modelling bugs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r>
            </a:tbl>
          </a:graphicData>
        </a:graphic>
      </p:graphicFrame>
      <p:sp>
        <p:nvSpPr>
          <p:cNvPr id="5" name="Shape 1"/>
          <p:cNvSpPr/>
          <p:nvPr/>
        </p:nvSpPr>
        <p:spPr>
          <a:xfrm>
            <a:off x="457200" y="4709160"/>
            <a:ext cx="8229600" cy="1325880"/>
          </a:xfrm>
          <a:prstGeom prst="roundRect">
            <a:avLst>
              <a:gd name="adj" fmla="val 4828"/>
            </a:avLst>
          </a:prstGeom>
          <a:solidFill>
            <a:schemeClr val="bg2"/>
          </a:solidFill>
          <a:ln/>
        </p:spPr>
        <p:txBody>
          <a:bodyPr/>
          <a:p/>
        </p:txBody>
      </p:sp>
      <p:sp>
        <p:nvSpPr>
          <p:cNvPr id="6" name="Shape 2"/>
          <p:cNvSpPr/>
          <p:nvPr/>
        </p:nvSpPr>
        <p:spPr>
          <a:xfrm>
            <a:off x="457200" y="4709160"/>
            <a:ext cx="8229600" cy="384048"/>
          </a:xfrm>
          <a:prstGeom prst="roundRect">
            <a:avLst>
              <a:gd name="adj" fmla="val 16667"/>
            </a:avLst>
          </a:prstGeom>
          <a:solidFill>
            <a:schemeClr val="accent1"/>
          </a:solidFill>
          <a:ln/>
        </p:spPr>
        <p:txBody>
          <a:bodyPr/>
          <a:p/>
        </p:txBody>
      </p:sp>
      <p:sp>
        <p:nvSpPr>
          <p:cNvPr id="7" name="Shape 3"/>
          <p:cNvSpPr/>
          <p:nvPr/>
        </p:nvSpPr>
        <p:spPr>
          <a:xfrm>
            <a:off x="457200" y="4901184"/>
            <a:ext cx="8229600" cy="192024"/>
          </a:xfrm>
          <a:prstGeom prst="rect">
            <a:avLst/>
          </a:prstGeom>
          <a:solidFill>
            <a:schemeClr val="accent1"/>
          </a:solidFill>
          <a:ln/>
        </p:spPr>
        <p:txBody>
          <a:bodyPr/>
          <a:p/>
        </p:txBody>
      </p:sp>
      <p:sp>
        <p:nvSpPr>
          <p:cNvPr id="8" name="Text 4"/>
          <p:cNvSpPr txBox="1"/>
          <p:nvPr/>
        </p:nvSpPr>
        <p:spPr>
          <a:xfrm>
            <a:off x="548640" y="4617720"/>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Designed from competency questions and the course's modelling rules</a:t>
            </a:r>
            <a:endParaRPr lang="en-US" sz="1900" dirty="0"/>
          </a:p>
        </p:txBody>
      </p:sp>
      <p:sp>
        <p:nvSpPr>
          <p:cNvPr id="9" name="Text 5"/>
          <p:cNvSpPr txBox="1"/>
          <p:nvPr/>
        </p:nvSpPr>
        <p:spPr>
          <a:xfrm>
            <a:off x="548640" y="5001768"/>
            <a:ext cx="8046720" cy="1261872"/>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“Which clubs has a player played for?”  ·  “How many provinces are there now?”  ·  “Which clubs play at home in Hà Nội?” — each is now an automated test</a:t>
            </a:r>
            <a:endParaRPr lang="en-US" sz="1700" dirty="0"/>
          </a:p>
          <a:p>
            <a:pPr indent="0" marL="0">
              <a:buNone/>
            </a:pPr>
            <a:r>
              <a:rPr lang="en-US" sz="1700" dirty="0">
                <a:solidFill>
                  <a:schemeClr val="tx1"/>
                </a:solidFill>
                <a:latin typeface="Calibri" pitchFamily="34" charset="0"/>
                <a:ea typeface="Calibri" pitchFamily="34" charset="-122"/>
                <a:cs typeface="Calibri" pitchFamily="34" charset="-120"/>
              </a:rPr>
              <a:t>Two layers: reuse </a:t>
            </a:r>
            <a:r>
              <a:rPr lang="en-US" sz="1700" dirty="0">
                <a:solidFill>
                  <a:schemeClr val="tx1"/>
                </a:solidFill>
                <a:latin typeface="Consolas" pitchFamily="34" charset="0"/>
                <a:ea typeface="Consolas" pitchFamily="34" charset="-122"/>
                <a:cs typeface="Consolas" pitchFamily="34" charset="-120"/>
              </a:rPr>
              <a:t>dbo:</a:t>
            </a:r>
            <a:r>
              <a:rPr lang="en-US" sz="1700" dirty="0">
                <a:solidFill>
                  <a:schemeClr val="tx1"/>
                </a:solidFill>
                <a:latin typeface="Calibri" pitchFamily="34" charset="0"/>
                <a:ea typeface="Calibri" pitchFamily="34" charset="-122"/>
                <a:cs typeface="Calibri" pitchFamily="34" charset="-120"/>
              </a:rPr>
              <a:t> with Vietnamese labels; a </a:t>
            </a:r>
            <a:r>
              <a:rPr lang="en-US" sz="1700" dirty="0">
                <a:solidFill>
                  <a:schemeClr val="tx1"/>
                </a:solidFill>
                <a:latin typeface="Consolas" pitchFamily="34" charset="0"/>
                <a:ea typeface="Consolas" pitchFamily="34" charset="-122"/>
                <a:cs typeface="Consolas" pitchFamily="34" charset="-120"/>
              </a:rPr>
              <a:t>vio:</a:t>
            </a:r>
            <a:r>
              <a:rPr lang="en-US" sz="1700" dirty="0">
                <a:solidFill>
                  <a:schemeClr val="tx1"/>
                </a:solidFill>
                <a:latin typeface="Calibri" pitchFamily="34" charset="0"/>
                <a:ea typeface="Calibri" pitchFamily="34" charset="-122"/>
                <a:cs typeface="Calibri" pitchFamily="34" charset="-120"/>
              </a:rPr>
              <a:t> class only where an axiom needs it (no </a:t>
            </a:r>
            <a:r>
              <a:rPr lang="en-US" sz="1700" dirty="0">
                <a:solidFill>
                  <a:schemeClr val="tx1"/>
                </a:solidFill>
                <a:latin typeface="Consolas" pitchFamily="34" charset="0"/>
                <a:ea typeface="Consolas" pitchFamily="34" charset="-122"/>
                <a:cs typeface="Consolas" pitchFamily="34" charset="-120"/>
              </a:rPr>
              <a:t>vio:Animal</a:t>
            </a:r>
            <a:r>
              <a:rPr lang="en-US" sz="1700" dirty="0">
                <a:solidFill>
                  <a:schemeClr val="tx1"/>
                </a:solidFill>
                <a:latin typeface="Calibri" pitchFamily="34" charset="0"/>
                <a:ea typeface="Calibri" pitchFamily="34" charset="-122"/>
                <a:cs typeface="Calibri" pitchFamily="34" charset="-120"/>
              </a:rPr>
              <a:t>); </a:t>
            </a:r>
            <a:r>
              <a:rPr lang="en-US" sz="1700" dirty="0">
                <a:solidFill>
                  <a:schemeClr val="tx1"/>
                </a:solidFill>
                <a:latin typeface="Consolas" pitchFamily="34" charset="0"/>
                <a:ea typeface="Consolas" pitchFamily="34" charset="-122"/>
                <a:cs typeface="Consolas" pitchFamily="34" charset="-120"/>
              </a:rPr>
              <a:t>vio:</a:t>
            </a:r>
            <a:r>
              <a:rPr lang="en-US" sz="1700" dirty="0">
                <a:solidFill>
                  <a:schemeClr val="tx1"/>
                </a:solidFill>
                <a:latin typeface="Calibri" pitchFamily="34" charset="0"/>
                <a:ea typeface="Calibri" pitchFamily="34" charset="-122"/>
                <a:cs typeface="Calibri" pitchFamily="34" charset="-120"/>
              </a:rPr>
              <a:t> ⊑ </a:t>
            </a:r>
            <a:r>
              <a:rPr lang="en-US" sz="1700" dirty="0">
                <a:solidFill>
                  <a:schemeClr val="tx1"/>
                </a:solidFill>
                <a:latin typeface="Consolas" pitchFamily="34" charset="0"/>
                <a:ea typeface="Consolas" pitchFamily="34" charset="-122"/>
                <a:cs typeface="Consolas" pitchFamily="34" charset="-120"/>
              </a:rPr>
              <a:t>dbo:</a:t>
            </a:r>
            <a:r>
              <a:rPr lang="en-US" sz="1700" dirty="0">
                <a:solidFill>
                  <a:schemeClr val="tx1"/>
                </a:solidFill>
                <a:latin typeface="Calibri" pitchFamily="34" charset="0"/>
                <a:ea typeface="Calibri" pitchFamily="34" charset="-122"/>
                <a:cs typeface="Calibri" pitchFamily="34" charset="-120"/>
              </a:rPr>
              <a:t>, never ≡</a:t>
            </a:r>
            <a:endParaRPr lang="en-US" sz="17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From Wikitext to RDF</a:t>
            </a:r>
            <a:endParaRPr lang="en-US" sz="2600" dirty="0"/>
          </a:p>
        </p:txBody>
      </p:sp>
      <p:sp>
        <p:nvSpPr>
          <p:cNvPr id="4" name="Text 1"/>
          <p:cNvSpPr txBox="1"/>
          <p:nvPr/>
        </p:nvSpPr>
        <p:spPr>
          <a:xfrm>
            <a:off x="457200" y="987552"/>
            <a:ext cx="4023360" cy="365760"/>
          </a:xfrm>
          <a:prstGeom prst="rect">
            <a:avLst/>
          </a:prstGeom>
          <a:noFill/>
          <a:ln/>
        </p:spPr>
        <p:txBody>
          <a:bodyPr wrap="square" lIns="38100" tIns="38100" rIns="38100" bIns="3810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Infobox extraction</a:t>
            </a:r>
            <a:endParaRPr lang="en-US" sz="2000" dirty="0"/>
          </a:p>
        </p:txBody>
      </p:sp>
      <p:sp>
        <p:nvSpPr>
          <p:cNvPr id="5" name="Text 2"/>
          <p:cNvSpPr txBox="1"/>
          <p:nvPr/>
        </p:nvSpPr>
        <p:spPr>
          <a:xfrm>
            <a:off x="457200" y="1371600"/>
            <a:ext cx="4023360" cy="2606040"/>
          </a:xfrm>
          <a:prstGeom prst="rect">
            <a:avLst/>
          </a:prstGeom>
          <a:noFill/>
          <a:ln/>
        </p:spPr>
        <p:txBody>
          <a:bodyPr wrap="square" lIns="38100" tIns="38100" rIns="38100" bIns="38100" rtlCol="0" anchor="t"/>
          <a:lstStyle/>
          <a:p>
            <a:pPr marL="228600" indent="-228600">
              <a:spcAft>
                <a:spcPts val="600"/>
              </a:spcAft>
              <a:buSzPct val="100000"/>
              <a:buFont typeface="+mj-lt"/>
              <a:buAutoNum type="arabicPeriod" startAt="1"/>
            </a:pPr>
            <a:r>
              <a:rPr lang="en-US" sz="1600" b="1" dirty="0">
                <a:solidFill>
                  <a:schemeClr val="tx1"/>
                </a:solidFill>
                <a:latin typeface="Calibri" pitchFamily="34" charset="0"/>
                <a:ea typeface="Calibri" pitchFamily="34" charset="-122"/>
                <a:cs typeface="Calibri" pitchFamily="34" charset="-120"/>
              </a:rPr>
              <a:t>Render</a:t>
            </a:r>
            <a:pPr indent="0" marL="0">
              <a:buNone/>
            </a:pPr>
            <a:r>
              <a:rPr lang="en-US" sz="1600" dirty="0">
                <a:solidFill>
                  <a:schemeClr val="tx1"/>
                </a:solidFill>
                <a:latin typeface="Calibri" pitchFamily="34" charset="0"/>
                <a:ea typeface="Calibri" pitchFamily="34" charset="-122"/>
                <a:cs typeface="Calibri" pitchFamily="34" charset="-120"/>
              </a:rPr>
              <a:t> nested templates (dates, heights, lists); drop refs</a:t>
            </a:r>
            <a:endParaRPr lang="en-US" sz="1600" dirty="0"/>
          </a:p>
          <a:p>
            <a:pPr marL="228600" indent="-228600">
              <a:spcAft>
                <a:spcPts val="600"/>
              </a:spcAft>
              <a:buSzPct val="100000"/>
              <a:buFont typeface="+mj-lt"/>
              <a:buAutoNum type="arabicPeriod" startAt="1"/>
            </a:pPr>
            <a:r>
              <a:rPr lang="en-US" sz="1600" b="1" dirty="0">
                <a:solidFill>
                  <a:schemeClr val="tx1"/>
                </a:solidFill>
                <a:latin typeface="Calibri" pitchFamily="34" charset="0"/>
                <a:ea typeface="Calibri" pitchFamily="34" charset="-122"/>
                <a:cs typeface="Calibri" pitchFamily="34" charset="-120"/>
              </a:rPr>
              <a:t>Parse</a:t>
            </a:r>
            <a:pPr indent="0" marL="0">
              <a:buNone/>
            </a:pPr>
            <a:r>
              <a:rPr lang="en-US" sz="1600" dirty="0">
                <a:solidFill>
                  <a:schemeClr val="tx1"/>
                </a:solidFill>
                <a:latin typeface="Calibri" pitchFamily="34" charset="0"/>
                <a:ea typeface="Calibri" pitchFamily="34" charset="-122"/>
                <a:cs typeface="Calibri" pitchFamily="34" charset="-120"/>
              </a:rPr>
              <a:t> Vietnamese values: </a:t>
            </a:r>
            <a:pPr indent="0" marL="0">
              <a:buNone/>
            </a:pPr>
            <a:r>
              <a:rPr lang="en-US" sz="1600" dirty="0">
                <a:solidFill>
                  <a:schemeClr val="tx1"/>
                </a:solidFill>
                <a:latin typeface="Consolas" pitchFamily="34" charset="0"/>
                <a:ea typeface="Consolas" pitchFamily="34" charset="-122"/>
                <a:cs typeface="Consolas" pitchFamily="34" charset="-120"/>
              </a:rPr>
              <a:t>16.361,2</a:t>
            </a:r>
            <a:pPr indent="0" marL="0">
              <a:buNone/>
            </a:pPr>
            <a:r>
              <a:rPr lang="en-US" sz="1600" dirty="0">
                <a:solidFill>
                  <a:schemeClr val="tx1"/>
                </a:solidFill>
                <a:latin typeface="Calibri" pitchFamily="34" charset="0"/>
                <a:ea typeface="Calibri" pitchFamily="34" charset="-122"/>
                <a:cs typeface="Calibri" pitchFamily="34" charset="-120"/>
              </a:rPr>
              <a:t>, </a:t>
            </a:r>
            <a:pPr indent="0" marL="0">
              <a:buNone/>
            </a:pPr>
            <a:r>
              <a:rPr lang="en-US" sz="1600" dirty="0">
                <a:solidFill>
                  <a:schemeClr val="tx1"/>
                </a:solidFill>
                <a:latin typeface="Consolas" pitchFamily="34" charset="0"/>
                <a:ea typeface="Consolas" pitchFamily="34" charset="-122"/>
                <a:cs typeface="Consolas" pitchFamily="34" charset="-120"/>
              </a:rPr>
              <a:t>2015–</a:t>
            </a:r>
            <a:pPr indent="0" marL="0">
              <a:buNone/>
            </a:pPr>
            <a:r>
              <a:rPr lang="en-US" sz="1600" dirty="0">
                <a:solidFill>
                  <a:schemeClr val="tx1"/>
                </a:solidFill>
                <a:latin typeface="Calibri" pitchFamily="34" charset="0"/>
                <a:ea typeface="Calibri" pitchFamily="34" charset="-122"/>
                <a:cs typeface="Calibri" pitchFamily="34" charset="-120"/>
              </a:rPr>
              <a:t>, </a:t>
            </a:r>
            <a:pPr indent="0" marL="0">
              <a:buNone/>
            </a:pPr>
            <a:r>
              <a:rPr lang="en-US" sz="1600" dirty="0">
                <a:solidFill>
                  <a:schemeClr val="tx1"/>
                </a:solidFill>
                <a:latin typeface="Consolas" pitchFamily="34" charset="0"/>
                <a:ea typeface="Consolas" pitchFamily="34" charset="-122"/>
                <a:cs typeface="Consolas" pitchFamily="34" charset="-120"/>
              </a:rPr>
              <a:t>→ (mượn)</a:t>
            </a:r>
            <a:pPr indent="0" marL="0">
              <a:buNone/>
            </a:pPr>
            <a:r>
              <a:rPr lang="en-US" sz="1600" dirty="0">
                <a:solidFill>
                  <a:schemeClr val="tx1"/>
                </a:solidFill>
                <a:latin typeface="Calibri" pitchFamily="34" charset="0"/>
                <a:ea typeface="Calibri" pitchFamily="34" charset="-122"/>
                <a:cs typeface="Calibri" pitchFamily="34" charset="-120"/>
              </a:rPr>
              <a:t> (on loan)</a:t>
            </a:r>
            <a:endParaRPr lang="en-US" sz="1600" dirty="0"/>
          </a:p>
          <a:p>
            <a:pPr marL="228600" indent="-228600">
              <a:spcAft>
                <a:spcPts val="600"/>
              </a:spcAft>
              <a:buSzPct val="100000"/>
              <a:buFont typeface="+mj-lt"/>
              <a:buAutoNum type="arabicPeriod" startAt="1"/>
            </a:pPr>
            <a:r>
              <a:rPr lang="en-US" sz="1600" b="1" dirty="0">
                <a:solidFill>
                  <a:schemeClr val="tx1"/>
                </a:solidFill>
                <a:latin typeface="Calibri" pitchFamily="34" charset="0"/>
                <a:ea typeface="Calibri" pitchFamily="34" charset="-122"/>
                <a:cs typeface="Calibri" pitchFamily="34" charset="-120"/>
              </a:rPr>
              <a:t>Map</a:t>
            </a:r>
            <a:pPr indent="0" marL="0">
              <a:buNone/>
            </a:pPr>
            <a:r>
              <a:rPr lang="en-US" sz="1600" dirty="0">
                <a:solidFill>
                  <a:schemeClr val="tx1"/>
                </a:solidFill>
                <a:latin typeface="Calibri" pitchFamily="34" charset="0"/>
                <a:ea typeface="Calibri" pitchFamily="34" charset="-122"/>
                <a:cs typeface="Calibri" pitchFamily="34" charset="-120"/>
              </a:rPr>
              <a:t> keys to </a:t>
            </a:r>
            <a:pPr indent="0" marL="0">
              <a:buNone/>
            </a:pPr>
            <a:r>
              <a:rPr lang="en-US" sz="1600" dirty="0">
                <a:solidFill>
                  <a:schemeClr val="tx1"/>
                </a:solidFill>
                <a:latin typeface="Consolas" pitchFamily="34" charset="0"/>
                <a:ea typeface="Consolas" pitchFamily="34" charset="-122"/>
                <a:cs typeface="Consolas" pitchFamily="34" charset="-120"/>
              </a:rPr>
              <a:t>vio:</a:t>
            </a:r>
            <a:pPr indent="0" marL="0">
              <a:buNone/>
            </a:pPr>
            <a:r>
              <a:rPr lang="en-US" sz="1600" dirty="0">
                <a:solidFill>
                  <a:schemeClr val="tx1"/>
                </a:solidFill>
                <a:latin typeface="Calibri" pitchFamily="34" charset="0"/>
                <a:ea typeface="Calibri" pitchFamily="34" charset="-122"/>
                <a:cs typeface="Calibri" pitchFamily="34" charset="-120"/>
              </a:rPr>
              <a:t> for 5 template families</a:t>
            </a:r>
            <a:endParaRPr lang="en-US" sz="1600" dirty="0"/>
          </a:p>
          <a:p>
            <a:pPr marL="228600" indent="-228600">
              <a:spcAft>
                <a:spcPts val="600"/>
              </a:spcAft>
              <a:buSzPct val="100000"/>
              <a:buFont typeface="+mj-lt"/>
              <a:buAutoNum type="arabicPeriod" startAt="1"/>
            </a:pPr>
            <a:r>
              <a:rPr lang="en-US" sz="1600" b="1" dirty="0">
                <a:solidFill>
                  <a:schemeClr val="tx1"/>
                </a:solidFill>
                <a:latin typeface="Calibri" pitchFamily="34" charset="0"/>
                <a:ea typeface="Calibri" pitchFamily="34" charset="-122"/>
                <a:cs typeface="Calibri" pitchFamily="34" charset="-120"/>
              </a:rPr>
              <a:t>Choose</a:t>
            </a:r>
            <a:pPr indent="0" marL="0">
              <a:buNone/>
            </a:pPr>
            <a:r>
              <a:rPr lang="en-US" sz="1600" dirty="0">
                <a:solidFill>
                  <a:schemeClr val="tx1"/>
                </a:solidFill>
                <a:latin typeface="Calibri" pitchFamily="34" charset="0"/>
                <a:ea typeface="Calibri" pitchFamily="34" charset="-122"/>
                <a:cs typeface="Calibri" pitchFamily="34" charset="-120"/>
              </a:rPr>
              <a:t> Wikidata or infobox per property</a:t>
            </a:r>
            <a:endParaRPr lang="en-US" sz="1600" dirty="0"/>
          </a:p>
        </p:txBody>
      </p:sp>
      <p:sp>
        <p:nvSpPr>
          <p:cNvPr id="6" name="Text 3"/>
          <p:cNvSpPr txBox="1"/>
          <p:nvPr/>
        </p:nvSpPr>
        <p:spPr>
          <a:xfrm>
            <a:off x="457200" y="3291840"/>
            <a:ext cx="4023360" cy="685800"/>
          </a:xfrm>
          <a:prstGeom prst="rect">
            <a:avLst/>
          </a:prstGeom>
          <a:noFill/>
          <a:ln/>
        </p:spPr>
        <p:txBody>
          <a:bodyPr wrap="square" lIns="38100" tIns="38100" rIns="38100" bIns="38100" rtlCol="0" anchor="t"/>
          <a:lstStyle/>
          <a:p>
            <a:pPr indent="0" marL="0">
              <a:buNone/>
            </a:pPr>
            <a:r>
              <a:rPr lang="en-US" sz="1600" dirty="0">
                <a:solidFill>
                  <a:schemeClr val="tx1"/>
                </a:solidFill>
                <a:latin typeface="Calibri" pitchFamily="34" charset="0"/>
                <a:ea typeface="Calibri" pitchFamily="34" charset="-122"/>
                <a:cs typeface="Calibri" pitchFamily="34" charset="-120"/>
              </a:rPr>
              <a:t>Career rows </a:t>
            </a:r>
            <a:pPr indent="0" marL="0">
              <a:buNone/>
            </a:pPr>
            <a:r>
              <a:rPr lang="en-US" sz="1600" dirty="0">
                <a:solidFill>
                  <a:schemeClr val="tx1"/>
                </a:solidFill>
                <a:latin typeface="Consolas" pitchFamily="34" charset="0"/>
                <a:ea typeface="Consolas" pitchFamily="34" charset="-122"/>
                <a:cs typeface="Consolas" pitchFamily="34" charset="-120"/>
              </a:rPr>
              <a:t>years</a:t>
            </a:r>
            <a:pPr indent="0" marL="0">
              <a:buNone/>
            </a:pPr>
            <a:r>
              <a:rPr lang="en-US" sz="1600" dirty="0">
                <a:solidFill>
                  <a:schemeClr val="tx1"/>
                </a:solidFill>
                <a:latin typeface="Calibri" pitchFamily="34" charset="0"/>
                <a:ea typeface="Calibri" pitchFamily="34" charset="-122"/>
                <a:cs typeface="Calibri" pitchFamily="34" charset="-120"/>
              </a:rPr>
              <a:t>n/</a:t>
            </a:r>
            <a:pPr indent="0" marL="0">
              <a:buNone/>
            </a:pPr>
            <a:r>
              <a:rPr lang="en-US" sz="1600" dirty="0">
                <a:solidFill>
                  <a:schemeClr val="tx1"/>
                </a:solidFill>
                <a:latin typeface="Consolas" pitchFamily="34" charset="0"/>
                <a:ea typeface="Consolas" pitchFamily="34" charset="-122"/>
                <a:cs typeface="Consolas" pitchFamily="34" charset="-120"/>
              </a:rPr>
              <a:t>clubs</a:t>
            </a:r>
            <a:pPr indent="0" marL="0">
              <a:buNone/>
            </a:pPr>
            <a:r>
              <a:rPr lang="en-US" sz="1600" dirty="0">
                <a:solidFill>
                  <a:schemeClr val="tx1"/>
                </a:solidFill>
                <a:latin typeface="Calibri" pitchFamily="34" charset="0"/>
                <a:ea typeface="Calibri" pitchFamily="34" charset="-122"/>
                <a:cs typeface="Calibri" pitchFamily="34" charset="-120"/>
              </a:rPr>
              <a:t>n/</a:t>
            </a:r>
            <a:pPr indent="0" marL="0">
              <a:buNone/>
            </a:pPr>
            <a:r>
              <a:rPr lang="en-US" sz="1600" dirty="0">
                <a:solidFill>
                  <a:schemeClr val="tx1"/>
                </a:solidFill>
                <a:latin typeface="Consolas" pitchFamily="34" charset="0"/>
                <a:ea typeface="Consolas" pitchFamily="34" charset="-122"/>
                <a:cs typeface="Consolas" pitchFamily="34" charset="-120"/>
              </a:rPr>
              <a:t>caps</a:t>
            </a:r>
            <a:pPr indent="0" marL="0">
              <a:buNone/>
            </a:pPr>
            <a:r>
              <a:rPr lang="en-US" sz="1600" dirty="0">
                <a:solidFill>
                  <a:schemeClr val="tx1"/>
                </a:solidFill>
                <a:latin typeface="Calibri" pitchFamily="34" charset="0"/>
                <a:ea typeface="Calibri" pitchFamily="34" charset="-122"/>
                <a:cs typeface="Calibri" pitchFamily="34" charset="-120"/>
              </a:rPr>
              <a:t>n/</a:t>
            </a:r>
            <a:pPr indent="0" marL="0">
              <a:buNone/>
            </a:pPr>
            <a:r>
              <a:rPr lang="en-US" sz="1600" dirty="0">
                <a:solidFill>
                  <a:schemeClr val="tx1"/>
                </a:solidFill>
                <a:latin typeface="Consolas" pitchFamily="34" charset="0"/>
                <a:ea typeface="Consolas" pitchFamily="34" charset="-122"/>
                <a:cs typeface="Consolas" pitchFamily="34" charset="-120"/>
              </a:rPr>
              <a:t>goals</a:t>
            </a:r>
            <a:pPr indent="0" marL="0">
              <a:buNone/>
            </a:pPr>
            <a:r>
              <a:rPr lang="en-US" sz="1600" dirty="0">
                <a:solidFill>
                  <a:schemeClr val="tx1"/>
                </a:solidFill>
                <a:latin typeface="Calibri" pitchFamily="34" charset="0"/>
                <a:ea typeface="Calibri" pitchFamily="34" charset="-122"/>
                <a:cs typeface="Calibri" pitchFamily="34" charset="-120"/>
              </a:rPr>
              <a:t>n → </a:t>
            </a:r>
            <a:pPr indent="0" marL="0">
              <a:buNone/>
            </a:pPr>
            <a:r>
              <a:rPr lang="en-US" sz="1600" dirty="0">
                <a:solidFill>
                  <a:schemeClr val="accent1"/>
                </a:solidFill>
                <a:latin typeface="Calibri" pitchFamily="34" charset="0"/>
                <a:ea typeface="Calibri" pitchFamily="34" charset="-122"/>
                <a:cs typeface="Calibri" pitchFamily="34" charset="-120"/>
              </a:rPr>
              <a:t>3,382</a:t>
            </a:r>
            <a:pPr indent="0" marL="0">
              <a:buNone/>
            </a:pPr>
            <a:r>
              <a:rPr lang="en-US" sz="1600" dirty="0">
                <a:solidFill>
                  <a:schemeClr val="tx1"/>
                </a:solidFill>
                <a:latin typeface="Calibri" pitchFamily="34" charset="0"/>
                <a:ea typeface="Calibri" pitchFamily="34" charset="-122"/>
                <a:cs typeface="Calibri" pitchFamily="34" charset="-120"/>
              </a:rPr>
              <a:t> </a:t>
            </a:r>
            <a:pPr indent="0" marL="0">
              <a:buNone/>
            </a:pPr>
            <a:r>
              <a:rPr lang="en-US" sz="1600" dirty="0">
                <a:solidFill>
                  <a:schemeClr val="tx1"/>
                </a:solidFill>
                <a:latin typeface="Consolas" pitchFamily="34" charset="0"/>
                <a:ea typeface="Consolas" pitchFamily="34" charset="-122"/>
                <a:cs typeface="Consolas" pitchFamily="34" charset="-120"/>
              </a:rPr>
              <a:t>CareerStation</a:t>
            </a:r>
            <a:pPr indent="0" marL="0">
              <a:buNone/>
            </a:pPr>
            <a:r>
              <a:rPr lang="en-US" sz="1600" dirty="0">
                <a:solidFill>
                  <a:schemeClr val="tx1"/>
                </a:solidFill>
                <a:latin typeface="Calibri" pitchFamily="34" charset="0"/>
                <a:ea typeface="Calibri" pitchFamily="34" charset="-122"/>
                <a:cs typeface="Calibri" pitchFamily="34" charset="-120"/>
              </a:rPr>
              <a:t>s for 601 players</a:t>
            </a:r>
            <a:endParaRPr lang="en-US" sz="1600" dirty="0"/>
          </a:p>
        </p:txBody>
      </p:sp>
      <p:sp>
        <p:nvSpPr>
          <p:cNvPr id="7" name="Text 4"/>
          <p:cNvSpPr txBox="1"/>
          <p:nvPr/>
        </p:nvSpPr>
        <p:spPr>
          <a:xfrm>
            <a:off x="4663440" y="987552"/>
            <a:ext cx="4023360" cy="365760"/>
          </a:xfrm>
          <a:prstGeom prst="rect">
            <a:avLst/>
          </a:prstGeom>
          <a:noFill/>
          <a:ln/>
        </p:spPr>
        <p:txBody>
          <a:bodyPr wrap="square" lIns="38100" tIns="38100" rIns="38100" bIns="3810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DBpedia datasets reproduced</a:t>
            </a:r>
            <a:endParaRPr lang="en-US" sz="2000" dirty="0"/>
          </a:p>
        </p:txBody>
      </p:sp>
      <p:sp>
        <p:nvSpPr>
          <p:cNvPr id="8" name="Text 5"/>
          <p:cNvSpPr txBox="1"/>
          <p:nvPr/>
        </p:nvSpPr>
        <p:spPr>
          <a:xfrm>
            <a:off x="4663440" y="1371600"/>
            <a:ext cx="4023360" cy="3108960"/>
          </a:xfrm>
          <a:prstGeom prst="rect">
            <a:avLst/>
          </a:prstGeom>
          <a:noFill/>
          <a:ln/>
        </p:spPr>
        <p:txBody>
          <a:bodyPr wrap="square" lIns="38100" tIns="38100" rIns="38100" bIns="38100" rtlCol="0" anchor="t"/>
          <a:lstStyle/>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labels (vi, en), abstracts: 990</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page IDs, revisions, provenance</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images: 543</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categories: 9,126 links</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redirects: 1,274</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external links, homepages, coordinates</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raw infobox </a:t>
            </a:r>
            <a:pPr indent="0" marL="0">
              <a:buNone/>
            </a:pPr>
            <a:r>
              <a:rPr lang="en-US" sz="1600" dirty="0">
                <a:solidFill>
                  <a:schemeClr val="tx1"/>
                </a:solidFill>
                <a:latin typeface="Consolas" pitchFamily="34" charset="0"/>
                <a:ea typeface="Consolas" pitchFamily="34" charset="-122"/>
                <a:cs typeface="Consolas" pitchFamily="34" charset="-120"/>
              </a:rPr>
              <a:t>vip:</a:t>
            </a:r>
            <a:pPr indent="0" marL="0">
              <a:buNone/>
            </a:pPr>
            <a:r>
              <a:rPr lang="en-US" sz="1600" dirty="0">
                <a:solidFill>
                  <a:schemeClr val="tx1"/>
                </a:solidFill>
                <a:latin typeface="Calibri" pitchFamily="34" charset="0"/>
                <a:ea typeface="Calibri" pitchFamily="34" charset="-122"/>
                <a:cs typeface="Calibri" pitchFamily="34" charset="-120"/>
              </a:rPr>
              <a:t>: 24,605 triples</a:t>
            </a:r>
            <a:endParaRPr lang="en-US" sz="1600" dirty="0"/>
          </a:p>
        </p:txBody>
      </p:sp>
      <p:sp>
        <p:nvSpPr>
          <p:cNvPr id="9" name="Shape 6"/>
          <p:cNvSpPr/>
          <p:nvPr/>
        </p:nvSpPr>
        <p:spPr>
          <a:xfrm>
            <a:off x="457200" y="4892040"/>
            <a:ext cx="8229600" cy="1188720"/>
          </a:xfrm>
          <a:prstGeom prst="roundRect">
            <a:avLst>
              <a:gd name="adj" fmla="val 5385"/>
            </a:avLst>
          </a:prstGeom>
          <a:solidFill>
            <a:schemeClr val="bg2"/>
          </a:solidFill>
          <a:ln/>
        </p:spPr>
      </p:sp>
      <p:sp>
        <p:nvSpPr>
          <p:cNvPr id="10" name="Shape 7"/>
          <p:cNvSpPr/>
          <p:nvPr/>
        </p:nvSpPr>
        <p:spPr>
          <a:xfrm>
            <a:off x="457200" y="4892040"/>
            <a:ext cx="8229600" cy="384048"/>
          </a:xfrm>
          <a:prstGeom prst="roundRect">
            <a:avLst>
              <a:gd name="adj" fmla="val 16667"/>
            </a:avLst>
          </a:prstGeom>
          <a:solidFill>
            <a:schemeClr val="accent1"/>
          </a:solidFill>
          <a:ln/>
        </p:spPr>
      </p:sp>
      <p:sp>
        <p:nvSpPr>
          <p:cNvPr id="11" name="Shape 8"/>
          <p:cNvSpPr/>
          <p:nvPr/>
        </p:nvSpPr>
        <p:spPr>
          <a:xfrm>
            <a:off x="457200" y="5084064"/>
            <a:ext cx="8229600" cy="192024"/>
          </a:xfrm>
          <a:prstGeom prst="rect">
            <a:avLst/>
          </a:prstGeom>
          <a:solidFill>
            <a:schemeClr val="accent1"/>
          </a:solidFill>
          <a:ln/>
        </p:spPr>
      </p:sp>
      <p:sp>
        <p:nvSpPr>
          <p:cNvPr id="12" name="Text 9"/>
          <p:cNvSpPr txBox="1"/>
          <p:nvPr/>
        </p:nvSpPr>
        <p:spPr>
          <a:xfrm>
            <a:off x="548640" y="4892040"/>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IRIs keep Unicode, like DBpedia chapters</a:t>
            </a:r>
            <a:endParaRPr lang="en-US" sz="1900" dirty="0"/>
          </a:p>
        </p:txBody>
      </p:sp>
      <p:sp>
        <p:nvSpPr>
          <p:cNvPr id="13" name="Text 10"/>
          <p:cNvSpPr txBox="1"/>
          <p:nvPr/>
        </p:nvSpPr>
        <p:spPr>
          <a:xfrm>
            <a:off x="548640" y="5321808"/>
            <a:ext cx="8046720" cy="713232"/>
          </a:xfrm>
          <a:prstGeom prst="rect">
            <a:avLst/>
          </a:prstGeom>
          <a:noFill/>
          <a:ln/>
        </p:spPr>
        <p:txBody>
          <a:bodyPr wrap="square" lIns="0" tIns="0" rIns="0" bIns="0" rtlCol="0" anchor="t"/>
          <a:lstStyle/>
          <a:p>
            <a:pPr indent="0" marL="0">
              <a:buNone/>
            </a:pPr>
            <a:r>
              <a:rPr lang="en-US" sz="1600" dirty="0">
                <a:solidFill>
                  <a:schemeClr val="tx1"/>
                </a:solidFill>
                <a:latin typeface="Consolas" pitchFamily="34" charset="0"/>
                <a:ea typeface="Consolas" pitchFamily="34" charset="-122"/>
                <a:cs typeface="Consolas" pitchFamily="34" charset="-120"/>
              </a:rPr>
              <a:t>http://vi.dbpedia.org/resource/Nguyễn_Công_Phượng</a:t>
            </a:r>
            <a:pPr indent="0" marL="0">
              <a:buNone/>
            </a:pPr>
            <a:r>
              <a:rPr lang="en-US" sz="1600" dirty="0">
                <a:solidFill>
                  <a:schemeClr val="tx1"/>
                </a:solidFill>
                <a:latin typeface="Calibri" pitchFamily="34" charset="0"/>
                <a:ea typeface="Calibri" pitchFamily="34" charset="-122"/>
                <a:cs typeface="Calibri" pitchFamily="34" charset="-120"/>
              </a:rPr>
              <a:t>  ·  stations </a:t>
            </a:r>
            <a:pPr indent="0" marL="0">
              <a:buNone/>
            </a:pPr>
            <a:r>
              <a:rPr lang="en-US" sz="1600" dirty="0">
                <a:solidFill>
                  <a:schemeClr val="tx1"/>
                </a:solidFill>
                <a:latin typeface="Consolas" pitchFamily="34" charset="0"/>
                <a:ea typeface="Consolas" pitchFamily="34" charset="-122"/>
                <a:cs typeface="Consolas" pitchFamily="34" charset="-120"/>
              </a:rPr>
              <a:t>…__1</a:t>
            </a:r>
            <a:pPr indent="0" marL="0">
              <a:buNone/>
            </a:pPr>
            <a:r>
              <a:rPr lang="en-US" sz="1600" dirty="0">
                <a:solidFill>
                  <a:schemeClr val="tx1"/>
                </a:solidFill>
                <a:latin typeface="Calibri" pitchFamily="34" charset="0"/>
                <a:ea typeface="Calibri" pitchFamily="34" charset="-122"/>
                <a:cs typeface="Calibri" pitchFamily="34" charset="-120"/>
              </a:rPr>
              <a:t>, </a:t>
            </a:r>
            <a:pPr indent="0" marL="0">
              <a:buNone/>
            </a:pPr>
            <a:r>
              <a:rPr lang="en-US" sz="1600" dirty="0">
                <a:solidFill>
                  <a:schemeClr val="tx1"/>
                </a:solidFill>
                <a:latin typeface="Consolas" pitchFamily="34" charset="0"/>
                <a:ea typeface="Consolas" pitchFamily="34" charset="-122"/>
                <a:cs typeface="Consolas" pitchFamily="34" charset="-120"/>
              </a:rPr>
              <a:t>…__2</a:t>
            </a:r>
            <a:pPr indent="0" marL="0">
              <a:buNone/>
            </a:pPr>
            <a:r>
              <a:rPr lang="en-US" sz="1600" dirty="0">
                <a:solidFill>
                  <a:schemeClr val="tx1"/>
                </a:solidFill>
                <a:latin typeface="Calibri" pitchFamily="34" charset="0"/>
                <a:ea typeface="Calibri" pitchFamily="34" charset="-122"/>
                <a:cs typeface="Calibri" pitchFamily="34" charset="-120"/>
              </a:rPr>
              <a:t>, …  ·  redirects → </a:t>
            </a:r>
            <a:pPr indent="0" marL="0">
              <a:buNone/>
            </a:pPr>
            <a:r>
              <a:rPr lang="en-US" sz="1600" dirty="0">
                <a:solidFill>
                  <a:schemeClr val="tx1"/>
                </a:solidFill>
                <a:latin typeface="Consolas" pitchFamily="34" charset="0"/>
                <a:ea typeface="Consolas" pitchFamily="34" charset="-122"/>
                <a:cs typeface="Consolas" pitchFamily="34" charset="-120"/>
              </a:rPr>
              <a:t>skos:altLabel</a:t>
            </a:r>
            <a:endParaRPr lang="en-US" sz="16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Transform to 4★: One Infobox, Before and After</a:t>
            </a:r>
            <a:endParaRPr lang="en-US" sz="2600" dirty="0"/>
          </a:p>
        </p:txBody>
      </p:sp>
      <p:sp>
        <p:nvSpPr>
          <p:cNvPr id="4" name="Text 1"/>
          <p:cNvSpPr txBox="1"/>
          <p:nvPr/>
        </p:nvSpPr>
        <p:spPr>
          <a:xfrm>
            <a:off x="457200" y="914400"/>
            <a:ext cx="8229600" cy="329184"/>
          </a:xfrm>
          <a:prstGeom prst="rect">
            <a:avLst/>
          </a:prstGeom>
          <a:noFill/>
          <a:ln/>
        </p:spPr>
        <p:txBody>
          <a:bodyPr wrap="square" lIns="38100" tIns="38100" rIns="38100" bIns="3810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Before</a:t>
            </a:r>
            <a:pPr indent="0" marL="0">
              <a:buNone/>
            </a:pPr>
            <a:r>
              <a:rPr lang="en-US" sz="1500" dirty="0">
                <a:solidFill>
                  <a:schemeClr val="tx1"/>
                </a:solidFill>
                <a:latin typeface="Calibri" pitchFamily="34" charset="0"/>
                <a:ea typeface="Calibri" pitchFamily="34" charset="-122"/>
                <a:cs typeface="Calibri" pitchFamily="34" charset="-120"/>
              </a:rPr>
              <a:t>: wikitext — open and machine-readable, but text that names nothing with a URI (≤ 3★)</a:t>
            </a:r>
            <a:endParaRPr lang="en-US" sz="1500" dirty="0"/>
          </a:p>
        </p:txBody>
      </p:sp>
      <p:sp>
        <p:nvSpPr>
          <p:cNvPr id="5" name="Shape 2"/>
          <p:cNvSpPr/>
          <p:nvPr/>
        </p:nvSpPr>
        <p:spPr>
          <a:xfrm>
            <a:off x="457200" y="1261872"/>
            <a:ext cx="8229600" cy="841248"/>
          </a:xfrm>
          <a:prstGeom prst="rect">
            <a:avLst/>
          </a:prstGeom>
          <a:solidFill>
            <a:srgbClr val="FFFFFF"/>
          </a:solidFill>
          <a:ln w="9525">
            <a:solidFill>
              <a:srgbClr val="A6A6A6"/>
            </a:solidFill>
            <a:prstDash val="solid"/>
          </a:ln>
        </p:spPr>
      </p:sp>
      <p:sp>
        <p:nvSpPr>
          <p:cNvPr id="6" name="Text 3"/>
          <p:cNvSpPr txBox="1"/>
          <p:nvPr/>
        </p:nvSpPr>
        <p:spPr>
          <a:xfrm>
            <a:off x="512064" y="1298448"/>
            <a:ext cx="8119872" cy="768096"/>
          </a:xfrm>
          <a:prstGeom prst="rect">
            <a:avLst/>
          </a:prstGeom>
          <a:noFill/>
          <a:ln/>
        </p:spPr>
        <p:txBody>
          <a:bodyPr wrap="square" lIns="25400" tIns="25400" rIns="25400" bIns="25400" rtlCol="0" anchor="ctr"/>
          <a:lstStyle/>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birth_date  = {{ngày sinh và tuổi|1995|1|21}}</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birth_place = [[Đô Lương (huyện)|Đô Lương]], [[Nghệ An]], [[Việt Nam]]</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height      = {{convert|1,69|m}}</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years2 = 2016  | clubs2 = → [[Mito HollyHock]] (mượn)  | caps2 = 5  | goals2 = 0</a:t>
            </a:r>
            <a:endParaRPr lang="en-US" sz="1150" dirty="0"/>
          </a:p>
        </p:txBody>
      </p:sp>
      <p:sp>
        <p:nvSpPr>
          <p:cNvPr id="7" name="Text 4"/>
          <p:cNvSpPr txBox="1"/>
          <p:nvPr/>
        </p:nvSpPr>
        <p:spPr>
          <a:xfrm>
            <a:off x="457200" y="2139696"/>
            <a:ext cx="8229600" cy="292608"/>
          </a:xfrm>
          <a:prstGeom prst="rect">
            <a:avLst/>
          </a:prstGeom>
          <a:noFill/>
          <a:ln/>
        </p:spPr>
        <p:txBody>
          <a:bodyPr wrap="square" lIns="38100" tIns="38100" rIns="38100" bIns="3810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  </a:t>
            </a:r>
            <a:pPr algn="ctr" indent="0" marL="0">
              <a:buNone/>
            </a:pPr>
            <a:r>
              <a:rPr lang="en-US" sz="1300" dirty="0">
                <a:solidFill>
                  <a:schemeClr val="tx1"/>
                </a:solidFill>
                <a:latin typeface="Consolas" pitchFamily="34" charset="0"/>
                <a:ea typeface="Consolas" pitchFamily="34" charset="-122"/>
                <a:cs typeface="Consolas" pitchFamily="34" charset="-120"/>
              </a:rPr>
              <a:t>python -m vidbpedia build</a:t>
            </a:r>
            <a:endParaRPr lang="en-US" sz="1300" dirty="0"/>
          </a:p>
        </p:txBody>
      </p:sp>
      <p:sp>
        <p:nvSpPr>
          <p:cNvPr id="8" name="Text 5"/>
          <p:cNvSpPr txBox="1"/>
          <p:nvPr/>
        </p:nvSpPr>
        <p:spPr>
          <a:xfrm>
            <a:off x="457200" y="2432304"/>
            <a:ext cx="8229600" cy="329184"/>
          </a:xfrm>
          <a:prstGeom prst="rect">
            <a:avLst/>
          </a:prstGeom>
          <a:noFill/>
          <a:ln/>
        </p:spPr>
        <p:txBody>
          <a:bodyPr wrap="square" lIns="38100" tIns="38100" rIns="38100" bIns="3810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After</a:t>
            </a:r>
            <a:pPr indent="0" marL="0">
              <a:buNone/>
            </a:pPr>
            <a:r>
              <a:rPr lang="en-US" sz="1500" dirty="0">
                <a:solidFill>
                  <a:schemeClr val="tx1"/>
                </a:solidFill>
                <a:latin typeface="Calibri" pitchFamily="34" charset="0"/>
                <a:ea typeface="Calibri" pitchFamily="34" charset="-122"/>
                <a:cs typeface="Calibri" pitchFamily="34" charset="-120"/>
              </a:rPr>
              <a:t>: RDF with an HTTP IRI for every thing (4★)</a:t>
            </a:r>
            <a:endParaRPr lang="en-US" sz="1500" dirty="0"/>
          </a:p>
        </p:txBody>
      </p:sp>
      <p:sp>
        <p:nvSpPr>
          <p:cNvPr id="9" name="Shape 6"/>
          <p:cNvSpPr/>
          <p:nvPr/>
        </p:nvSpPr>
        <p:spPr>
          <a:xfrm>
            <a:off x="457200" y="2779776"/>
            <a:ext cx="8229600" cy="2011680"/>
          </a:xfrm>
          <a:prstGeom prst="rect">
            <a:avLst/>
          </a:prstGeom>
          <a:solidFill>
            <a:srgbClr val="FFFFFF"/>
          </a:solidFill>
          <a:ln w="9525">
            <a:solidFill>
              <a:srgbClr val="A6A6A6"/>
            </a:solidFill>
            <a:prstDash val="solid"/>
          </a:ln>
        </p:spPr>
      </p:sp>
      <p:sp>
        <p:nvSpPr>
          <p:cNvPr id="10" name="Text 7"/>
          <p:cNvSpPr txBox="1"/>
          <p:nvPr/>
        </p:nvSpPr>
        <p:spPr>
          <a:xfrm>
            <a:off x="512064" y="2816352"/>
            <a:ext cx="8119872" cy="1938528"/>
          </a:xfrm>
          <a:prstGeom prst="rect">
            <a:avLst/>
          </a:prstGeom>
          <a:noFill/>
          <a:ln/>
        </p:spPr>
        <p:txBody>
          <a:bodyPr wrap="square" lIns="25400" tIns="25400" rIns="25400" bIns="25400" rtlCol="0" anchor="ctr"/>
          <a:lstStyle/>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vres:Nguyễn_Công_Phượng a vio:FootballPlayer ;</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vio:birthDate "1995-01-21"^^xsd:date ;</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vio:birthPlace vres:Đô_Lương_\(huyện\) ;  vio:birthProvince vres:Nghệ_An ;</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vio:height 1.68e+00 ;                      # xsd:double; Wikidata wins over 1,69</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vio:careerStation vres:Nguyễn_Công_Phượng__3 .</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vres:Nguyễn_Công_Phượng__3 a vio:ClubStation ;</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vio:team vres:Mito_HollyHock ;  vio:onLoan true ;</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vio:startYear "2016"^^xsd:gYear ;  vio:endYear "2016"^^xsd:gYear ;</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vio:appearances "5"^^xsd:nonNegativeInteger ;</a:t>
            </a:r>
            <a:endParaRPr lang="en-US" sz="1150" dirty="0"/>
          </a:p>
          <a:p>
            <a:pPr indent="0" marL="0">
              <a:lnSpc>
                <a:spcPct val="100000"/>
              </a:lnSpc>
              <a:buNone/>
            </a:pPr>
            <a:r>
              <a:rPr lang="en-US" sz="1150" dirty="0">
                <a:solidFill>
                  <a:schemeClr val="tx1"/>
                </a:solidFill>
                <a:latin typeface="Consolas" pitchFamily="34" charset="0"/>
                <a:ea typeface="Consolas" pitchFamily="34" charset="-122"/>
                <a:cs typeface="Consolas" pitchFamily="34" charset="-120"/>
              </a:rPr>
              <a:t>    vio:goals "0"^^xsd:nonNegativeInteger .</a:t>
            </a:r>
            <a:endParaRPr lang="en-US" sz="1150" dirty="0"/>
          </a:p>
        </p:txBody>
      </p:sp>
      <p:sp>
        <p:nvSpPr>
          <p:cNvPr id="11" name="Text 8"/>
          <p:cNvSpPr txBox="1"/>
          <p:nvPr/>
        </p:nvSpPr>
        <p:spPr>
          <a:xfrm>
            <a:off x="457200" y="4919472"/>
            <a:ext cx="8229600" cy="1188720"/>
          </a:xfrm>
          <a:prstGeom prst="rect">
            <a:avLst/>
          </a:prstGeom>
          <a:noFill/>
          <a:ln/>
        </p:spPr>
        <p:txBody>
          <a:bodyPr wrap="square" lIns="38100" tIns="38100" rIns="38100" bIns="38100" rtlCol="0" anchor="t"/>
          <a:lstStyle/>
          <a:p>
            <a:pPr indent="0" marL="0">
              <a:buNone/>
            </a:pPr>
            <a:r>
              <a:rPr lang="en-US" sz="1500" dirty="0">
                <a:solidFill>
                  <a:schemeClr val="accent1"/>
                </a:solidFill>
                <a:latin typeface="Calibri" pitchFamily="34" charset="0"/>
                <a:ea typeface="Calibri" pitchFamily="34" charset="-122"/>
                <a:cs typeface="Calibri" pitchFamily="34" charset="-120"/>
              </a:rPr>
              <a:t>IRIs</a:t>
            </a:r>
            <a:pPr indent="0" marL="0">
              <a:buNone/>
            </a:pPr>
            <a:r>
              <a:rPr lang="en-US" sz="1500" dirty="0">
                <a:solidFill>
                  <a:schemeClr val="tx1"/>
                </a:solidFill>
                <a:latin typeface="Calibri" pitchFamily="34" charset="0"/>
                <a:ea typeface="Calibri" pitchFamily="34" charset="-122"/>
                <a:cs typeface="Calibri" pitchFamily="34" charset="-120"/>
              </a:rPr>
              <a:t> for the player, places, clubs and the loan spell itself  ·  </a:t>
            </a:r>
            <a:pPr indent="0" marL="0">
              <a:buNone/>
            </a:pPr>
            <a:r>
              <a:rPr lang="en-US" sz="1500" dirty="0">
                <a:solidFill>
                  <a:schemeClr val="accent1"/>
                </a:solidFill>
                <a:latin typeface="Calibri" pitchFamily="34" charset="0"/>
                <a:ea typeface="Calibri" pitchFamily="34" charset="-122"/>
                <a:cs typeface="Calibri" pitchFamily="34" charset="-120"/>
              </a:rPr>
              <a:t>typed literals</a:t>
            </a:r>
            <a:pPr indent="0" marL="0">
              <a:buNone/>
            </a:pPr>
            <a:r>
              <a:rPr lang="en-US" sz="1500" dirty="0">
                <a:solidFill>
                  <a:schemeClr val="tx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onsolas" pitchFamily="34" charset="0"/>
                <a:ea typeface="Consolas" pitchFamily="34" charset="-122"/>
                <a:cs typeface="Consolas" pitchFamily="34" charset="-120"/>
              </a:rPr>
              <a:t>xsd:date</a:t>
            </a:r>
            <a:pPr indent="0" marL="0">
              <a:buNone/>
            </a:pPr>
            <a:r>
              <a:rPr lang="en-US" sz="1500" dirty="0">
                <a:solidFill>
                  <a:schemeClr val="tx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onsolas" pitchFamily="34" charset="0"/>
                <a:ea typeface="Consolas" pitchFamily="34" charset="-122"/>
                <a:cs typeface="Consolas" pitchFamily="34" charset="-120"/>
              </a:rPr>
              <a:t>gYear</a:t>
            </a:r>
            <a:pPr indent="0" marL="0">
              <a:buNone/>
            </a:pPr>
            <a:r>
              <a:rPr lang="en-US" sz="1500" dirty="0">
                <a:solidFill>
                  <a:schemeClr val="tx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onsolas" pitchFamily="34" charset="0"/>
                <a:ea typeface="Consolas" pitchFamily="34" charset="-122"/>
                <a:cs typeface="Consolas" pitchFamily="34" charset="-120"/>
              </a:rPr>
              <a:t>nonNegativeInteger</a:t>
            </a:r>
            <a:pPr indent="0" marL="0">
              <a:buNone/>
            </a:pPr>
            <a:r>
              <a:rPr lang="en-US" sz="1500" dirty="0">
                <a:solidFill>
                  <a:schemeClr val="tx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onsolas" pitchFamily="34" charset="0"/>
                <a:ea typeface="Consolas" pitchFamily="34" charset="-122"/>
                <a:cs typeface="Consolas" pitchFamily="34" charset="-120"/>
              </a:rPr>
              <a:t>boolean</a:t>
            </a:r>
            <a:pPr indent="0" marL="0">
              <a:buNone/>
            </a:pPr>
            <a:r>
              <a:rPr lang="en-US" sz="1500" dirty="0">
                <a:solidFill>
                  <a:schemeClr val="tx1"/>
                </a:solidFill>
                <a:latin typeface="Calibri" pitchFamily="34" charset="0"/>
                <a:ea typeface="Calibri" pitchFamily="34" charset="-122"/>
                <a:cs typeface="Calibri" pitchFamily="34" charset="-120"/>
              </a:rPr>
              <a:t>)  ·  links and templates </a:t>
            </a:r>
            <a:pPr indent="0" marL="0">
              <a:buNone/>
            </a:pPr>
            <a:r>
              <a:rPr lang="en-US" sz="1500" dirty="0">
                <a:solidFill>
                  <a:schemeClr val="accent1"/>
                </a:solidFill>
                <a:latin typeface="Calibri" pitchFamily="34" charset="0"/>
                <a:ea typeface="Calibri" pitchFamily="34" charset="-122"/>
                <a:cs typeface="Calibri" pitchFamily="34" charset="-120"/>
              </a:rPr>
              <a:t>interpreted</a:t>
            </a:r>
            <a:pPr indent="0" marL="0">
              <a:buNone/>
            </a:pPr>
            <a:r>
              <a:rPr lang="en-US" sz="1500" dirty="0">
                <a:solidFill>
                  <a:schemeClr val="tx1"/>
                </a:solidFill>
                <a:latin typeface="Calibri" pitchFamily="34" charset="0"/>
                <a:ea typeface="Calibri" pitchFamily="34" charset="-122"/>
                <a:cs typeface="Calibri" pitchFamily="34" charset="-120"/>
              </a:rPr>
              <a:t>  ·  </a:t>
            </a:r>
            <a:pPr indent="0" marL="0">
              <a:buNone/>
            </a:pPr>
            <a:r>
              <a:rPr lang="en-US" sz="1500" dirty="0">
                <a:solidFill>
                  <a:schemeClr val="accent1"/>
                </a:solidFill>
                <a:latin typeface="Calibri" pitchFamily="34" charset="0"/>
                <a:ea typeface="Calibri" pitchFamily="34" charset="-122"/>
                <a:cs typeface="Calibri" pitchFamily="34" charset="-120"/>
              </a:rPr>
              <a:t>shared vocabularies</a:t>
            </a:r>
            <a:pPr indent="0" marL="0">
              <a:buNone/>
            </a:pPr>
            <a:r>
              <a:rPr lang="en-US" sz="1500" dirty="0">
                <a:solidFill>
                  <a:schemeClr val="tx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onsolas" pitchFamily="34" charset="0"/>
                <a:ea typeface="Consolas" pitchFamily="34" charset="-122"/>
                <a:cs typeface="Consolas" pitchFamily="34" charset="-120"/>
              </a:rPr>
              <a:t>vio:</a:t>
            </a:r>
            <a:pPr indent="0" marL="0">
              <a:buNone/>
            </a:pPr>
            <a:r>
              <a:rPr lang="en-US" sz="1500" dirty="0">
                <a:solidFill>
                  <a:schemeClr val="tx1"/>
                </a:solidFill>
                <a:latin typeface="Cambria Math" pitchFamily="34" charset="0"/>
                <a:ea typeface="Cambria Math" pitchFamily="34" charset="-122"/>
                <a:cs typeface="Cambria Math" pitchFamily="34" charset="-120"/>
              </a:rPr>
              <a:t> ⊑ </a:t>
            </a:r>
            <a:pPr indent="0" marL="0">
              <a:buNone/>
            </a:pPr>
            <a:r>
              <a:rPr lang="en-US" sz="1500" dirty="0">
                <a:solidFill>
                  <a:schemeClr val="tx1"/>
                </a:solidFill>
                <a:latin typeface="Consolas" pitchFamily="34" charset="0"/>
                <a:ea typeface="Consolas" pitchFamily="34" charset="-122"/>
                <a:cs typeface="Consolas" pitchFamily="34" charset="-120"/>
              </a:rPr>
              <a:t>dbo:</a:t>
            </a:r>
            <a:pPr indent="0" marL="0">
              <a:buNone/>
            </a:pPr>
            <a:r>
              <a:rPr lang="en-US" sz="1500" dirty="0">
                <a:solidFill>
                  <a:schemeClr val="tx1"/>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One Entity, End to End</a:t>
            </a:r>
            <a:endParaRPr lang="en-US" sz="26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10</a:t>
            </a:fld>
            <a:endParaRPr lang="en-US"/>
          </a:p>
        </p:txBody>
      </p:sp>
      <p:cxnSp>
        <p:nvCxnSpPr>
          <p:cNvPr id="26" name="edge cp-fp"/>
          <p:cNvCxnSpPr/>
          <p:nvPr/>
        </p:nvCxnSpPr>
        <p:spPr>
          <a:xfrm flipH="1" flipV="1">
            <a:off x="2685095" y="1882310"/>
            <a:ext cx="705348" cy="1103166"/>
          </a:xfrm>
          <a:prstGeom prst="line">
            <a:avLst/>
          </a:prstGeom>
          <a:ln w="12700">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edge cp-sp"/>
          <p:cNvCxnSpPr/>
          <p:nvPr/>
        </p:nvCxnSpPr>
        <p:spPr>
          <a:xfrm flipV="1">
            <a:off x="3594618" y="1882162"/>
            <a:ext cx="670120" cy="1103229"/>
          </a:xfrm>
          <a:prstGeom prst="line">
            <a:avLst/>
          </a:prstGeom>
          <a:ln w="19050">
            <a:solidFill>
              <a:schemeClr val="accent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edge s3-cstat"/>
          <p:cNvCxnSpPr/>
          <p:nvPr/>
        </p:nvCxnSpPr>
        <p:spPr>
          <a:xfrm flipV="1">
            <a:off x="5964002" y="1883664"/>
            <a:ext cx="0" cy="1100937"/>
          </a:xfrm>
          <a:prstGeom prst="line">
            <a:avLst/>
          </a:prstGeom>
          <a:ln w="12700">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edge mito-fc"/>
          <p:cNvCxnSpPr/>
          <p:nvPr/>
        </p:nvCxnSpPr>
        <p:spPr>
          <a:xfrm flipV="1">
            <a:off x="7884242" y="1883664"/>
            <a:ext cx="0" cy="1100937"/>
          </a:xfrm>
          <a:prstGeom prst="line">
            <a:avLst/>
          </a:prstGeom>
          <a:ln w="19050">
            <a:solidFill>
              <a:schemeClr val="accent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ge cp-s3"/>
          <p:cNvCxnSpPr/>
          <p:nvPr/>
        </p:nvCxnSpPr>
        <p:spPr>
          <a:xfrm>
            <a:off x="4511935" y="3149193"/>
            <a:ext cx="998525" cy="0"/>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edge s3-mito"/>
          <p:cNvCxnSpPr/>
          <p:nvPr/>
        </p:nvCxnSpPr>
        <p:spPr>
          <a:xfrm>
            <a:off x="6417544" y="3149193"/>
            <a:ext cx="610820" cy="0"/>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 name="edge cp-mito"/>
          <p:cNvSpPr/>
          <p:nvPr/>
        </p:nvSpPr>
        <p:spPr>
          <a:xfrm>
            <a:off x="4214117" y="2269540"/>
            <a:ext cx="3064928" cy="763269"/>
          </a:xfrm>
          <a:custGeom>
            <a:avLst/>
            <a:gdLst/>
            <a:ahLst/>
            <a:cxnLst/>
            <a:rect l="l" t="t" r="r" b="b"/>
            <a:pathLst>
              <a:path w="3064928" h="763269">
                <a:moveTo>
                  <a:pt x="0" y="763269"/>
                </a:moveTo>
                <a:lnTo>
                  <a:pt x="0" y="0"/>
                </a:lnTo>
                <a:lnTo>
                  <a:pt x="3064928" y="0"/>
                </a:lnTo>
                <a:lnTo>
                  <a:pt x="3064928" y="763269"/>
                </a:lnTo>
              </a:path>
            </a:pathLst>
          </a:custGeom>
          <a:noFill/>
          <a:ln w="19050">
            <a:solidFill>
              <a:schemeClr val="accent1"/>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edge cp-lbl"/>
          <p:cNvCxnSpPr/>
          <p:nvPr/>
        </p:nvCxnSpPr>
        <p:spPr>
          <a:xfrm flipH="1" flipV="1">
            <a:off x="2014366" y="2927672"/>
            <a:ext cx="734015" cy="109809"/>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edge cp-bd"/>
          <p:cNvCxnSpPr/>
          <p:nvPr/>
        </p:nvCxnSpPr>
        <p:spPr>
          <a:xfrm flipH="1">
            <a:off x="1982933" y="3260906"/>
            <a:ext cx="765448" cy="114511"/>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edge cp-na"/>
          <p:cNvCxnSpPr/>
          <p:nvPr/>
        </p:nvCxnSpPr>
        <p:spPr>
          <a:xfrm flipH="1">
            <a:off x="1615045" y="3309311"/>
            <a:ext cx="1644609" cy="1118335"/>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edge cp-dbr"/>
          <p:cNvCxnSpPr/>
          <p:nvPr/>
        </p:nvCxnSpPr>
        <p:spPr>
          <a:xfrm flipH="1">
            <a:off x="3333285" y="3313750"/>
            <a:ext cx="140794" cy="1101011"/>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edge cp-wd"/>
          <p:cNvCxnSpPr/>
          <p:nvPr/>
        </p:nvCxnSpPr>
        <p:spPr>
          <a:xfrm>
            <a:off x="3681346" y="3311001"/>
            <a:ext cx="1279803" cy="1112007"/>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edge s3-sy"/>
          <p:cNvCxnSpPr/>
          <p:nvPr/>
        </p:nvCxnSpPr>
        <p:spPr>
          <a:xfrm flipH="1">
            <a:off x="5571719" y="3311067"/>
            <a:ext cx="310197" cy="611709"/>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edge s3-ol"/>
          <p:cNvCxnSpPr/>
          <p:nvPr/>
        </p:nvCxnSpPr>
        <p:spPr>
          <a:xfrm>
            <a:off x="6171068" y="3295630"/>
            <a:ext cx="754916" cy="533877"/>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edge s3-ap"/>
          <p:cNvCxnSpPr/>
          <p:nvPr/>
        </p:nvCxnSpPr>
        <p:spPr>
          <a:xfrm>
            <a:off x="6060533" y="3310014"/>
            <a:ext cx="741029" cy="1234554"/>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node cp"/>
          <p:cNvSpPr/>
          <p:nvPr/>
        </p:nvSpPr>
        <p:spPr>
          <a:xfrm>
            <a:off x="2478309" y="2984601"/>
            <a:ext cx="2033625" cy="329184"/>
          </a:xfrm>
          <a:prstGeom prst="ellipse">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vres:Nguyễn_Công_Phượng</a:t>
            </a:r>
          </a:p>
        </p:txBody>
      </p:sp>
      <p:sp>
        <p:nvSpPr>
          <p:cNvPr id="41" name="node s3"/>
          <p:cNvSpPr/>
          <p:nvPr/>
        </p:nvSpPr>
        <p:spPr>
          <a:xfrm>
            <a:off x="5510460" y="2984601"/>
            <a:ext cx="907084" cy="329184"/>
          </a:xfrm>
          <a:prstGeom prst="ellipse">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vres:…__3</a:t>
            </a:r>
          </a:p>
        </p:txBody>
      </p:sp>
      <p:sp>
        <p:nvSpPr>
          <p:cNvPr id="42" name="node mito"/>
          <p:cNvSpPr/>
          <p:nvPr/>
        </p:nvSpPr>
        <p:spPr>
          <a:xfrm>
            <a:off x="7028364" y="2984601"/>
            <a:ext cx="1711756" cy="329184"/>
          </a:xfrm>
          <a:prstGeom prst="ellipse">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vres:Mito_HollyHock</a:t>
            </a:r>
          </a:p>
        </p:txBody>
      </p:sp>
      <p:sp>
        <p:nvSpPr>
          <p:cNvPr id="43" name="node fp"/>
          <p:cNvSpPr/>
          <p:nvPr/>
        </p:nvSpPr>
        <p:spPr>
          <a:xfrm>
            <a:off x="1765077" y="1554480"/>
            <a:ext cx="1631289" cy="329184"/>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vio:FootballPlayer</a:t>
            </a:r>
          </a:p>
        </p:txBody>
      </p:sp>
      <p:sp>
        <p:nvSpPr>
          <p:cNvPr id="44" name="node sp"/>
          <p:cNvSpPr/>
          <p:nvPr/>
        </p:nvSpPr>
        <p:spPr>
          <a:xfrm>
            <a:off x="3628624" y="1554480"/>
            <a:ext cx="1470355" cy="329184"/>
          </a:xfrm>
          <a:prstGeom prst="ellipse">
            <a:avLst/>
          </a:prstGeom>
          <a:solidFill>
            <a:srgbClr val="FFFFFF"/>
          </a:solidFill>
          <a:ln w="12700">
            <a:solidFill>
              <a:srgbClr val="8A898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rgbClr val="595959"/>
                </a:solidFill>
                <a:latin typeface="Consolas"/>
                <a:ea typeface="Consolas"/>
                <a:cs typeface="Consolas"/>
              </a:rPr>
              <a:t>dbo:SoccerPlayer</a:t>
            </a:r>
          </a:p>
        </p:txBody>
      </p:sp>
      <p:sp>
        <p:nvSpPr>
          <p:cNvPr id="45" name="node cstat"/>
          <p:cNvSpPr/>
          <p:nvPr/>
        </p:nvSpPr>
        <p:spPr>
          <a:xfrm>
            <a:off x="5269058" y="1554480"/>
            <a:ext cx="1389888" cy="329184"/>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vio:ClubStation</a:t>
            </a:r>
          </a:p>
        </p:txBody>
      </p:sp>
      <p:sp>
        <p:nvSpPr>
          <p:cNvPr id="46" name="node fc"/>
          <p:cNvSpPr/>
          <p:nvPr/>
        </p:nvSpPr>
        <p:spPr>
          <a:xfrm>
            <a:off x="7149064" y="1554480"/>
            <a:ext cx="1470355" cy="329184"/>
          </a:xfrm>
          <a:prstGeom prst="ellipse">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vio:FootballClub</a:t>
            </a:r>
          </a:p>
        </p:txBody>
      </p:sp>
      <p:sp>
        <p:nvSpPr>
          <p:cNvPr id="47" name="node lbl"/>
          <p:cNvSpPr/>
          <p:nvPr/>
        </p:nvSpPr>
        <p:spPr>
          <a:xfrm>
            <a:off x="403879" y="2679191"/>
            <a:ext cx="1610487" cy="256032"/>
          </a:xfrm>
          <a:prstGeom prst="rect">
            <a:avLst/>
          </a:prstGeom>
          <a:solidFill>
            <a:srgbClr val="F2F2F2"/>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"Nguyễn Công Phượng"@vi</a:t>
            </a:r>
          </a:p>
        </p:txBody>
      </p:sp>
      <p:sp>
        <p:nvSpPr>
          <p:cNvPr id="48" name="node bd"/>
          <p:cNvSpPr/>
          <p:nvPr/>
        </p:nvSpPr>
        <p:spPr>
          <a:xfrm>
            <a:off x="435311" y="3363163"/>
            <a:ext cx="1547622" cy="256032"/>
          </a:xfrm>
          <a:prstGeom prst="rect">
            <a:avLst/>
          </a:prstGeom>
          <a:solidFill>
            <a:srgbClr val="F2F2F2"/>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"1995-01-21"^^xsd:date</a:t>
            </a:r>
          </a:p>
        </p:txBody>
      </p:sp>
      <p:sp>
        <p:nvSpPr>
          <p:cNvPr id="49" name="node na"/>
          <p:cNvSpPr/>
          <p:nvPr/>
        </p:nvSpPr>
        <p:spPr>
          <a:xfrm>
            <a:off x="817759" y="4414723"/>
            <a:ext cx="1148486" cy="329184"/>
          </a:xfrm>
          <a:prstGeom prst="ellipse">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vres:Nghệ_An</a:t>
            </a:r>
          </a:p>
        </p:txBody>
      </p:sp>
      <p:sp>
        <p:nvSpPr>
          <p:cNvPr id="50" name="node dbr"/>
          <p:cNvSpPr/>
          <p:nvPr/>
        </p:nvSpPr>
        <p:spPr>
          <a:xfrm>
            <a:off x="2335663" y="4414723"/>
            <a:ext cx="1953158" cy="329184"/>
          </a:xfrm>
          <a:prstGeom prst="ellipse">
            <a:avLst/>
          </a:prstGeom>
          <a:solidFill>
            <a:srgbClr val="FFFFFF"/>
          </a:solidFill>
          <a:ln w="12700">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accent2"/>
                </a:solidFill>
                <a:latin typeface="Consolas"/>
                <a:ea typeface="Consolas"/>
                <a:cs typeface="Consolas"/>
              </a:rPr>
              <a:t>dbr:Nguyễn_Công_Phượng</a:t>
            </a:r>
          </a:p>
        </p:txBody>
      </p:sp>
      <p:sp>
        <p:nvSpPr>
          <p:cNvPr id="51" name="node wd"/>
          <p:cNvSpPr/>
          <p:nvPr/>
        </p:nvSpPr>
        <p:spPr>
          <a:xfrm>
            <a:off x="4566799" y="4414723"/>
            <a:ext cx="1148486" cy="329184"/>
          </a:xfrm>
          <a:prstGeom prst="ellipse">
            <a:avLst/>
          </a:prstGeom>
          <a:solidFill>
            <a:srgbClr val="FFFFFF"/>
          </a:solidFill>
          <a:ln w="12700">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accent2"/>
                </a:solidFill>
                <a:latin typeface="Consolas"/>
                <a:ea typeface="Consolas"/>
                <a:cs typeface="Consolas"/>
              </a:rPr>
              <a:t>wd:Q18045362</a:t>
            </a:r>
          </a:p>
        </p:txBody>
      </p:sp>
      <p:sp>
        <p:nvSpPr>
          <p:cNvPr id="52" name="node sy"/>
          <p:cNvSpPr/>
          <p:nvPr/>
        </p:nvSpPr>
        <p:spPr>
          <a:xfrm>
            <a:off x="4890154" y="3922776"/>
            <a:ext cx="1233297" cy="256032"/>
          </a:xfrm>
          <a:prstGeom prst="rect">
            <a:avLst/>
          </a:prstGeom>
          <a:solidFill>
            <a:srgbClr val="F2F2F2"/>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"2016"^^xsd:gYear</a:t>
            </a:r>
          </a:p>
        </p:txBody>
      </p:sp>
      <p:sp>
        <p:nvSpPr>
          <p:cNvPr id="53" name="node ol"/>
          <p:cNvSpPr/>
          <p:nvPr/>
        </p:nvSpPr>
        <p:spPr>
          <a:xfrm>
            <a:off x="6898976" y="3829507"/>
            <a:ext cx="416052" cy="256032"/>
          </a:xfrm>
          <a:prstGeom prst="rect">
            <a:avLst/>
          </a:prstGeom>
          <a:solidFill>
            <a:srgbClr val="F2F2F2"/>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true</a:t>
            </a:r>
          </a:p>
        </p:txBody>
      </p:sp>
      <p:sp>
        <p:nvSpPr>
          <p:cNvPr id="54" name="node ap"/>
          <p:cNvSpPr/>
          <p:nvPr/>
        </p:nvSpPr>
        <p:spPr>
          <a:xfrm>
            <a:off x="5947429" y="4544568"/>
            <a:ext cx="1861947" cy="256032"/>
          </a:xfrm>
          <a:prstGeom prst="rect">
            <a:avLst/>
          </a:prstGeom>
          <a:solidFill>
            <a:srgbClr val="F2F2F2"/>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i="0" b="0">
                <a:solidFill>
                  <a:schemeClr val="tx1"/>
                </a:solidFill>
                <a:latin typeface="Consolas"/>
                <a:ea typeface="Consolas"/>
                <a:cs typeface="Consolas"/>
              </a:rPr>
              <a:t>"5"^^xsd:nonNegativeInteger</a:t>
            </a:r>
          </a:p>
        </p:txBody>
      </p:sp>
      <p:sp>
        <p:nvSpPr>
          <p:cNvPr id="55" name="label rdf:type"/>
          <p:cNvSpPr txBox="1"/>
          <p:nvPr/>
        </p:nvSpPr>
        <p:spPr>
          <a:xfrm>
            <a:off x="2503759" y="2351597"/>
            <a:ext cx="497433" cy="164592"/>
          </a:xfrm>
          <a:prstGeom prst="rect">
            <a:avLst/>
          </a:prstGeom>
          <a:solidFill>
            <a:srgbClr val="FFFFFF"/>
          </a:solidFill>
        </p:spPr>
        <p:txBody>
          <a:bodyPr wrap="none" lIns="0" rIns="0" tIns="0" bIns="0" anchor="ctr"/>
          <a:lstStyle/>
          <a:p>
            <a:pPr algn="ctr"/>
            <a:r>
              <a:rPr sz="800" i="1" b="0">
                <a:solidFill>
                  <a:srgbClr val="8A8984"/>
                </a:solidFill>
                <a:latin typeface="Calibri"/>
                <a:ea typeface="Calibri"/>
                <a:cs typeface="Calibri"/>
              </a:rPr>
              <a:t>rdf:type</a:t>
            </a:r>
          </a:p>
        </p:txBody>
      </p:sp>
      <p:sp>
        <p:nvSpPr>
          <p:cNvPr id="56" name="label rdf:type"/>
          <p:cNvSpPr txBox="1"/>
          <p:nvPr/>
        </p:nvSpPr>
        <p:spPr>
          <a:xfrm>
            <a:off x="4133784" y="2075674"/>
            <a:ext cx="497433" cy="164592"/>
          </a:xfrm>
          <a:prstGeom prst="rect">
            <a:avLst/>
          </a:prstGeom>
          <a:solidFill>
            <a:srgbClr val="FFFFFF"/>
          </a:solidFill>
        </p:spPr>
        <p:txBody>
          <a:bodyPr wrap="none" lIns="0" rIns="0" tIns="0" bIns="0" anchor="ctr"/>
          <a:lstStyle/>
          <a:p>
            <a:pPr algn="ctr"/>
            <a:r>
              <a:rPr sz="800" i="1" b="0">
                <a:solidFill>
                  <a:schemeClr val="accent1"/>
                </a:solidFill>
                <a:latin typeface="Calibri"/>
                <a:ea typeface="Calibri"/>
                <a:cs typeface="Calibri"/>
              </a:rPr>
              <a:t>rdf:type</a:t>
            </a:r>
          </a:p>
        </p:txBody>
      </p:sp>
      <p:sp>
        <p:nvSpPr>
          <p:cNvPr id="57" name="label rdf:type"/>
          <p:cNvSpPr txBox="1"/>
          <p:nvPr/>
        </p:nvSpPr>
        <p:spPr>
          <a:xfrm>
            <a:off x="6000578" y="2351836"/>
            <a:ext cx="497433" cy="164592"/>
          </a:xfrm>
          <a:prstGeom prst="rect">
            <a:avLst/>
          </a:prstGeom>
          <a:solidFill>
            <a:srgbClr val="FFFFFF"/>
          </a:solidFill>
        </p:spPr>
        <p:txBody>
          <a:bodyPr wrap="none" lIns="0" rIns="0" tIns="0" bIns="0" anchor="ctr"/>
          <a:lstStyle/>
          <a:p>
            <a:pPr algn="ctr"/>
            <a:r>
              <a:rPr sz="800" i="1" b="0">
                <a:solidFill>
                  <a:srgbClr val="8A8984"/>
                </a:solidFill>
                <a:latin typeface="Calibri"/>
                <a:ea typeface="Calibri"/>
                <a:cs typeface="Calibri"/>
              </a:rPr>
              <a:t>rdf:type</a:t>
            </a:r>
          </a:p>
        </p:txBody>
      </p:sp>
      <p:sp>
        <p:nvSpPr>
          <p:cNvPr id="58" name="label rdf:type"/>
          <p:cNvSpPr txBox="1"/>
          <p:nvPr/>
        </p:nvSpPr>
        <p:spPr>
          <a:xfrm>
            <a:off x="7920818" y="2351836"/>
            <a:ext cx="497433" cy="164592"/>
          </a:xfrm>
          <a:prstGeom prst="rect">
            <a:avLst/>
          </a:prstGeom>
          <a:solidFill>
            <a:srgbClr val="FFFFFF"/>
          </a:solidFill>
        </p:spPr>
        <p:txBody>
          <a:bodyPr wrap="none" lIns="0" rIns="0" tIns="0" bIns="0" anchor="ctr"/>
          <a:lstStyle/>
          <a:p>
            <a:pPr algn="ctr"/>
            <a:r>
              <a:rPr sz="800" i="1" b="0">
                <a:solidFill>
                  <a:schemeClr val="accent1"/>
                </a:solidFill>
                <a:latin typeface="Calibri"/>
                <a:ea typeface="Calibri"/>
                <a:cs typeface="Calibri"/>
              </a:rPr>
              <a:t>rdf:type</a:t>
            </a:r>
          </a:p>
        </p:txBody>
      </p:sp>
      <p:sp>
        <p:nvSpPr>
          <p:cNvPr id="59" name="label vio:careerStation"/>
          <p:cNvSpPr txBox="1"/>
          <p:nvPr/>
        </p:nvSpPr>
        <p:spPr>
          <a:xfrm>
            <a:off x="4523822" y="2948025"/>
            <a:ext cx="974750" cy="164592"/>
          </a:xfrm>
          <a:prstGeom prst="rect">
            <a:avLst/>
          </a:prstGeom>
          <a:solidFill>
            <a:srgbClr val="FFFFFF"/>
          </a:solidFill>
        </p:spPr>
        <p:txBody>
          <a:bodyPr wrap="none" lIns="0" rIns="0" tIns="0" bIns="0" anchor="ctr"/>
          <a:lstStyle/>
          <a:p>
            <a:pPr algn="ctr"/>
            <a:r>
              <a:rPr sz="800" i="1" b="0">
                <a:solidFill>
                  <a:srgbClr val="737373"/>
                </a:solidFill>
                <a:latin typeface="Calibri"/>
                <a:ea typeface="Calibri"/>
                <a:cs typeface="Calibri"/>
              </a:rPr>
              <a:t>vio:careerStation</a:t>
            </a:r>
          </a:p>
        </p:txBody>
      </p:sp>
      <p:sp>
        <p:nvSpPr>
          <p:cNvPr id="60" name="label vio:team"/>
          <p:cNvSpPr txBox="1"/>
          <p:nvPr/>
        </p:nvSpPr>
        <p:spPr>
          <a:xfrm>
            <a:off x="6474237" y="2948025"/>
            <a:ext cx="497433" cy="164592"/>
          </a:xfrm>
          <a:prstGeom prst="rect">
            <a:avLst/>
          </a:prstGeom>
          <a:solidFill>
            <a:srgbClr val="FFFFFF"/>
          </a:solidFill>
        </p:spPr>
        <p:txBody>
          <a:bodyPr wrap="none" lIns="0" rIns="0" tIns="0" bIns="0" anchor="ctr"/>
          <a:lstStyle/>
          <a:p>
            <a:pPr algn="ctr"/>
            <a:r>
              <a:rPr sz="800" i="1" b="0">
                <a:solidFill>
                  <a:srgbClr val="737373"/>
                </a:solidFill>
                <a:latin typeface="Calibri"/>
                <a:ea typeface="Calibri"/>
                <a:cs typeface="Calibri"/>
              </a:rPr>
              <a:t>vio:team</a:t>
            </a:r>
          </a:p>
        </p:txBody>
      </p:sp>
      <p:sp>
        <p:nvSpPr>
          <p:cNvPr id="61" name="label vio:playedFor"/>
          <p:cNvSpPr txBox="1"/>
          <p:nvPr/>
        </p:nvSpPr>
        <p:spPr>
          <a:xfrm>
            <a:off x="4507096" y="2187244"/>
            <a:ext cx="762609" cy="164592"/>
          </a:xfrm>
          <a:prstGeom prst="rect">
            <a:avLst/>
          </a:prstGeom>
          <a:solidFill>
            <a:srgbClr val="FFFFFF"/>
          </a:solidFill>
        </p:spPr>
        <p:txBody>
          <a:bodyPr wrap="none" lIns="0" rIns="0" tIns="0" bIns="0" anchor="ctr"/>
          <a:lstStyle/>
          <a:p>
            <a:pPr algn="ctr"/>
            <a:r>
              <a:rPr sz="800" i="1" b="0">
                <a:solidFill>
                  <a:schemeClr val="accent1"/>
                </a:solidFill>
                <a:latin typeface="Calibri"/>
                <a:ea typeface="Calibri"/>
                <a:cs typeface="Calibri"/>
              </a:rPr>
              <a:t>vio:playedFor</a:t>
            </a:r>
          </a:p>
        </p:txBody>
      </p:sp>
      <p:sp>
        <p:nvSpPr>
          <p:cNvPr id="62" name="label rdfs:label"/>
          <p:cNvSpPr txBox="1"/>
          <p:nvPr/>
        </p:nvSpPr>
        <p:spPr>
          <a:xfrm>
            <a:off x="2079621" y="2781408"/>
            <a:ext cx="603504" cy="164592"/>
          </a:xfrm>
          <a:prstGeom prst="rect">
            <a:avLst/>
          </a:prstGeom>
          <a:solidFill>
            <a:srgbClr val="FFFFFF"/>
          </a:solidFill>
        </p:spPr>
        <p:txBody>
          <a:bodyPr wrap="none" lIns="0" rIns="0" tIns="0" bIns="0" anchor="ctr"/>
          <a:lstStyle/>
          <a:p>
            <a:pPr algn="ctr"/>
            <a:r>
              <a:rPr sz="800" i="1" b="0">
                <a:solidFill>
                  <a:srgbClr val="737373"/>
                </a:solidFill>
                <a:latin typeface="Calibri"/>
                <a:ea typeface="Calibri"/>
                <a:cs typeface="Calibri"/>
              </a:rPr>
              <a:t>rdfs:label</a:t>
            </a:r>
          </a:p>
        </p:txBody>
      </p:sp>
      <p:sp>
        <p:nvSpPr>
          <p:cNvPr id="63" name="label vio:birthDate"/>
          <p:cNvSpPr txBox="1"/>
          <p:nvPr/>
        </p:nvSpPr>
        <p:spPr>
          <a:xfrm>
            <a:off x="1984352" y="3354737"/>
            <a:ext cx="762609" cy="164592"/>
          </a:xfrm>
          <a:prstGeom prst="rect">
            <a:avLst/>
          </a:prstGeom>
          <a:solidFill>
            <a:srgbClr val="FFFFFF"/>
          </a:solidFill>
        </p:spPr>
        <p:txBody>
          <a:bodyPr wrap="none" lIns="0" rIns="0" tIns="0" bIns="0" anchor="ctr"/>
          <a:lstStyle/>
          <a:p>
            <a:pPr algn="ctr"/>
            <a:r>
              <a:rPr sz="800" i="1" b="0">
                <a:solidFill>
                  <a:srgbClr val="737373"/>
                </a:solidFill>
                <a:latin typeface="Calibri"/>
                <a:ea typeface="Calibri"/>
                <a:cs typeface="Calibri"/>
              </a:rPr>
              <a:t>vio:birthDate</a:t>
            </a:r>
          </a:p>
        </p:txBody>
      </p:sp>
      <p:sp>
        <p:nvSpPr>
          <p:cNvPr id="64" name="label vio:birthProvince"/>
          <p:cNvSpPr txBox="1"/>
          <p:nvPr/>
        </p:nvSpPr>
        <p:spPr>
          <a:xfrm>
            <a:off x="1949975" y="3667310"/>
            <a:ext cx="974750" cy="164592"/>
          </a:xfrm>
          <a:prstGeom prst="rect">
            <a:avLst/>
          </a:prstGeom>
          <a:solidFill>
            <a:srgbClr val="FFFFFF"/>
          </a:solidFill>
        </p:spPr>
        <p:txBody>
          <a:bodyPr wrap="none" lIns="0" rIns="0" tIns="0" bIns="0" anchor="ctr"/>
          <a:lstStyle/>
          <a:p>
            <a:pPr algn="ctr"/>
            <a:r>
              <a:rPr sz="800" i="1" b="0">
                <a:solidFill>
                  <a:srgbClr val="737373"/>
                </a:solidFill>
                <a:latin typeface="Calibri"/>
                <a:ea typeface="Calibri"/>
                <a:cs typeface="Calibri"/>
              </a:rPr>
              <a:t>vio:birthProvince</a:t>
            </a:r>
          </a:p>
        </p:txBody>
      </p:sp>
      <p:sp>
        <p:nvSpPr>
          <p:cNvPr id="65" name="label owl:sameAs"/>
          <p:cNvSpPr txBox="1"/>
          <p:nvPr/>
        </p:nvSpPr>
        <p:spPr>
          <a:xfrm>
            <a:off x="3440258" y="3781959"/>
            <a:ext cx="603504" cy="164592"/>
          </a:xfrm>
          <a:prstGeom prst="rect">
            <a:avLst/>
          </a:prstGeom>
          <a:solidFill>
            <a:srgbClr val="FFFFFF"/>
          </a:solidFill>
        </p:spPr>
        <p:txBody>
          <a:bodyPr wrap="none" lIns="0" rIns="0" tIns="0" bIns="0" anchor="ctr"/>
          <a:lstStyle/>
          <a:p>
            <a:pPr algn="ctr"/>
            <a:r>
              <a:rPr sz="800" i="1" b="0">
                <a:solidFill>
                  <a:schemeClr val="accent2"/>
                </a:solidFill>
                <a:latin typeface="Calibri"/>
                <a:ea typeface="Calibri"/>
                <a:cs typeface="Calibri"/>
              </a:rPr>
              <a:t>owl:sameAs</a:t>
            </a:r>
          </a:p>
        </p:txBody>
      </p:sp>
      <p:sp>
        <p:nvSpPr>
          <p:cNvPr id="66" name="label owl:sameAs"/>
          <p:cNvSpPr txBox="1"/>
          <p:nvPr/>
        </p:nvSpPr>
        <p:spPr>
          <a:xfrm>
            <a:off x="4019496" y="3665836"/>
            <a:ext cx="603504" cy="164592"/>
          </a:xfrm>
          <a:prstGeom prst="rect">
            <a:avLst/>
          </a:prstGeom>
          <a:solidFill>
            <a:srgbClr val="FFFFFF"/>
          </a:solidFill>
        </p:spPr>
        <p:txBody>
          <a:bodyPr wrap="none" lIns="0" rIns="0" tIns="0" bIns="0" anchor="ctr"/>
          <a:lstStyle/>
          <a:p>
            <a:pPr algn="ctr"/>
            <a:r>
              <a:rPr sz="800" i="1" b="0">
                <a:solidFill>
                  <a:schemeClr val="accent2"/>
                </a:solidFill>
                <a:latin typeface="Calibri"/>
                <a:ea typeface="Calibri"/>
                <a:cs typeface="Calibri"/>
              </a:rPr>
              <a:t>owl:sameAs</a:t>
            </a:r>
          </a:p>
        </p:txBody>
      </p:sp>
      <p:sp>
        <p:nvSpPr>
          <p:cNvPr id="67" name="label vio:startYear"/>
          <p:cNvSpPr txBox="1"/>
          <p:nvPr/>
        </p:nvSpPr>
        <p:spPr>
          <a:xfrm>
            <a:off x="4927632" y="3534625"/>
            <a:ext cx="762609" cy="164592"/>
          </a:xfrm>
          <a:prstGeom prst="rect">
            <a:avLst/>
          </a:prstGeom>
          <a:solidFill>
            <a:srgbClr val="FFFFFF"/>
          </a:solidFill>
        </p:spPr>
        <p:txBody>
          <a:bodyPr wrap="none" lIns="0" rIns="0" tIns="0" bIns="0" anchor="ctr"/>
          <a:lstStyle/>
          <a:p>
            <a:pPr algn="ctr"/>
            <a:r>
              <a:rPr sz="800" i="1" b="0">
                <a:solidFill>
                  <a:srgbClr val="737373"/>
                </a:solidFill>
                <a:latin typeface="Calibri"/>
                <a:ea typeface="Calibri"/>
                <a:cs typeface="Calibri"/>
              </a:rPr>
              <a:t>vio:startYear</a:t>
            </a:r>
          </a:p>
        </p:txBody>
      </p:sp>
      <p:sp>
        <p:nvSpPr>
          <p:cNvPr id="68" name="label vio:onLoan"/>
          <p:cNvSpPr txBox="1"/>
          <p:nvPr/>
        </p:nvSpPr>
        <p:spPr>
          <a:xfrm>
            <a:off x="6246774" y="3361400"/>
            <a:ext cx="603504" cy="164592"/>
          </a:xfrm>
          <a:prstGeom prst="rect">
            <a:avLst/>
          </a:prstGeom>
          <a:solidFill>
            <a:srgbClr val="FFFFFF"/>
          </a:solidFill>
        </p:spPr>
        <p:txBody>
          <a:bodyPr wrap="none" lIns="0" rIns="0" tIns="0" bIns="0" anchor="ctr"/>
          <a:lstStyle/>
          <a:p>
            <a:pPr algn="ctr"/>
            <a:r>
              <a:rPr sz="800" i="1" b="0">
                <a:solidFill>
                  <a:srgbClr val="737373"/>
                </a:solidFill>
                <a:latin typeface="Calibri"/>
                <a:ea typeface="Calibri"/>
                <a:cs typeface="Calibri"/>
              </a:rPr>
              <a:t>vio:onLoan</a:t>
            </a:r>
          </a:p>
        </p:txBody>
      </p:sp>
      <p:sp>
        <p:nvSpPr>
          <p:cNvPr id="69" name="label vio:appearances"/>
          <p:cNvSpPr txBox="1"/>
          <p:nvPr/>
        </p:nvSpPr>
        <p:spPr>
          <a:xfrm>
            <a:off x="6630650" y="4116596"/>
            <a:ext cx="868680" cy="164592"/>
          </a:xfrm>
          <a:prstGeom prst="rect">
            <a:avLst/>
          </a:prstGeom>
          <a:solidFill>
            <a:srgbClr val="FFFFFF"/>
          </a:solidFill>
        </p:spPr>
        <p:txBody>
          <a:bodyPr wrap="none" lIns="0" rIns="0" tIns="0" bIns="0" anchor="ctr"/>
          <a:lstStyle/>
          <a:p>
            <a:pPr algn="ctr"/>
            <a:r>
              <a:rPr sz="800" i="1" b="0">
                <a:solidFill>
                  <a:srgbClr val="737373"/>
                </a:solidFill>
                <a:latin typeface="Calibri"/>
                <a:ea typeface="Calibri"/>
                <a:cs typeface="Calibri"/>
              </a:rPr>
              <a:t>vio:appearances</a:t>
            </a:r>
          </a:p>
        </p:txBody>
      </p:sp>
      <p:sp>
        <p:nvSpPr>
          <p:cNvPr id="70" name="Oval 69"/>
          <p:cNvSpPr/>
          <p:nvPr/>
        </p:nvSpPr>
        <p:spPr>
          <a:xfrm>
            <a:off x="502920" y="5010912"/>
            <a:ext cx="384048" cy="219456"/>
          </a:xfrm>
          <a:prstGeom prst="ellipse">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0120" y="5001768"/>
            <a:ext cx="777240" cy="237744"/>
          </a:xfrm>
          <a:prstGeom prst="rect">
            <a:avLst/>
          </a:prstGeom>
          <a:noFill/>
        </p:spPr>
        <p:txBody>
          <a:bodyPr wrap="none" lIns="0" rIns="0" tIns="0" bIns="0" anchor="ctr"/>
          <a:lstStyle/>
          <a:p>
            <a:pPr algn="l"/>
            <a:r>
              <a:rPr sz="1200" i="0" b="0">
                <a:solidFill>
                  <a:schemeClr val="tx1"/>
                </a:solidFill>
                <a:latin typeface="Calibri"/>
                <a:ea typeface="Calibri"/>
                <a:cs typeface="Calibri"/>
              </a:rPr>
              <a:t>resource</a:t>
            </a:r>
          </a:p>
        </p:txBody>
      </p:sp>
      <p:sp>
        <p:nvSpPr>
          <p:cNvPr id="72" name="Rectangle 71"/>
          <p:cNvSpPr/>
          <p:nvPr/>
        </p:nvSpPr>
        <p:spPr>
          <a:xfrm>
            <a:off x="1847088" y="5029200"/>
            <a:ext cx="347472" cy="182880"/>
          </a:xfrm>
          <a:prstGeom prst="rect">
            <a:avLst/>
          </a:prstGeom>
          <a:solidFill>
            <a:srgbClr val="F2F2F2"/>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267712" y="5001768"/>
            <a:ext cx="685800" cy="237744"/>
          </a:xfrm>
          <a:prstGeom prst="rect">
            <a:avLst/>
          </a:prstGeom>
          <a:noFill/>
        </p:spPr>
        <p:txBody>
          <a:bodyPr wrap="none" lIns="0" rIns="0" tIns="0" bIns="0" anchor="ctr"/>
          <a:lstStyle/>
          <a:p>
            <a:pPr algn="l"/>
            <a:r>
              <a:rPr sz="1200" i="0" b="0">
                <a:solidFill>
                  <a:schemeClr val="tx1"/>
                </a:solidFill>
                <a:latin typeface="Calibri"/>
                <a:ea typeface="Calibri"/>
                <a:cs typeface="Calibri"/>
              </a:rPr>
              <a:t>literal</a:t>
            </a:r>
          </a:p>
        </p:txBody>
      </p:sp>
      <p:cxnSp>
        <p:nvCxnSpPr>
          <p:cNvPr id="74" name="Connector 73"/>
          <p:cNvCxnSpPr/>
          <p:nvPr/>
        </p:nvCxnSpPr>
        <p:spPr>
          <a:xfrm>
            <a:off x="3063240" y="5120640"/>
            <a:ext cx="411480" cy="0"/>
          </a:xfrm>
          <a:prstGeom prst="line">
            <a:avLst/>
          </a:prstGeom>
          <a:ln w="12700">
            <a:solidFill>
              <a:srgbClr val="7373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547872" y="5001768"/>
            <a:ext cx="868680" cy="237744"/>
          </a:xfrm>
          <a:prstGeom prst="rect">
            <a:avLst/>
          </a:prstGeom>
          <a:noFill/>
        </p:spPr>
        <p:txBody>
          <a:bodyPr wrap="none" lIns="0" rIns="0" tIns="0" bIns="0" anchor="ctr"/>
          <a:lstStyle/>
          <a:p>
            <a:pPr algn="l"/>
            <a:r>
              <a:rPr sz="1200" i="0" b="0">
                <a:solidFill>
                  <a:schemeClr val="tx1"/>
                </a:solidFill>
                <a:latin typeface="Calibri"/>
                <a:ea typeface="Calibri"/>
                <a:cs typeface="Calibri"/>
              </a:rPr>
              <a:t>asserted</a:t>
            </a:r>
          </a:p>
        </p:txBody>
      </p:sp>
      <p:cxnSp>
        <p:nvCxnSpPr>
          <p:cNvPr id="76" name="Connector 75"/>
          <p:cNvCxnSpPr/>
          <p:nvPr/>
        </p:nvCxnSpPr>
        <p:spPr>
          <a:xfrm>
            <a:off x="4526279" y="5120640"/>
            <a:ext cx="411480" cy="0"/>
          </a:xfrm>
          <a:prstGeom prst="line">
            <a:avLst/>
          </a:prstGeom>
          <a:ln w="19050">
            <a:solidFill>
              <a:schemeClr val="accent1"/>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010912" y="5001768"/>
            <a:ext cx="1691640" cy="237744"/>
          </a:xfrm>
          <a:prstGeom prst="rect">
            <a:avLst/>
          </a:prstGeom>
          <a:noFill/>
        </p:spPr>
        <p:txBody>
          <a:bodyPr wrap="none" lIns="0" rIns="0" tIns="0" bIns="0" anchor="ctr"/>
          <a:lstStyle/>
          <a:p>
            <a:pPr algn="l"/>
            <a:r>
              <a:rPr sz="1200" i="0" b="0">
                <a:solidFill>
                  <a:schemeClr val="tx1"/>
                </a:solidFill>
                <a:latin typeface="Calibri"/>
                <a:ea typeface="Calibri"/>
                <a:cs typeface="Calibri"/>
              </a:rPr>
              <a:t>inferred by OWL 2 RL</a:t>
            </a:r>
          </a:p>
        </p:txBody>
      </p:sp>
      <p:cxnSp>
        <p:nvCxnSpPr>
          <p:cNvPr id="78" name="Connector 77"/>
          <p:cNvCxnSpPr/>
          <p:nvPr/>
        </p:nvCxnSpPr>
        <p:spPr>
          <a:xfrm>
            <a:off x="6812279" y="5120640"/>
            <a:ext cx="411480" cy="0"/>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296912" y="5001768"/>
            <a:ext cx="1828800" cy="237744"/>
          </a:xfrm>
          <a:prstGeom prst="rect">
            <a:avLst/>
          </a:prstGeom>
          <a:noFill/>
        </p:spPr>
        <p:txBody>
          <a:bodyPr wrap="none" lIns="0" rIns="0" tIns="0" bIns="0" anchor="ctr"/>
          <a:lstStyle/>
          <a:p>
            <a:pPr algn="l"/>
            <a:r>
              <a:rPr sz="1200" i="0" b="0">
                <a:solidFill>
                  <a:schemeClr val="tx1"/>
                </a:solidFill>
                <a:latin typeface="Calibri"/>
                <a:ea typeface="Calibri"/>
                <a:cs typeface="Calibri"/>
              </a:rPr>
              <a:t>link to another dataset</a:t>
            </a:r>
          </a:p>
        </p:txBody>
      </p:sp>
      <p:sp>
        <p:nvSpPr>
          <p:cNvPr id="80" name="TextBox 79"/>
          <p:cNvSpPr txBox="1"/>
          <p:nvPr/>
        </p:nvSpPr>
        <p:spPr>
          <a:xfrm>
            <a:off x="457200" y="5468112"/>
            <a:ext cx="8229600" cy="292608"/>
          </a:xfrm>
          <a:prstGeom prst="rect">
            <a:avLst/>
          </a:prstGeom>
          <a:noFill/>
        </p:spPr>
        <p:txBody>
          <a:bodyPr wrap="none" lIns="0" rIns="0" tIns="0" bIns="0" anchor="ctr"/>
          <a:lstStyle/>
          <a:p>
            <a:pPr algn="ctr"/>
            <a:r>
              <a:rPr sz="1300" i="0" b="0">
                <a:solidFill>
                  <a:schemeClr val="tx1"/>
                </a:solidFill>
                <a:latin typeface="Calibri"/>
                <a:ea typeface="Calibri"/>
                <a:cs typeface="Calibri"/>
              </a:rPr>
              <a:t>1 of the player's 11 career stations (the 2016 loan of slide 9)  ·  lecture notation (02_RDF): ellipse = resource, rectangle = literal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Validation and OWL 2 RL Reasoning</a:t>
            </a:r>
            <a:endParaRPr lang="en-US" sz="2600" dirty="0"/>
          </a:p>
        </p:txBody>
      </p:sp>
      <p:sp>
        <p:nvSpPr>
          <p:cNvPr id="4" name="Text 1"/>
          <p:cNvSpPr txBox="1"/>
          <p:nvPr/>
        </p:nvSpPr>
        <p:spPr>
          <a:xfrm>
            <a:off x="457200" y="987552"/>
            <a:ext cx="3520440" cy="365760"/>
          </a:xfrm>
          <a:prstGeom prst="rect">
            <a:avLst/>
          </a:prstGeom>
          <a:noFill/>
          <a:ln/>
        </p:spPr>
        <p:txBody>
          <a:bodyPr wrap="square" lIns="38100" tIns="38100" rIns="38100" bIns="3810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8 checks before export</a:t>
            </a:r>
            <a:endParaRPr lang="en-US" sz="2000" dirty="0"/>
          </a:p>
        </p:txBody>
      </p:sp>
      <p:sp>
        <p:nvSpPr>
          <p:cNvPr id="5" name="Text 2"/>
          <p:cNvSpPr txBox="1"/>
          <p:nvPr/>
        </p:nvSpPr>
        <p:spPr>
          <a:xfrm>
            <a:off x="457200" y="1371600"/>
            <a:ext cx="3520440" cy="1691640"/>
          </a:xfrm>
          <a:prstGeom prst="rect">
            <a:avLst/>
          </a:prstGeom>
          <a:noFill/>
          <a:ln/>
        </p:spPr>
        <p:txBody>
          <a:bodyPr wrap="square" lIns="38100" tIns="38100" rIns="38100" bIns="38100" rtlCol="0" anchor="t"/>
          <a:lstStyle/>
          <a:p>
            <a:pPr indent="0" marL="0">
              <a:buNone/>
            </a:pPr>
            <a:r>
              <a:rPr lang="en-US" sz="1500" dirty="0">
                <a:solidFill>
                  <a:schemeClr val="tx1"/>
                </a:solidFill>
                <a:latin typeface="Calibri" pitchFamily="34" charset="0"/>
                <a:ea typeface="Calibri" pitchFamily="34" charset="-122"/>
                <a:cs typeface="Calibri" pitchFamily="34" charset="-120"/>
              </a:rPr>
              <a:t>TBox (kinds, declared terms, </a:t>
            </a:r>
            <a:pPr indent="0" marL="0">
              <a:buNone/>
            </a:pPr>
            <a:r>
              <a:rPr lang="en-US" sz="1500" dirty="0">
                <a:solidFill>
                  <a:schemeClr val="tx1"/>
                </a:solidFill>
                <a:latin typeface="Consolas" pitchFamily="34" charset="0"/>
                <a:ea typeface="Consolas" pitchFamily="34" charset="-122"/>
                <a:cs typeface="Consolas" pitchFamily="34" charset="-120"/>
              </a:rPr>
              <a:t>dbo:</a:t>
            </a:r>
            <a:pPr indent="0" marL="0">
              <a:buNone/>
            </a:pPr>
            <a:r>
              <a:rPr lang="en-US" sz="1500" dirty="0">
                <a:solidFill>
                  <a:schemeClr val="tx1"/>
                </a:solidFill>
                <a:latin typeface="Calibri" pitchFamily="34" charset="0"/>
                <a:ea typeface="Calibri" pitchFamily="34" charset="-122"/>
                <a:cs typeface="Calibri" pitchFamily="34" charset="-120"/>
              </a:rPr>
              <a:t> ancestors, labels, isDefinedBy, names)  ·  object vs. datatype values  ·  literal ranges  ·  required fields  ·  functional properties  ·  object ranges  ·  </a:t>
            </a:r>
            <a:pPr indent="0" marL="0">
              <a:buNone/>
            </a:pPr>
            <a:r>
              <a:rPr lang="en-US" sz="1500" dirty="0">
                <a:solidFill>
                  <a:schemeClr val="tx1"/>
                </a:solidFill>
                <a:latin typeface="Consolas" pitchFamily="34" charset="0"/>
                <a:ea typeface="Consolas" pitchFamily="34" charset="-122"/>
                <a:cs typeface="Consolas" pitchFamily="34" charset="-120"/>
              </a:rPr>
              <a:t>owl:sameAs</a:t>
            </a:r>
            <a:pPr indent="0" marL="0">
              <a:buNone/>
            </a:pPr>
            <a:r>
              <a:rPr lang="en-US" sz="1500" dirty="0">
                <a:solidFill>
                  <a:schemeClr val="tx1"/>
                </a:solidFill>
                <a:latin typeface="Calibri" pitchFamily="34" charset="0"/>
                <a:ea typeface="Calibri" pitchFamily="34" charset="-122"/>
                <a:cs typeface="Calibri" pitchFamily="34" charset="-120"/>
              </a:rPr>
              <a:t> targets  ·  plausible values</a:t>
            </a:r>
            <a:endParaRPr lang="en-US" sz="1500" dirty="0"/>
          </a:p>
        </p:txBody>
      </p:sp>
      <p:sp>
        <p:nvSpPr>
          <p:cNvPr id="6" name="Text 3"/>
          <p:cNvSpPr txBox="1"/>
          <p:nvPr/>
        </p:nvSpPr>
        <p:spPr>
          <a:xfrm>
            <a:off x="457200" y="3154680"/>
            <a:ext cx="3520440" cy="731520"/>
          </a:xfrm>
          <a:prstGeom prst="rect">
            <a:avLst/>
          </a:prstGeom>
          <a:noFill/>
          <a:ln/>
        </p:spPr>
        <p:txBody>
          <a:bodyPr wrap="square" lIns="38100" tIns="38100" rIns="38100" bIns="38100" rtlCol="0" anchor="t"/>
          <a:lstStyle/>
          <a:p>
            <a:pPr indent="0" marL="0">
              <a:buNone/>
            </a:pPr>
            <a:r>
              <a:rPr lang="en-US" sz="2000" dirty="0">
                <a:solidFill>
                  <a:schemeClr val="accent1"/>
                </a:solidFill>
                <a:latin typeface="Calibri" pitchFamily="34" charset="0"/>
                <a:ea typeface="Calibri" pitchFamily="34" charset="-122"/>
                <a:cs typeface="Calibri" pitchFamily="34" charset="-120"/>
              </a:rPr>
              <a:t>0 errors, 0 warnings</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152 tests pass</a:t>
            </a:r>
            <a:endParaRPr lang="en-US" sz="2000" dirty="0"/>
          </a:p>
        </p:txBody>
      </p:sp>
      <p:sp>
        <p:nvSpPr>
          <p:cNvPr id="7" name="Text 4"/>
          <p:cNvSpPr txBox="1"/>
          <p:nvPr/>
        </p:nvSpPr>
        <p:spPr>
          <a:xfrm>
            <a:off x="4160520" y="987552"/>
            <a:ext cx="4526280" cy="365760"/>
          </a:xfrm>
          <a:prstGeom prst="rect">
            <a:avLst/>
          </a:prstGeom>
          <a:noFill/>
          <a:ln/>
        </p:spPr>
        <p:txBody>
          <a:bodyPr wrap="square" lIns="38100" tIns="38100" rIns="38100" bIns="3810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What reasoning adds</a:t>
            </a:r>
            <a:pPr indent="0" marL="0">
              <a:buNone/>
            </a:pPr>
            <a:r>
              <a:rPr lang="en-US" sz="1400" dirty="0">
                <a:solidFill>
                  <a:schemeClr val="tx1"/>
                </a:solidFill>
                <a:latin typeface="Calibri" pitchFamily="34" charset="0"/>
                <a:ea typeface="Calibri" pitchFamily="34" charset="-122"/>
                <a:cs typeface="Calibri" pitchFamily="34" charset="-120"/>
              </a:rPr>
              <a:t>  (+41,730 triples, 35 s)</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60520" y="1389888"/>
          <a:ext cx="4526280" cy="914400"/>
        </p:xfrm>
        <a:graphic>
          <a:graphicData uri="http://schemas.openxmlformats.org/drawingml/2006/table">
            <a:tbl>
              <a:tblPr/>
              <a:tblGrid>
                <a:gridCol w="2697480"/>
                <a:gridCol w="868680"/>
                <a:gridCol w="960120"/>
              </a:tblGrid>
              <a:tr h="29260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Query</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Asserted</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Published</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r>
              <a:tr h="292608">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?x a dbo:Person</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500" dirty="0">
                          <a:solidFill>
                            <a:schemeClr val="accent1"/>
                          </a:solidFill>
                          <a:latin typeface="Calibri" pitchFamily="34" charset="0"/>
                          <a:ea typeface="Calibri" pitchFamily="34" charset="-122"/>
                          <a:cs typeface="Calibri" pitchFamily="34" charset="-120"/>
                        </a:rPr>
                        <a:t>659</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r>
              <a:tr h="292608">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?x a dbo:SoccerPlayer</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611</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?x a dbo:Place</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370</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?x vio:playedFor ?t</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accent1"/>
                          </a:solidFill>
                          <a:latin typeface="Calibri" pitchFamily="34" charset="0"/>
                          <a:ea typeface="Calibri" pitchFamily="34" charset="-122"/>
                          <a:cs typeface="Calibri" pitchFamily="34" charset="-120"/>
                        </a:rPr>
                        <a:t>2,772</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?t vio:hasPlayer ?x</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2,772</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?x dbo:team ?t</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3,699</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160520" y="3611880"/>
            <a:ext cx="4526280" cy="566928"/>
          </a:xfrm>
          <a:prstGeom prst="rect">
            <a:avLst/>
          </a:prstGeom>
          <a:noFill/>
          <a:ln/>
        </p:spPr>
        <p:txBody>
          <a:bodyPr wrap="square" lIns="38100" tIns="38100" rIns="38100" bIns="38100" rtlCol="0" anchor="t"/>
          <a:lstStyle/>
          <a:p>
            <a:pPr indent="0" marL="0">
              <a:buNone/>
            </a:pPr>
            <a:r>
              <a:rPr lang="en-US" sz="1400" dirty="0">
                <a:solidFill>
                  <a:schemeClr val="tx1"/>
                </a:solidFill>
                <a:latin typeface="Calibri" pitchFamily="34" charset="0"/>
                <a:ea typeface="Calibri" pitchFamily="34" charset="-122"/>
                <a:cs typeface="Calibri" pitchFamily="34" charset="-120"/>
              </a:rPr>
              <a:t>Input: types and </a:t>
            </a:r>
            <a:pPr indent="0" marL="0">
              <a:buNone/>
            </a:pPr>
            <a:r>
              <a:rPr lang="en-US" sz="1400" dirty="0">
                <a:solidFill>
                  <a:schemeClr val="tx1"/>
                </a:solidFill>
                <a:latin typeface="Consolas" pitchFamily="34" charset="0"/>
                <a:ea typeface="Consolas" pitchFamily="34" charset="-122"/>
                <a:cs typeface="Consolas" pitchFamily="34" charset="-120"/>
              </a:rPr>
              <a:t>vio:</a:t>
            </a:r>
            <a:pPr indent="0" marL="0">
              <a:buNone/>
            </a:pPr>
            <a:r>
              <a:rPr lang="en-US" sz="1400" dirty="0">
                <a:solidFill>
                  <a:schemeClr val="tx1"/>
                </a:solidFill>
                <a:latin typeface="Calibri" pitchFamily="34" charset="0"/>
                <a:ea typeface="Calibri" pitchFamily="34" charset="-122"/>
                <a:cs typeface="Calibri" pitchFamily="34" charset="-120"/>
              </a:rPr>
              <a:t> triples only; no </a:t>
            </a:r>
            <a:pPr indent="0" marL="0">
              <a:buNone/>
            </a:pPr>
            <a:r>
              <a:rPr lang="en-US" sz="1400" dirty="0">
                <a:solidFill>
                  <a:schemeClr val="tx1"/>
                </a:solidFill>
                <a:latin typeface="Consolas" pitchFamily="34" charset="0"/>
                <a:ea typeface="Consolas" pitchFamily="34" charset="-122"/>
                <a:cs typeface="Consolas" pitchFamily="34" charset="-120"/>
              </a:rPr>
              <a:t>sameAs</a:t>
            </a:r>
            <a:pPr indent="0" marL="0">
              <a:buNone/>
            </a:pPr>
            <a:r>
              <a:rPr lang="en-US" sz="1400" dirty="0">
                <a:solidFill>
                  <a:schemeClr val="tx1"/>
                </a:solidFill>
                <a:latin typeface="Calibri" pitchFamily="34" charset="0"/>
                <a:ea typeface="Calibri" pitchFamily="34" charset="-122"/>
                <a:cs typeface="Calibri" pitchFamily="34" charset="-120"/>
              </a:rPr>
              <a:t>, functional or cardinality axioms</a:t>
            </a:r>
            <a:endParaRPr lang="en-US" sz="1400" dirty="0"/>
          </a:p>
        </p:txBody>
      </p:sp>
      <p:sp>
        <p:nvSpPr>
          <p:cNvPr id="10" name="Shape 6"/>
          <p:cNvSpPr/>
          <p:nvPr/>
        </p:nvSpPr>
        <p:spPr>
          <a:xfrm>
            <a:off x="457200" y="4370832"/>
            <a:ext cx="8229600" cy="1691640"/>
          </a:xfrm>
          <a:prstGeom prst="roundRect">
            <a:avLst>
              <a:gd name="adj" fmla="val 3784"/>
            </a:avLst>
          </a:prstGeom>
          <a:solidFill>
            <a:schemeClr val="bg2"/>
          </a:solidFill>
          <a:ln/>
        </p:spPr>
      </p:sp>
      <p:sp>
        <p:nvSpPr>
          <p:cNvPr id="11" name="Shape 7"/>
          <p:cNvSpPr/>
          <p:nvPr/>
        </p:nvSpPr>
        <p:spPr>
          <a:xfrm>
            <a:off x="457200" y="4370832"/>
            <a:ext cx="8229600" cy="384048"/>
          </a:xfrm>
          <a:prstGeom prst="roundRect">
            <a:avLst>
              <a:gd name="adj" fmla="val 16667"/>
            </a:avLst>
          </a:prstGeom>
          <a:solidFill>
            <a:schemeClr val="accent1"/>
          </a:solidFill>
          <a:ln/>
        </p:spPr>
      </p:sp>
      <p:sp>
        <p:nvSpPr>
          <p:cNvPr id="12" name="Shape 8"/>
          <p:cNvSpPr/>
          <p:nvPr/>
        </p:nvSpPr>
        <p:spPr>
          <a:xfrm>
            <a:off x="457200" y="4562856"/>
            <a:ext cx="8229600" cy="192024"/>
          </a:xfrm>
          <a:prstGeom prst="rect">
            <a:avLst/>
          </a:prstGeom>
          <a:solidFill>
            <a:schemeClr val="accent1"/>
          </a:solidFill>
          <a:ln/>
        </p:spPr>
      </p:sp>
      <p:sp>
        <p:nvSpPr>
          <p:cNvPr id="13" name="Text 9"/>
          <p:cNvSpPr txBox="1"/>
          <p:nvPr/>
        </p:nvSpPr>
        <p:spPr>
          <a:xfrm>
            <a:off x="548640" y="4370832"/>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Reasoning caught two modelling bugs</a:t>
            </a:r>
            <a:endParaRPr lang="en-US" sz="1900" dirty="0"/>
          </a:p>
        </p:txBody>
      </p:sp>
      <p:sp>
        <p:nvSpPr>
          <p:cNvPr id="14" name="Text 10"/>
          <p:cNvSpPr txBox="1"/>
          <p:nvPr/>
        </p:nvSpPr>
        <p:spPr>
          <a:xfrm>
            <a:off x="548640" y="4800600"/>
            <a:ext cx="8046720" cy="1216152"/>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(1) National teams inferred as </a:t>
            </a:r>
            <a:pPr indent="0" marL="0">
              <a:buNone/>
            </a:pPr>
            <a:r>
              <a:rPr lang="en-US" sz="1500" i="1" dirty="0">
                <a:solidFill>
                  <a:schemeClr val="tx1"/>
                </a:solidFill>
                <a:latin typeface="Calibri" pitchFamily="34" charset="0"/>
                <a:ea typeface="Calibri" pitchFamily="34" charset="-122"/>
                <a:cs typeface="Calibri" pitchFamily="34" charset="-120"/>
              </a:rPr>
              <a:t>clubs</a:t>
            </a:r>
            <a:pPr indent="0" marL="0">
              <a:buNone/>
            </a:pPr>
            <a:r>
              <a:rPr lang="en-US" sz="1500" dirty="0">
                <a:solidFill>
                  <a:schemeClr val="tx1"/>
                </a:solidFill>
                <a:latin typeface="Calibri" pitchFamily="34" charset="0"/>
                <a:ea typeface="Calibri" pitchFamily="34" charset="-122"/>
                <a:cs typeface="Calibri" pitchFamily="34" charset="-120"/>
              </a:rPr>
              <a:t>, a disjointness violation → domain of </a:t>
            </a:r>
            <a:pPr indent="0" marL="0">
              <a:buNone/>
            </a:pPr>
            <a:r>
              <a:rPr lang="en-US" sz="1500" dirty="0">
                <a:solidFill>
                  <a:schemeClr val="tx1"/>
                </a:solidFill>
                <a:latin typeface="Consolas" pitchFamily="34" charset="0"/>
                <a:ea typeface="Consolas" pitchFamily="34" charset="-122"/>
                <a:cs typeface="Consolas" pitchFamily="34" charset="-120"/>
              </a:rPr>
              <a:t>ground</a:t>
            </a:r>
            <a:pPr indent="0" marL="0">
              <a:buNone/>
            </a:pPr>
            <a:r>
              <a:rPr lang="en-US" sz="1500" dirty="0">
                <a:solidFill>
                  <a:schemeClr val="tx1"/>
                </a:solidFill>
                <a:latin typeface="Calibri" pitchFamily="34" charset="0"/>
                <a:ea typeface="Calibri" pitchFamily="34" charset="-122"/>
                <a:cs typeface="Calibri" pitchFamily="34" charset="-120"/>
              </a:rPr>
              <a:t>/</a:t>
            </a:r>
            <a:pPr indent="0" marL="0">
              <a:buNone/>
            </a:pPr>
            <a:r>
              <a:rPr lang="en-US" sz="1500" dirty="0">
                <a:solidFill>
                  <a:schemeClr val="tx1"/>
                </a:solidFill>
                <a:latin typeface="Consolas" pitchFamily="34" charset="0"/>
                <a:ea typeface="Consolas" pitchFamily="34" charset="-122"/>
                <a:cs typeface="Consolas" pitchFamily="34" charset="-120"/>
              </a:rPr>
              <a:t>manager</a:t>
            </a:r>
            <a:pPr indent="0" marL="0">
              <a:buNone/>
            </a:pPr>
            <a:r>
              <a:rPr lang="en-US" sz="1500" dirty="0">
                <a:solidFill>
                  <a:schemeClr val="tx1"/>
                </a:solidFill>
                <a:latin typeface="Calibri" pitchFamily="34" charset="0"/>
                <a:ea typeface="Calibri" pitchFamily="34" charset="-122"/>
                <a:cs typeface="Calibri" pitchFamily="34" charset="-120"/>
              </a:rPr>
              <a:t> changed to </a:t>
            </a:r>
            <a:pPr indent="0" marL="0">
              <a:buNone/>
            </a:pPr>
            <a:r>
              <a:rPr lang="en-US" sz="1500" dirty="0">
                <a:solidFill>
                  <a:schemeClr val="tx1"/>
                </a:solidFill>
                <a:latin typeface="Consolas" pitchFamily="34" charset="0"/>
                <a:ea typeface="Consolas" pitchFamily="34" charset="-122"/>
                <a:cs typeface="Consolas" pitchFamily="34" charset="-120"/>
              </a:rPr>
              <a:t>Organisation</a:t>
            </a:r>
            <a:pPr indent="0" marL="0">
              <a:buNone/>
            </a:pPr>
            <a:r>
              <a:rPr lang="en-US" sz="1500" dirty="0">
                <a:solidFill>
                  <a:schemeClr val="tx1"/>
                </a:solidFill>
                <a:latin typeface="Calibri" pitchFamily="34" charset="0"/>
                <a:ea typeface="Calibri" pitchFamily="34" charset="-122"/>
                <a:cs typeface="Calibri" pitchFamily="34" charset="-120"/>
              </a:rPr>
              <a:t>.</a:t>
            </a:r>
            <a:endParaRPr lang="en-US" sz="15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(2) “Clubs at home in Hà Nội” returned clubs from Đà Nẵng → removed </a:t>
            </a:r>
            <a:pPr indent="0" marL="0">
              <a:buNone/>
            </a:pPr>
            <a:r>
              <a:rPr lang="en-US" sz="1500" dirty="0">
                <a:solidFill>
                  <a:schemeClr val="tx1"/>
                </a:solidFill>
                <a:latin typeface="Consolas" pitchFamily="34" charset="0"/>
                <a:ea typeface="Consolas" pitchFamily="34" charset="-122"/>
                <a:cs typeface="Consolas" pitchFamily="34" charset="-120"/>
              </a:rPr>
              <a:t>tenant</a:t>
            </a:r>
            <a:pPr indent="0" marL="0">
              <a:buNone/>
            </a:pPr>
            <a:r>
              <a:rPr lang="en-US" sz="1500" dirty="0">
                <a:solidFill>
                  <a:schemeClr val="tx1"/>
                </a:solidFill>
                <a:latin typeface="Cambria Math" pitchFamily="34" charset="0"/>
                <a:ea typeface="Cambria Math" pitchFamily="34" charset="-122"/>
                <a:cs typeface="Cambria Math" pitchFamily="34" charset="-120"/>
              </a:rPr>
              <a:t> ≡ </a:t>
            </a:r>
            <a:pPr indent="0" marL="0">
              <a:buNone/>
            </a:pPr>
            <a:r>
              <a:rPr lang="en-US" sz="1500" dirty="0">
                <a:solidFill>
                  <a:schemeClr val="tx1"/>
                </a:solidFill>
                <a:latin typeface="Consolas" pitchFamily="34" charset="0"/>
                <a:ea typeface="Consolas" pitchFamily="34" charset="-122"/>
                <a:cs typeface="Consolas" pitchFamily="34" charset="-120"/>
              </a:rPr>
              <a:t>ground</a:t>
            </a:r>
            <a:pPr indent="0" marL="0">
              <a:buNone/>
            </a:pPr>
            <a:r>
              <a:rPr lang="en-US" sz="1500" dirty="0">
                <a:solidFill>
                  <a:schemeClr val="tx1"/>
                </a:solidFill>
                <a:latin typeface="Cambria Math" pitchFamily="34" charset="0"/>
                <a:ea typeface="Cambria Math" pitchFamily="34" charset="-122"/>
                <a:cs typeface="Cambria Math" pitchFamily="34" charset="-120"/>
              </a:rPr>
              <a:t>⁻</a:t>
            </a:r>
            <a:pPr indent="0" marL="0">
              <a:buNone/>
            </a:pPr>
            <a:r>
              <a:rPr lang="en-US" sz="1500" dirty="0">
                <a:solidFill>
                  <a:schemeClr val="tx1"/>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Linking to English DBpedia (5★)</a:t>
            </a:r>
            <a:endParaRPr lang="en-US" sz="2600" dirty="0"/>
          </a:p>
        </p:txBody>
      </p:sp>
      <p:sp>
        <p:nvSpPr>
          <p:cNvPr id="4" name="Text 1"/>
          <p:cNvSpPr txBox="1"/>
          <p:nvPr/>
        </p:nvSpPr>
        <p:spPr>
          <a:xfrm>
            <a:off x="457200" y="987552"/>
            <a:ext cx="4023360" cy="365760"/>
          </a:xfrm>
          <a:prstGeom prst="rect">
            <a:avLst/>
          </a:prstGeom>
          <a:noFill/>
          <a:ln/>
        </p:spPr>
        <p:txBody>
          <a:bodyPr wrap="square" lIns="38100" tIns="38100" rIns="38100" bIns="3810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How</a:t>
            </a:r>
            <a:endParaRPr lang="en-US" sz="2000" dirty="0"/>
          </a:p>
        </p:txBody>
      </p:sp>
      <p:sp>
        <p:nvSpPr>
          <p:cNvPr id="5" name="Text 2"/>
          <p:cNvSpPr txBox="1"/>
          <p:nvPr/>
        </p:nvSpPr>
        <p:spPr>
          <a:xfrm>
            <a:off x="457200" y="1353312"/>
            <a:ext cx="4023360" cy="2331720"/>
          </a:xfrm>
          <a:prstGeom prst="rect">
            <a:avLst/>
          </a:prstGeom>
          <a:noFill/>
          <a:ln/>
        </p:spPr>
        <p:txBody>
          <a:bodyPr wrap="square" lIns="38100" tIns="38100" rIns="38100" bIns="38100" rtlCol="0" anchor="t"/>
          <a:lstStyle/>
          <a:p>
            <a:pPr marL="203200" indent="-203200">
              <a:spcAft>
                <a:spcPts val="200"/>
              </a:spcAft>
              <a:buSzPct val="100000"/>
              <a:buChar char="•"/>
            </a:pPr>
            <a:r>
              <a:rPr lang="en-US" sz="1500" dirty="0">
                <a:solidFill>
                  <a:schemeClr val="tx1"/>
                </a:solidFill>
                <a:latin typeface="Calibri" pitchFamily="34" charset="0"/>
                <a:ea typeface="Calibri" pitchFamily="34" charset="-122"/>
                <a:cs typeface="Calibri" pitchFamily="34" charset="-120"/>
              </a:rPr>
              <a:t>Wikidata item → its English sitelink → </a:t>
            </a:r>
            <a:pPr indent="0" marL="0">
              <a:buNone/>
            </a:pPr>
            <a:r>
              <a:rPr lang="en-US" sz="1500" dirty="0">
                <a:solidFill>
                  <a:schemeClr val="tx1"/>
                </a:solidFill>
                <a:latin typeface="Consolas" pitchFamily="34" charset="0"/>
                <a:ea typeface="Consolas" pitchFamily="34" charset="-122"/>
                <a:cs typeface="Consolas" pitchFamily="34" charset="-120"/>
              </a:rPr>
              <a:t>owl:sameAs dbr:&lt;title&gt;</a:t>
            </a:r>
            <a:endParaRPr lang="en-US" sz="1500" dirty="0"/>
          </a:p>
          <a:p>
            <a:pPr marL="203200" indent="-203200">
              <a:spcAft>
                <a:spcPts val="200"/>
              </a:spcAft>
              <a:buSzPct val="100000"/>
              <a:buChar char="•"/>
            </a:pPr>
            <a:r>
              <a:rPr lang="en-US" sz="1500" dirty="0">
                <a:solidFill>
                  <a:schemeClr val="tx1"/>
                </a:solidFill>
                <a:latin typeface="Calibri" pitchFamily="34" charset="0"/>
                <a:ea typeface="Calibri" pitchFamily="34" charset="-122"/>
                <a:cs typeface="Calibri" pitchFamily="34" charset="-120"/>
              </a:rPr>
              <a:t>no matching by label, which is ambiguous for Vietnamese names</a:t>
            </a:r>
            <a:endParaRPr lang="en-US" sz="1500" dirty="0"/>
          </a:p>
          <a:p>
            <a:pPr marL="203200" indent="-203200">
              <a:spcAft>
                <a:spcPts val="200"/>
              </a:spcAft>
              <a:buSzPct val="100000"/>
              <a:buChar char="•"/>
            </a:pPr>
            <a:r>
              <a:rPr lang="en-US" sz="1500" dirty="0">
                <a:solidFill>
                  <a:schemeClr val="tx1"/>
                </a:solidFill>
                <a:latin typeface="Calibri" pitchFamily="34" charset="0"/>
                <a:ea typeface="Calibri" pitchFamily="34" charset="-122"/>
                <a:cs typeface="Calibri" pitchFamily="34" charset="-120"/>
              </a:rPr>
              <a:t>all 990 entities also → </a:t>
            </a:r>
            <a:pPr indent="0" marL="0">
              <a:buNone/>
            </a:pPr>
            <a:r>
              <a:rPr lang="en-US" sz="1500" dirty="0">
                <a:solidFill>
                  <a:schemeClr val="tx1"/>
                </a:solidFill>
                <a:latin typeface="Consolas" pitchFamily="34" charset="0"/>
                <a:ea typeface="Consolas" pitchFamily="34" charset="-122"/>
                <a:cs typeface="Consolas" pitchFamily="34" charset="-120"/>
              </a:rPr>
              <a:t>wd:Q…</a:t>
            </a:r>
            <a:endParaRPr lang="en-US" sz="1500" dirty="0"/>
          </a:p>
          <a:p>
            <a:pPr marL="203200" indent="-203200">
              <a:spcAft>
                <a:spcPts val="200"/>
              </a:spcAft>
              <a:buSzPct val="100000"/>
              <a:buChar char="•"/>
            </a:pPr>
            <a:r>
              <a:rPr lang="en-US" sz="1500" dirty="0">
                <a:solidFill>
                  <a:schemeClr val="tx1"/>
                </a:solidFill>
                <a:latin typeface="Calibri" pitchFamily="34" charset="0"/>
                <a:ea typeface="Calibri" pitchFamily="34" charset="-122"/>
                <a:cs typeface="Calibri" pitchFamily="34" charset="-120"/>
              </a:rPr>
              <a:t>validation: no list/disambiguation targets, no shared targets</a:t>
            </a:r>
            <a:endParaRPr lang="en-US" sz="1500" dirty="0"/>
          </a:p>
          <a:p>
            <a:pPr marL="203200" indent="-203200">
              <a:spcAft>
                <a:spcPts val="200"/>
              </a:spcAft>
              <a:buSzPct val="100000"/>
              <a:buChar char="•"/>
            </a:pPr>
            <a:r>
              <a:rPr lang="en-US" sz="1500" dirty="0">
                <a:solidFill>
                  <a:schemeClr val="tx1"/>
                </a:solidFill>
                <a:latin typeface="Calibri" pitchFamily="34" charset="0"/>
                <a:ea typeface="Calibri" pitchFamily="34" charset="-122"/>
                <a:cs typeface="Calibri" pitchFamily="34" charset="-120"/>
              </a:rPr>
              <a:t>described as two VoID linksets</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3767328"/>
          <a:ext cx="4023360" cy="914400"/>
        </p:xfrm>
        <a:graphic>
          <a:graphicData uri="http://schemas.openxmlformats.org/drawingml/2006/table">
            <a:tbl>
              <a:tblPr/>
              <a:tblGrid>
                <a:gridCol w="2651760"/>
                <a:gridCol w="1371600"/>
              </a:tblGrid>
              <a:tr h="2743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Linked / total</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Players</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508 / 611</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r>
              <a:tr h="2743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Clubs, national teams</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70 / 71</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Stadiums</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25 / 29</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Universities</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89 / 168</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Provinces, country</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400" dirty="0">
                          <a:solidFill>
                            <a:schemeClr val="tx1"/>
                          </a:solidFill>
                          <a:latin typeface="Calibri" pitchFamily="34" charset="0"/>
                          <a:ea typeface="Calibri" pitchFamily="34" charset="-122"/>
                          <a:cs typeface="Calibri" pitchFamily="34" charset="-120"/>
                        </a:rPr>
                        <a:t>85 / 111</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19050"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400" dirty="0">
                          <a:solidFill>
                            <a:schemeClr val="accent1"/>
                          </a:solidFill>
                          <a:latin typeface="Calibri" pitchFamily="34" charset="0"/>
                          <a:ea typeface="Calibri" pitchFamily="34" charset="-122"/>
                          <a:cs typeface="Calibri" pitchFamily="34" charset="-120"/>
                        </a:rPr>
                        <a:t>777 / 990</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19050" cap="flat" cmpd="sng" algn="ctr">
                      <a:solidFill>
                        <a:srgbClr val="1F1F1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663440" y="987552"/>
            <a:ext cx="4023360" cy="365760"/>
          </a:xfrm>
          <a:prstGeom prst="rect">
            <a:avLst/>
          </a:prstGeom>
          <a:noFill/>
          <a:ln/>
        </p:spPr>
        <p:txBody>
          <a:bodyPr wrap="square" lIns="38100" tIns="38100" rIns="38100" bIns="3810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Checked on the live DBpedia</a:t>
            </a:r>
            <a:endParaRPr lang="en-US" sz="20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663440" y="1389888"/>
          <a:ext cx="4023360" cy="914400"/>
        </p:xfrm>
        <a:graphic>
          <a:graphicData uri="http://schemas.openxmlformats.org/drawingml/2006/table">
            <a:tbl>
              <a:tblPr/>
              <a:tblGrid>
                <a:gridCol w="2011680"/>
                <a:gridCol w="914400"/>
                <a:gridCol w="1097280"/>
              </a:tblGrid>
              <a:tr h="292608">
                <a:tc>
                  <a:txBody>
                    <a:bodyPr/>
                    <a:lstStyle/>
                    <a:p>
                      <a:pPr algn="l" indent="0" marL="0">
                        <a:buNone/>
                      </a:pPr>
                      <a:r>
                        <a:rPr lang="en-US" sz="1500" b="1" dirty="0">
                          <a:solidFill>
                            <a:schemeClr val="tx1"/>
                          </a:solidFill>
                          <a:latin typeface="Consolas" pitchFamily="34" charset="0"/>
                          <a:ea typeface="Consolas" pitchFamily="34" charset="-122"/>
                          <a:cs typeface="Consolas" pitchFamily="34" charset="-120"/>
                        </a:rPr>
                        <a:t>dbr:</a:t>
                      </a:r>
                      <a:pPr algn="l" indent="0" marL="0">
                        <a:buNone/>
                      </a:pPr>
                      <a:r>
                        <a:rPr lang="en-US" sz="1500" b="1" dirty="0">
                          <a:solidFill>
                            <a:schemeClr val="tx1"/>
                          </a:solidFill>
                          <a:latin typeface="Calibri" pitchFamily="34" charset="0"/>
                          <a:ea typeface="Calibri" pitchFamily="34" charset="-122"/>
                          <a:cs typeface="Calibri" pitchFamily="34" charset="-120"/>
                        </a:rPr>
                        <a:t> target</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Links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Share</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r>
              <a:tr h="29260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Article</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500" dirty="0">
                          <a:solidFill>
                            <a:schemeClr val="accent1"/>
                          </a:solidFill>
                          <a:latin typeface="Calibri" pitchFamily="34" charset="0"/>
                          <a:ea typeface="Calibri" pitchFamily="34" charset="-122"/>
                          <a:cs typeface="Calibri" pitchFamily="34" charset="-120"/>
                        </a:rPr>
                        <a:t>733</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94.3%</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r>
              <a:tr h="29260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Redirect</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Not in DBpedia</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4.1%</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4663440" y="2697480"/>
            <a:ext cx="4023360" cy="914400"/>
          </a:xfrm>
          <a:prstGeom prst="rect">
            <a:avLst/>
          </a:prstGeom>
          <a:noFill/>
          <a:ln/>
        </p:spPr>
        <p:txBody>
          <a:bodyPr wrap="square" lIns="38100" tIns="38100" rIns="38100" bIns="38100" rtlCol="0" anchor="t"/>
          <a:lstStyle/>
          <a:p>
            <a:pPr indent="0" marL="0">
              <a:buNone/>
            </a:pPr>
            <a:r>
              <a:rPr lang="en-US" sz="1600" dirty="0">
                <a:solidFill>
                  <a:schemeClr val="tx1"/>
                </a:solidFill>
                <a:latin typeface="Calibri" pitchFamily="34" charset="0"/>
                <a:ea typeface="Calibri" pitchFamily="34" charset="-122"/>
                <a:cs typeface="Calibri" pitchFamily="34" charset="-120"/>
              </a:rPr>
              <a:t>Our titles come from today's English Wikipedia; DBpedia is an older snapshot (16 of the 32 missing targets are clubs)</a:t>
            </a:r>
            <a:endParaRPr lang="en-US" sz="1600" dirty="0"/>
          </a:p>
        </p:txBody>
      </p:sp>
      <p:sp>
        <p:nvSpPr>
          <p:cNvPr id="10" name="Text 5"/>
          <p:cNvSpPr txBox="1"/>
          <p:nvPr/>
        </p:nvSpPr>
        <p:spPr>
          <a:xfrm>
            <a:off x="4663440" y="3703320"/>
            <a:ext cx="4023360" cy="731520"/>
          </a:xfrm>
          <a:prstGeom prst="rect">
            <a:avLst/>
          </a:prstGeom>
          <a:noFill/>
          <a:ln/>
        </p:spPr>
        <p:txBody>
          <a:bodyPr wrap="square" lIns="38100" tIns="38100" rIns="38100" bIns="38100" rtlCol="0" anchor="t"/>
          <a:lstStyle/>
          <a:p>
            <a:pPr indent="0" marL="0">
              <a:buNone/>
            </a:pPr>
            <a:r>
              <a:rPr lang="en-US" sz="1600" dirty="0">
                <a:solidFill>
                  <a:schemeClr val="tx1"/>
                </a:solidFill>
                <a:latin typeface="Calibri" pitchFamily="34" charset="0"/>
                <a:ea typeface="Calibri" pitchFamily="34" charset="-122"/>
                <a:cs typeface="Calibri" pitchFamily="34" charset="-120"/>
              </a:rPr>
              <a:t>Confirms DBpedia uses the </a:t>
            </a:r>
            <a:pPr indent="0" marL="0">
              <a:buNone/>
            </a:pPr>
            <a:r>
              <a:rPr lang="en-US" sz="1600" dirty="0">
                <a:solidFill>
                  <a:schemeClr val="accent1"/>
                </a:solidFill>
                <a:latin typeface="Calibri" pitchFamily="34" charset="0"/>
                <a:ea typeface="Calibri" pitchFamily="34" charset="-122"/>
                <a:cs typeface="Calibri" pitchFamily="34" charset="-120"/>
              </a:rPr>
              <a:t>same Unicode IRIs</a:t>
            </a:r>
            <a:pPr indent="0" marL="0">
              <a:buNone/>
            </a:pPr>
            <a:r>
              <a:rPr lang="en-US" sz="1600" dirty="0">
                <a:solidFill>
                  <a:schemeClr val="tx1"/>
                </a:solidFill>
                <a:latin typeface="Calibri" pitchFamily="34" charset="0"/>
                <a:ea typeface="Calibri" pitchFamily="34" charset="-122"/>
                <a:cs typeface="Calibri" pitchFamily="34" charset="-120"/>
              </a:rPr>
              <a:t>, e.g. </a:t>
            </a:r>
            <a:pPr indent="0" marL="0">
              <a:buNone/>
            </a:pPr>
            <a:r>
              <a:rPr lang="en-US" sz="1600" dirty="0">
                <a:solidFill>
                  <a:schemeClr val="tx1"/>
                </a:solidFill>
                <a:latin typeface="Consolas" pitchFamily="34" charset="0"/>
                <a:ea typeface="Consolas" pitchFamily="34" charset="-122"/>
                <a:cs typeface="Consolas" pitchFamily="34" charset="-120"/>
              </a:rPr>
              <a:t>dbr:Đặng_Văn_Lâm</a:t>
            </a:r>
            <a:endParaRPr lang="en-US" sz="16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Dereferenceable IRIs and the SPARQL Endpoint</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914400"/>
        </p:xfrm>
        <a:graphic>
          <a:graphicData uri="http://schemas.openxmlformats.org/drawingml/2006/table">
            <a:tbl>
              <a:tblPr/>
              <a:tblGrid>
                <a:gridCol w="2240280"/>
                <a:gridCol w="5989320"/>
              </a:tblGrid>
              <a:tr h="2743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Route</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Response</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/resource/{name}</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303 → HTML page, or → </a:t>
                      </a:r>
                      <a:pPr algn="l" indent="0" marL="0">
                        <a:buNone/>
                      </a:pPr>
                      <a:r>
                        <a:rPr lang="en-US" sz="1400" dirty="0">
                          <a:solidFill>
                            <a:schemeClr val="tx1"/>
                          </a:solidFill>
                          <a:latin typeface="Consolas" pitchFamily="34" charset="0"/>
                          <a:ea typeface="Consolas" pitchFamily="34" charset="-122"/>
                          <a:cs typeface="Consolas" pitchFamily="34" charset="-120"/>
                        </a:rPr>
                        <a:t>/data/{name}.ext</a:t>
                      </a:r>
                      <a:pPr algn="l" indent="0" marL="0">
                        <a:buNone/>
                      </a:pPr>
                      <a:r>
                        <a:rPr lang="en-US" sz="1400" dirty="0">
                          <a:solidFill>
                            <a:schemeClr val="tx1"/>
                          </a:solidFill>
                          <a:latin typeface="Calibri" pitchFamily="34" charset="0"/>
                          <a:ea typeface="Calibri" pitchFamily="34" charset="-122"/>
                          <a:cs typeface="Calibri" pitchFamily="34" charset="-120"/>
                        </a:rPr>
                        <a:t> when </a:t>
                      </a:r>
                      <a:pPr algn="l" indent="0" marL="0">
                        <a:buNone/>
                      </a:pPr>
                      <a:r>
                        <a:rPr lang="en-US" sz="1400" dirty="0">
                          <a:solidFill>
                            <a:schemeClr val="tx1"/>
                          </a:solidFill>
                          <a:latin typeface="Consolas" pitchFamily="34" charset="0"/>
                          <a:ea typeface="Consolas" pitchFamily="34" charset="-122"/>
                          <a:cs typeface="Consolas" pitchFamily="34" charset="-120"/>
                        </a:rPr>
                        <a:t>Accept</a:t>
                      </a:r>
                      <a:pPr algn="l" indent="0" marL="0">
                        <a:buNone/>
                      </a:pPr>
                      <a:r>
                        <a:rPr lang="en-US" sz="1400" dirty="0">
                          <a:solidFill>
                            <a:schemeClr val="tx1"/>
                          </a:solidFill>
                          <a:latin typeface="Calibri" pitchFamily="34" charset="0"/>
                          <a:ea typeface="Calibri" pitchFamily="34" charset="-122"/>
                          <a:cs typeface="Calibri" pitchFamily="34" charset="-120"/>
                        </a:rPr>
                        <a:t> asks for RDF</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r>
              <a:tr h="274320">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/page/{name}</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303 → HTML page, like </a:t>
                      </a:r>
                      <a:pPr algn="l" indent="0" marL="0">
                        <a:buNone/>
                      </a:pPr>
                      <a:r>
                        <a:rPr lang="en-US" sz="1400" dirty="0">
                          <a:solidFill>
                            <a:schemeClr val="tx1"/>
                          </a:solidFill>
                          <a:latin typeface="Consolas" pitchFamily="34" charset="0"/>
                          <a:ea typeface="Consolas" pitchFamily="34" charset="-122"/>
                          <a:cs typeface="Consolas" pitchFamily="34" charset="-120"/>
                        </a:rPr>
                        <a:t>dbpedia.org/page/…</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/data/{name}.ext</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triples about the resource: </a:t>
                      </a:r>
                      <a:pPr algn="l" indent="0" marL="0">
                        <a:buNone/>
                      </a:pPr>
                      <a:r>
                        <a:rPr lang="en-US" sz="1400" dirty="0">
                          <a:solidFill>
                            <a:schemeClr val="tx1"/>
                          </a:solidFill>
                          <a:latin typeface="Consolas" pitchFamily="34" charset="0"/>
                          <a:ea typeface="Consolas" pitchFamily="34" charset="-122"/>
                          <a:cs typeface="Consolas" pitchFamily="34" charset="-120"/>
                        </a:rPr>
                        <a:t>.ttl</a:t>
                      </a:r>
                      <a:pPr algn="l" indent="0" marL="0">
                        <a:buNone/>
                      </a:pPr>
                      <a:r>
                        <a:rPr lang="en-US" sz="1400" dirty="0">
                          <a:solidFill>
                            <a:schemeClr val="tx1"/>
                          </a:solidFill>
                          <a:latin typeface="Calibri" pitchFamily="34" charset="0"/>
                          <a:ea typeface="Calibri" pitchFamily="34" charset="-122"/>
                          <a:cs typeface="Calibri" pitchFamily="34" charset="-120"/>
                        </a:rPr>
                        <a:t>, </a:t>
                      </a:r>
                      <a:pPr algn="l" indent="0" marL="0">
                        <a:buNone/>
                      </a:pPr>
                      <a:r>
                        <a:rPr lang="en-US" sz="1400" dirty="0">
                          <a:solidFill>
                            <a:schemeClr val="tx1"/>
                          </a:solidFill>
                          <a:latin typeface="Consolas" pitchFamily="34" charset="0"/>
                          <a:ea typeface="Consolas" pitchFamily="34" charset="-122"/>
                          <a:cs typeface="Consolas" pitchFamily="34" charset="-120"/>
                        </a:rPr>
                        <a:t>.nt</a:t>
                      </a:r>
                      <a:pPr algn="l" indent="0" marL="0">
                        <a:buNone/>
                      </a:pPr>
                      <a:r>
                        <a:rPr lang="en-US" sz="1400" dirty="0">
                          <a:solidFill>
                            <a:schemeClr val="tx1"/>
                          </a:solidFill>
                          <a:latin typeface="Calibri" pitchFamily="34" charset="0"/>
                          <a:ea typeface="Calibri" pitchFamily="34" charset="-122"/>
                          <a:cs typeface="Calibri" pitchFamily="34" charset="-120"/>
                        </a:rPr>
                        <a:t>, </a:t>
                      </a:r>
                      <a:pPr algn="l" indent="0" marL="0">
                        <a:buNone/>
                      </a:pPr>
                      <a:r>
                        <a:rPr lang="en-US" sz="1400" dirty="0">
                          <a:solidFill>
                            <a:schemeClr val="tx1"/>
                          </a:solidFill>
                          <a:latin typeface="Consolas" pitchFamily="34" charset="0"/>
                          <a:ea typeface="Consolas" pitchFamily="34" charset="-122"/>
                          <a:cs typeface="Consolas" pitchFamily="34" charset="-120"/>
                        </a:rPr>
                        <a:t>.jsonld</a:t>
                      </a:r>
                      <a:pPr algn="l" indent="0" marL="0">
                        <a:buNone/>
                      </a:pPr>
                      <a:r>
                        <a:rPr lang="en-US" sz="1400" dirty="0">
                          <a:solidFill>
                            <a:schemeClr val="tx1"/>
                          </a:solidFill>
                          <a:latin typeface="Calibri" pitchFamily="34" charset="0"/>
                          <a:ea typeface="Calibri" pitchFamily="34" charset="-122"/>
                          <a:cs typeface="Calibri" pitchFamily="34" charset="-120"/>
                        </a:rPr>
                        <a:t>, </a:t>
                      </a:r>
                      <a:pPr algn="l" indent="0" marL="0">
                        <a:buNone/>
                      </a:pPr>
                      <a:r>
                        <a:rPr lang="en-US" sz="1400" dirty="0">
                          <a:solidFill>
                            <a:schemeClr val="tx1"/>
                          </a:solidFill>
                          <a:latin typeface="Consolas" pitchFamily="34" charset="0"/>
                          <a:ea typeface="Consolas" pitchFamily="34" charset="-122"/>
                          <a:cs typeface="Consolas" pitchFamily="34" charset="-120"/>
                        </a:rPr>
                        <a:t>.rdf</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/ontology/{term}</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definition of a </a:t>
                      </a:r>
                      <a:pPr algn="l" indent="0" marL="0">
                        <a:buNone/>
                      </a:pPr>
                      <a:r>
                        <a:rPr lang="en-US" sz="1400" dirty="0">
                          <a:solidFill>
                            <a:schemeClr val="tx1"/>
                          </a:solidFill>
                          <a:latin typeface="Consolas" pitchFamily="34" charset="0"/>
                          <a:ea typeface="Consolas" pitchFamily="34" charset="-122"/>
                          <a:cs typeface="Consolas" pitchFamily="34" charset="-120"/>
                        </a:rPr>
                        <a:t>vio:</a:t>
                      </a:r>
                      <a:pPr algn="l" indent="0" marL="0">
                        <a:buNone/>
                      </a:pPr>
                      <a:r>
                        <a:rPr lang="en-US" sz="1400" dirty="0">
                          <a:solidFill>
                            <a:schemeClr val="tx1"/>
                          </a:solidFill>
                          <a:latin typeface="Calibri" pitchFamily="34" charset="0"/>
                          <a:ea typeface="Calibri" pitchFamily="34" charset="-122"/>
                          <a:cs typeface="Calibri" pitchFamily="34" charset="-120"/>
                        </a:rPr>
                        <a:t> term, in Turtle</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400" dirty="0">
                          <a:solidFill>
                            <a:schemeClr val="tx1"/>
                          </a:solidFill>
                          <a:latin typeface="Consolas" pitchFamily="34" charset="0"/>
                          <a:ea typeface="Consolas" pitchFamily="34" charset="-122"/>
                          <a:cs typeface="Consolas" pitchFamily="34" charset="-120"/>
                        </a:rPr>
                        <a:t>/sparql</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SPARQL 1.1 Protocol: </a:t>
                      </a:r>
                      <a:pPr algn="l" indent="0" marL="0">
                        <a:buNone/>
                      </a:pPr>
                      <a:r>
                        <a:rPr lang="en-US" sz="1400" dirty="0">
                          <a:solidFill>
                            <a:schemeClr val="tx1"/>
                          </a:solidFill>
                          <a:latin typeface="Consolas" pitchFamily="34" charset="0"/>
                          <a:ea typeface="Consolas" pitchFamily="34" charset="-122"/>
                          <a:cs typeface="Consolas" pitchFamily="34" charset="-120"/>
                        </a:rPr>
                        <a:t>GET ?query=</a:t>
                      </a:r>
                      <a:pPr algn="l" indent="0" marL="0">
                        <a:buNone/>
                      </a:pPr>
                      <a:r>
                        <a:rPr lang="en-US" sz="1400" dirty="0">
                          <a:solidFill>
                            <a:schemeClr val="tx1"/>
                          </a:solidFill>
                          <a:latin typeface="Calibri" pitchFamily="34" charset="0"/>
                          <a:ea typeface="Calibri" pitchFamily="34" charset="-122"/>
                          <a:cs typeface="Calibri" pitchFamily="34" charset="-120"/>
                        </a:rPr>
                        <a:t> or POST; JSON, XML, CSV or RDF by </a:t>
                      </a:r>
                      <a:pPr algn="l" indent="0" marL="0">
                        <a:buNone/>
                      </a:pPr>
                      <a:r>
                        <a:rPr lang="en-US" sz="1400" dirty="0">
                          <a:solidFill>
                            <a:schemeClr val="tx1"/>
                          </a:solidFill>
                          <a:latin typeface="Consolas" pitchFamily="34" charset="0"/>
                          <a:ea typeface="Consolas" pitchFamily="34" charset="-122"/>
                          <a:cs typeface="Consolas" pitchFamily="34" charset="-120"/>
                        </a:rPr>
                        <a:t>Accept</a:t>
                      </a:r>
                      <a:pPr algn="l" indent="0" marL="0">
                        <a:buNone/>
                      </a:pPr>
                      <a:r>
                        <a:rPr lang="en-US" sz="1400" dirty="0">
                          <a:solidFill>
                            <a:schemeClr val="tx1"/>
                          </a:solidFill>
                          <a:latin typeface="Calibri" pitchFamily="34" charset="0"/>
                          <a:ea typeface="Calibri" pitchFamily="34" charset="-122"/>
                          <a:cs typeface="Calibri" pitchFamily="34" charset="-120"/>
                        </a:rPr>
                        <a:t>; read-only</a:t>
                      </a:r>
                      <a:endParaRPr lang="en-US" sz="14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3127248"/>
            <a:ext cx="8229600" cy="292608"/>
          </a:xfrm>
          <a:prstGeom prst="rect">
            <a:avLst/>
          </a:prstGeom>
          <a:noFill/>
          <a:ln/>
        </p:spPr>
        <p:txBody>
          <a:bodyPr wrap="square" lIns="38100" tIns="38100" rIns="38100" bIns="38100" rtlCol="0" anchor="t"/>
          <a:lstStyle/>
          <a:p>
            <a:pPr indent="0" marL="0">
              <a:buNone/>
            </a:pPr>
            <a:r>
              <a:rPr lang="en-US" sz="1400" dirty="0">
                <a:solidFill>
                  <a:schemeClr val="tx1"/>
                </a:solidFill>
                <a:latin typeface="Calibri" pitchFamily="34" charset="0"/>
                <a:ea typeface="Calibri" pitchFamily="34" charset="-122"/>
                <a:cs typeface="Calibri" pitchFamily="34" charset="-120"/>
              </a:rPr>
              <a:t>Recorded on the running server:</a:t>
            </a:r>
            <a:endParaRPr lang="en-US" sz="1400" dirty="0"/>
          </a:p>
        </p:txBody>
      </p:sp>
      <p:sp>
        <p:nvSpPr>
          <p:cNvPr id="6" name="Shape 2"/>
          <p:cNvSpPr/>
          <p:nvPr/>
        </p:nvSpPr>
        <p:spPr>
          <a:xfrm>
            <a:off x="457200" y="3438144"/>
            <a:ext cx="8229600" cy="1993392"/>
          </a:xfrm>
          <a:prstGeom prst="rect">
            <a:avLst/>
          </a:prstGeom>
          <a:solidFill>
            <a:srgbClr val="FFFFFF"/>
          </a:solidFill>
          <a:ln w="9525">
            <a:solidFill>
              <a:srgbClr val="A6A6A6"/>
            </a:solidFill>
            <a:prstDash val="solid"/>
          </a:ln>
        </p:spPr>
      </p:sp>
      <p:sp>
        <p:nvSpPr>
          <p:cNvPr id="7" name="Text 3"/>
          <p:cNvSpPr txBox="1"/>
          <p:nvPr/>
        </p:nvSpPr>
        <p:spPr>
          <a:xfrm>
            <a:off x="512064" y="3474720"/>
            <a:ext cx="8119872" cy="1920240"/>
          </a:xfrm>
          <a:prstGeom prst="rect">
            <a:avLst/>
          </a:prstGeom>
          <a:noFill/>
          <a:ln/>
        </p:spPr>
        <p:txBody>
          <a:bodyPr wrap="square" lIns="25400" tIns="25400" rIns="25400" bIns="25400" rtlCol="0" anchor="ctr"/>
          <a:lstStyle/>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 curl -si -H "Accept: text/turtle" \</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       http://127.0.0.1:8000/resource/Nguy%E1%BB%85n_C%C3%B4ng_Ph%C6%B0%E1%BB%A3ng</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HTTP/1.1 303 See Other</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vary: Accept</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location: /data/Nguy%E1%BB%85n_C%C3%B4ng_Ph%C6%B0%E1%BB%A3ng.ttl</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 curl -sL -H "Accept: text/turtle" http://127.0.0.1:8000/resource/Nguy%E1%BB%85n_…</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vres:Nguyễn_Công_Phượng a dbo:Animal, dbo:Athlete, dbo:Person, dbo:SoccerPlayer, … ;</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    dbo:birthDate "1995-01-21"^^xsd:date ;</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    vio:birthProvince vres:Nghệ_An ;</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chemeClr val="tx1"/>
                </a:solidFill>
                <a:latin typeface="Consolas" pitchFamily="34" charset="0"/>
                <a:ea typeface="Consolas" pitchFamily="34" charset="-122"/>
                <a:cs typeface="Consolas" pitchFamily="34" charset="-120"/>
              </a:rPr>
              <a:t>    owl:sameAs dbr:Nguyễn_Công_Phượng, wd:Q18045362 ;</a:t>
            </a:r>
            <a:endParaRPr lang="en-US" sz="1000" dirty="0"/>
          </a:p>
        </p:txBody>
      </p:sp>
      <p:sp>
        <p:nvSpPr>
          <p:cNvPr id="8" name="Text 4"/>
          <p:cNvSpPr txBox="1"/>
          <p:nvPr/>
        </p:nvSpPr>
        <p:spPr>
          <a:xfrm>
            <a:off x="457200" y="5504688"/>
            <a:ext cx="8229600" cy="640080"/>
          </a:xfrm>
          <a:prstGeom prst="rect">
            <a:avLst/>
          </a:prstGeom>
          <a:noFill/>
          <a:ln/>
        </p:spPr>
        <p:txBody>
          <a:bodyPr wrap="square" lIns="38100" tIns="38100" rIns="38100" bIns="38100" rtlCol="0" anchor="t"/>
          <a:lstStyle/>
          <a:p>
            <a:pPr indent="0" marL="0">
              <a:buNone/>
            </a:pPr>
            <a:r>
              <a:rPr lang="en-US" sz="1300" dirty="0">
                <a:solidFill>
                  <a:schemeClr val="tx1"/>
                </a:solidFill>
                <a:latin typeface="Calibri" pitchFamily="34" charset="0"/>
                <a:ea typeface="Calibri" pitchFamily="34" charset="-122"/>
                <a:cs typeface="Calibri" pitchFamily="34" charset="-120"/>
              </a:rPr>
              <a:t>Headers and Turtle abridged. Browsers go to </a:t>
            </a:r>
            <a:r>
              <a:rPr lang="en-US" sz="1300" dirty="0">
                <a:solidFill>
                  <a:schemeClr val="tx1"/>
                </a:solidFill>
                <a:latin typeface="Consolas" pitchFamily="34" charset="0"/>
                <a:ea typeface="Consolas" pitchFamily="34" charset="-122"/>
                <a:cs typeface="Consolas" pitchFamily="34" charset="-120"/>
              </a:rPr>
              <a:t>/?resource=&lt;name&gt;</a:t>
            </a:r>
            <a:r>
              <a:rPr lang="en-US" sz="1300" dirty="0">
                <a:solidFill>
                  <a:schemeClr val="tx1"/>
                </a:solidFill>
                <a:latin typeface="Calibri" pitchFamily="34" charset="0"/>
                <a:ea typeface="Calibri" pitchFamily="34" charset="-122"/>
                <a:cs typeface="Calibri" pitchFamily="34" charset="-120"/>
              </a:rPr>
              <a:t>, which opens the entity page </a:t>
            </a:r>
            <a:r>
              <a:rPr lang="en-US" sz="1300" dirty="0">
                <a:solidFill>
                  <a:schemeClr val="tx1"/>
                </a:solidFill>
                <a:latin typeface="Consolas" pitchFamily="34" charset="0"/>
                <a:ea typeface="Consolas" pitchFamily="34" charset="-122"/>
                <a:cs typeface="Consolas" pitchFamily="34" charset="-120"/>
              </a:rPr>
              <a:t>/entity/&lt;name&gt;</a:t>
            </a:r>
            <a:r>
              <a:rPr lang="en-US" sz="1300" dirty="0">
                <a:solidFill>
                  <a:schemeClr val="tx1"/>
                </a:solidFill>
                <a:latin typeface="Calibri" pitchFamily="34" charset="0"/>
                <a:ea typeface="Calibri" pitchFamily="34" charset="-122"/>
                <a:cs typeface="Calibri" pitchFamily="34" charset="-120"/>
              </a:rPr>
              <a:t>. Clients must percent-encode the Vietnamese characters, as browsers do.</a:t>
            </a:r>
            <a:endParaRPr lang="en-US" sz="13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Five Stars, Checked</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5852160"/>
              </a:tblGrid>
              <a:tr h="457200">
                <a:tc>
                  <a:txBody>
                    <a:bodyPr/>
                    <a:lstStyle/>
                    <a:p>
                      <a:pPr algn="l" indent="0" marL="0">
                        <a:buNone/>
                      </a:pPr>
                      <a:r>
                        <a:rPr lang="en-US" sz="1700" b="1" dirty="0">
                          <a:solidFill>
                            <a:schemeClr val="tx1"/>
                          </a:solidFill>
                          <a:latin typeface="Calibri" pitchFamily="34" charset="0"/>
                          <a:ea typeface="Calibri" pitchFamily="34" charset="-122"/>
                          <a:cs typeface="Calibri" pitchFamily="34" charset="-120"/>
                        </a:rPr>
                        <a:t>Star</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700" b="1" dirty="0">
                          <a:solidFill>
                            <a:schemeClr val="tx1"/>
                          </a:solidFill>
                          <a:latin typeface="Calibri" pitchFamily="34" charset="0"/>
                          <a:ea typeface="Calibri" pitchFamily="34" charset="-122"/>
                          <a:cs typeface="Calibri" pitchFamily="34" charset="-120"/>
                        </a:rPr>
                        <a:t>Evidence</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 open licence</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CC BY-SA 4.0 in the VoID description and the ontology; dumps in a Git repository</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r>
              <a:tr h="45720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 machine-readable</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RDF triples, not text or tables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 open formats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Turtle and N-Triples dumps; each resource also as JSON-LD and RDF/XML</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 URIs</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an HTTP IRI for every entity, station, category and redirect; dereferenced with 303 + content negotiation</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700" dirty="0">
                          <a:solidFill>
                            <a:schemeClr val="tx1"/>
                          </a:solidFill>
                          <a:latin typeface="Calibri" pitchFamily="34" charset="0"/>
                          <a:ea typeface="Calibri" pitchFamily="34" charset="-122"/>
                          <a:cs typeface="Calibri" pitchFamily="34" charset="-120"/>
                        </a:rPr>
                        <a:t>★★★★★ linked</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accent1"/>
                          </a:solidFill>
                          <a:latin typeface="Calibri" pitchFamily="34" charset="0"/>
                          <a:ea typeface="Calibri" pitchFamily="34" charset="-122"/>
                          <a:cs typeface="Calibri" pitchFamily="34" charset="-120"/>
                        </a:rPr>
                        <a:t>777</a:t>
                      </a:r>
                      <a:pPr algn="l" indent="0" marL="0">
                        <a:buNone/>
                      </a:pPr>
                      <a:r>
                        <a:rPr lang="en-US" sz="1700" dirty="0">
                          <a:solidFill>
                            <a:schemeClr val="tx1"/>
                          </a:solidFill>
                          <a:latin typeface="Calibri" pitchFamily="34" charset="0"/>
                          <a:ea typeface="Calibri" pitchFamily="34" charset="-122"/>
                          <a:cs typeface="Calibri" pitchFamily="34" charset="-120"/>
                        </a:rPr>
                        <a:t> </a:t>
                      </a:r>
                      <a:pPr algn="l" indent="0" marL="0">
                        <a:buNone/>
                      </a:pPr>
                      <a:r>
                        <a:rPr lang="en-US" sz="1700" dirty="0">
                          <a:solidFill>
                            <a:schemeClr val="tx1"/>
                          </a:solidFill>
                          <a:latin typeface="Consolas" pitchFamily="34" charset="0"/>
                          <a:ea typeface="Consolas" pitchFamily="34" charset="-122"/>
                          <a:cs typeface="Consolas" pitchFamily="34" charset="-120"/>
                        </a:rPr>
                        <a:t>owl:sameAs</a:t>
                      </a:r>
                      <a:pPr algn="l" indent="0" marL="0">
                        <a:buNone/>
                      </a:pPr>
                      <a:r>
                        <a:rPr lang="en-US" sz="1700" dirty="0">
                          <a:solidFill>
                            <a:schemeClr val="tx1"/>
                          </a:solidFill>
                          <a:latin typeface="Calibri" pitchFamily="34" charset="0"/>
                          <a:ea typeface="Calibri" pitchFamily="34" charset="-122"/>
                          <a:cs typeface="Calibri" pitchFamily="34" charset="-120"/>
                        </a:rPr>
                        <a:t> to DBpedia (733 verified), </a:t>
                      </a:r>
                      <a:pPr algn="l" indent="0" marL="0">
                        <a:buNone/>
                      </a:pPr>
                      <a:r>
                        <a:rPr lang="en-US" sz="1700" dirty="0">
                          <a:solidFill>
                            <a:schemeClr val="accent1"/>
                          </a:solidFill>
                          <a:latin typeface="Calibri" pitchFamily="34" charset="0"/>
                          <a:ea typeface="Calibri" pitchFamily="34" charset="-122"/>
                          <a:cs typeface="Calibri" pitchFamily="34" charset="-120"/>
                        </a:rPr>
                        <a:t>990</a:t>
                      </a:r>
                      <a:pPr algn="l" indent="0" marL="0">
                        <a:buNone/>
                      </a:pPr>
                      <a:r>
                        <a:rPr lang="en-US" sz="1700" dirty="0">
                          <a:solidFill>
                            <a:schemeClr val="tx1"/>
                          </a:solidFill>
                          <a:latin typeface="Calibri" pitchFamily="34" charset="0"/>
                          <a:ea typeface="Calibri" pitchFamily="34" charset="-122"/>
                          <a:cs typeface="Calibri" pitchFamily="34" charset="-120"/>
                        </a:rPr>
                        <a:t> to Wikidata; classes and properties </a:t>
                      </a:r>
                      <a:pPr algn="l" indent="0" marL="0">
                        <a:buNone/>
                      </a:pPr>
                      <a:r>
                        <a:rPr lang="en-US" sz="1700" dirty="0">
                          <a:solidFill>
                            <a:schemeClr val="tx1"/>
                          </a:solidFill>
                          <a:latin typeface="Cambria Math" pitchFamily="34" charset="0"/>
                          <a:ea typeface="Cambria Math" pitchFamily="34" charset="-122"/>
                          <a:cs typeface="Cambria Math" pitchFamily="34" charset="-120"/>
                        </a:rPr>
                        <a:t>⊑ </a:t>
                      </a:r>
                      <a:pPr algn="l" indent="0" marL="0">
                        <a:buNone/>
                      </a:pPr>
                      <a:r>
                        <a:rPr lang="en-US" sz="1700" dirty="0">
                          <a:solidFill>
                            <a:schemeClr val="tx1"/>
                          </a:solidFill>
                          <a:latin typeface="Consolas" pitchFamily="34" charset="0"/>
                          <a:ea typeface="Consolas" pitchFamily="34" charset="-122"/>
                          <a:cs typeface="Consolas" pitchFamily="34" charset="-120"/>
                        </a:rPr>
                        <a:t>dbo:</a:t>
                      </a:r>
                      <a:endParaRPr lang="en-US" sz="17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r>
            </a:tbl>
          </a:graphicData>
        </a:graphic>
      </p:graphicFrame>
      <p:sp>
        <p:nvSpPr>
          <p:cNvPr id="5" name="Shape 1"/>
          <p:cNvSpPr/>
          <p:nvPr/>
        </p:nvSpPr>
        <p:spPr>
          <a:xfrm>
            <a:off x="457200" y="4572000"/>
            <a:ext cx="8229600" cy="1463040"/>
          </a:xfrm>
          <a:prstGeom prst="roundRect">
            <a:avLst>
              <a:gd name="adj" fmla="val 4375"/>
            </a:avLst>
          </a:prstGeom>
          <a:solidFill>
            <a:schemeClr val="bg2"/>
          </a:solidFill>
          <a:ln/>
        </p:spPr>
      </p:sp>
      <p:sp>
        <p:nvSpPr>
          <p:cNvPr id="6" name="Shape 2"/>
          <p:cNvSpPr/>
          <p:nvPr/>
        </p:nvSpPr>
        <p:spPr>
          <a:xfrm>
            <a:off x="457200" y="4572000"/>
            <a:ext cx="8229600" cy="384048"/>
          </a:xfrm>
          <a:prstGeom prst="roundRect">
            <a:avLst>
              <a:gd name="adj" fmla="val 16667"/>
            </a:avLst>
          </a:prstGeom>
          <a:solidFill>
            <a:schemeClr val="accent1"/>
          </a:solidFill>
          <a:ln/>
        </p:spPr>
      </p:sp>
      <p:sp>
        <p:nvSpPr>
          <p:cNvPr id="7" name="Shape 3"/>
          <p:cNvSpPr/>
          <p:nvPr/>
        </p:nvSpPr>
        <p:spPr>
          <a:xfrm>
            <a:off x="457200" y="4764024"/>
            <a:ext cx="8229600" cy="192024"/>
          </a:xfrm>
          <a:prstGeom prst="rect">
            <a:avLst/>
          </a:prstGeom>
          <a:solidFill>
            <a:schemeClr val="accent1"/>
          </a:solidFill>
          <a:ln/>
        </p:spPr>
      </p:sp>
      <p:sp>
        <p:nvSpPr>
          <p:cNvPr id="8" name="Text 4"/>
          <p:cNvSpPr txBox="1"/>
          <p:nvPr/>
        </p:nvSpPr>
        <p:spPr>
          <a:xfrm>
            <a:off x="548640" y="4572000"/>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Caveat on the fourth star</a:t>
            </a:r>
            <a:endParaRPr lang="en-US" sz="1900" dirty="0"/>
          </a:p>
        </p:txBody>
      </p:sp>
      <p:sp>
        <p:nvSpPr>
          <p:cNvPr id="9" name="Text 5"/>
          <p:cNvSpPr txBox="1"/>
          <p:nvPr/>
        </p:nvSpPr>
        <p:spPr>
          <a:xfrm>
            <a:off x="548640" y="5001768"/>
            <a:ext cx="8046720" cy="987552"/>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The </a:t>
            </a:r>
            <a:pPr indent="0" marL="0">
              <a:buNone/>
            </a:pPr>
            <a:r>
              <a:rPr lang="en-US" sz="1700" dirty="0">
                <a:solidFill>
                  <a:schemeClr val="tx1"/>
                </a:solidFill>
                <a:latin typeface="Consolas" pitchFamily="34" charset="0"/>
                <a:ea typeface="Consolas" pitchFamily="34" charset="-122"/>
                <a:cs typeface="Consolas" pitchFamily="34" charset="-120"/>
              </a:rPr>
              <a:t>vi.dbpedia.org</a:t>
            </a:r>
            <a:pPr indent="0" marL="0">
              <a:buNone/>
            </a:pPr>
            <a:r>
              <a:rPr lang="en-US" sz="1700" dirty="0">
                <a:solidFill>
                  <a:schemeClr val="tx1"/>
                </a:solidFill>
                <a:latin typeface="Calibri" pitchFamily="34" charset="0"/>
                <a:ea typeface="Calibri" pitchFamily="34" charset="-122"/>
                <a:cs typeface="Calibri" pitchFamily="34" charset="-120"/>
              </a:rPr>
              <a:t> namespace follows the DBpedia-chapter convention, but we do not own that domain: the IRIs resolve only through our running server (</a:t>
            </a:r>
            <a:pPr indent="0" marL="0">
              <a:buNone/>
            </a:pPr>
            <a:r>
              <a:rPr lang="en-US" sz="1700" dirty="0">
                <a:solidFill>
                  <a:schemeClr val="tx1"/>
                </a:solidFill>
                <a:latin typeface="Consolas" pitchFamily="34" charset="0"/>
                <a:ea typeface="Consolas" pitchFamily="34" charset="-122"/>
                <a:cs typeface="Consolas" pitchFamily="34" charset="-120"/>
              </a:rPr>
              <a:t>http://127.0.0.1:8000/resource/…</a:t>
            </a:r>
            <a:pPr indent="0" marL="0">
              <a:buNone/>
            </a:pPr>
            <a:r>
              <a:rPr lang="en-US" sz="1700" dirty="0">
                <a:solidFill>
                  <a:schemeClr val="tx1"/>
                </a:solidFill>
                <a:latin typeface="Calibri" pitchFamily="34" charset="0"/>
                <a:ea typeface="Calibri" pitchFamily="34" charset="-122"/>
                <a:cs typeface="Calibri" pitchFamily="34" charset="-120"/>
              </a:rPr>
              <a:t>).</a:t>
            </a:r>
            <a:endParaRPr lang="en-US" sz="17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Web Interface: Five Pages</a:t>
            </a:r>
            <a:endParaRPr lang="en-US" sz="2600" dirty="0"/>
          </a:p>
        </p:txBody>
      </p:sp>
      <p:pic>
        <p:nvPicPr>
          <p:cNvPr id="4" name="Image 0" descr="Resource page of Nguyễn Công Phượng: class tree and Linked Data card">    </p:cNvPr>
          <p:cNvPicPr>
            <a:picLocks noChangeAspect="1"/>
          </p:cNvPicPr>
          <p:nvPr/>
        </p:nvPicPr>
        <p:blipFill>
          <a:blip r:embed="rId1"/>
          <a:stretch>
            <a:fillRect/>
          </a:stretch>
        </p:blipFill>
        <p:spPr>
          <a:xfrm>
            <a:off x="1081793" y="987552"/>
            <a:ext cx="3952758" cy="3246120"/>
          </a:xfrm>
          <a:prstGeom prst="rect">
            <a:avLst/>
          </a:prstGeom>
        </p:spPr>
      </p:pic>
      <p:pic>
        <p:nvPicPr>
          <p:cNvPr id="5" name="Image 1" descr="SPARQL tab counting the instances of DBpedia classes">    </p:cNvPr>
          <p:cNvPicPr>
            <a:picLocks noChangeAspect="1"/>
          </p:cNvPicPr>
          <p:nvPr/>
        </p:nvPicPr>
        <p:blipFill>
          <a:blip r:embed="rId2"/>
          <a:stretch>
            <a:fillRect/>
          </a:stretch>
        </p:blipFill>
        <p:spPr>
          <a:xfrm>
            <a:off x="5308871" y="987552"/>
            <a:ext cx="2753336" cy="3246120"/>
          </a:xfrm>
          <a:prstGeom prst="rect">
            <a:avLst/>
          </a:prstGeom>
        </p:spPr>
      </p:pic>
      <p:sp>
        <p:nvSpPr>
          <p:cNvPr id="6" name="Text 1"/>
          <p:cNvSpPr txBox="1"/>
          <p:nvPr/>
        </p:nvSpPr>
        <p:spPr>
          <a:xfrm>
            <a:off x="457200" y="4343400"/>
            <a:ext cx="8229600" cy="1920240"/>
          </a:xfrm>
          <a:prstGeom prst="rect">
            <a:avLst/>
          </a:prstGeom>
          <a:noFill/>
          <a:ln/>
        </p:spPr>
        <p:txBody>
          <a:bodyPr wrap="square" lIns="38100" tIns="38100" rIns="38100" bIns="38100" rtlCol="0" anchor="t"/>
          <a:lstStyle/>
          <a:p>
            <a:pPr marL="203200" indent="-203200">
              <a:spcAft>
                <a:spcPts val="300"/>
              </a:spcAft>
              <a:buSzPct val="100000"/>
              <a:buChar char="•"/>
            </a:pPr>
            <a:r>
              <a:rPr lang="en-US" sz="1600" b="1" dirty="0">
                <a:solidFill>
                  <a:schemeClr val="tx1"/>
                </a:solidFill>
                <a:latin typeface="Calibri" pitchFamily="34" charset="0"/>
                <a:ea typeface="Calibri" pitchFamily="34" charset="-122"/>
                <a:cs typeface="Calibri" pitchFamily="34" charset="-120"/>
              </a:rPr>
              <a:t>Overview, Ontology</a:t>
            </a:r>
            <a:r>
              <a:rPr lang="en-US" sz="1600" dirty="0">
                <a:solidFill>
                  <a:schemeClr val="tx1"/>
                </a:solidFill>
                <a:latin typeface="Calibri" pitchFamily="34" charset="0"/>
                <a:ea typeface="Calibri" pitchFamily="34" charset="-122"/>
                <a:cs typeface="Calibri" pitchFamily="34" charset="-120"/>
              </a:rPr>
              <a:t>: dataset size, 8,624 resources in the </a:t>
            </a:r>
            <a:r>
              <a:rPr lang="en-US" sz="1600" dirty="0">
                <a:solidFill>
                  <a:schemeClr val="tx1"/>
                </a:solidFill>
                <a:latin typeface="Consolas" pitchFamily="34" charset="0"/>
                <a:ea typeface="Consolas" pitchFamily="34" charset="-122"/>
                <a:cs typeface="Consolas" pitchFamily="34" charset="-120"/>
              </a:rPr>
              <a:t>vio:</a:t>
            </a:r>
            <a:r>
              <a:rPr lang="en-US" sz="1600" dirty="0">
                <a:solidFill>
                  <a:schemeClr val="tx1"/>
                </a:solidFill>
                <a:latin typeface="Calibri" pitchFamily="34" charset="0"/>
                <a:ea typeface="Calibri" pitchFamily="34" charset="-122"/>
                <a:cs typeface="Calibri" pitchFamily="34" charset="-120"/>
              </a:rPr>
              <a:t> class tree with its DBpedia parents, OWL axioms</a:t>
            </a:r>
            <a:endParaRPr lang="en-US" sz="1600" dirty="0"/>
          </a:p>
          <a:p>
            <a:pPr marL="203200" indent="-203200">
              <a:spcAft>
                <a:spcPts val="300"/>
              </a:spcAft>
              <a:buSzPct val="100000"/>
              <a:buChar char="•"/>
            </a:pPr>
            <a:r>
              <a:rPr lang="en-US" sz="1600" b="1" dirty="0">
                <a:solidFill>
                  <a:schemeClr val="tx1"/>
                </a:solidFill>
                <a:latin typeface="Calibri" pitchFamily="34" charset="0"/>
                <a:ea typeface="Calibri" pitchFamily="34" charset="-122"/>
                <a:cs typeface="Calibri" pitchFamily="34" charset="-120"/>
              </a:rPr>
              <a:t>Entity</a:t>
            </a:r>
            <a:r>
              <a:rPr lang="en-US" sz="1600" dirty="0">
                <a:solidFill>
                  <a:schemeClr val="tx1"/>
                </a:solidFill>
                <a:latin typeface="Calibri" pitchFamily="34" charset="0"/>
                <a:ea typeface="Calibri" pitchFamily="34" charset="-122"/>
                <a:cs typeface="Calibri" pitchFamily="34" charset="-120"/>
              </a:rPr>
              <a:t> (left): page like </a:t>
            </a:r>
            <a:r>
              <a:rPr lang="en-US" sz="1600" dirty="0">
                <a:solidFill>
                  <a:schemeClr val="tx1"/>
                </a:solidFill>
                <a:latin typeface="Consolas" pitchFamily="34" charset="0"/>
                <a:ea typeface="Consolas" pitchFamily="34" charset="-122"/>
                <a:cs typeface="Consolas" pitchFamily="34" charset="-120"/>
              </a:rPr>
              <a:t>dbpedia.org/page/…</a:t>
            </a:r>
            <a:r>
              <a:rPr lang="en-US" sz="1600" dirty="0">
                <a:solidFill>
                  <a:schemeClr val="tx1"/>
                </a:solidFill>
                <a:latin typeface="Calibri" pitchFamily="34" charset="0"/>
                <a:ea typeface="Calibri" pitchFamily="34" charset="-122"/>
                <a:cs typeface="Calibri" pitchFamily="34" charset="-120"/>
              </a:rPr>
              <a:t>; classes marked khai báo (asserted) or suy luận (inferred); Linked Data card, career timeline, draggable graph</a:t>
            </a:r>
            <a:endParaRPr lang="en-US" sz="1600" dirty="0"/>
          </a:p>
          <a:p>
            <a:pPr marL="203200" indent="-203200">
              <a:spcAft>
                <a:spcPts val="300"/>
              </a:spcAft>
              <a:buSzPct val="100000"/>
              <a:buChar char="•"/>
            </a:pPr>
            <a:r>
              <a:rPr lang="en-US" sz="1600" b="1" dirty="0">
                <a:solidFill>
                  <a:schemeClr val="tx1"/>
                </a:solidFill>
                <a:latin typeface="Calibri" pitchFamily="34" charset="0"/>
                <a:ea typeface="Calibri" pitchFamily="34" charset="-122"/>
                <a:cs typeface="Calibri" pitchFamily="34" charset="-120"/>
              </a:rPr>
              <a:t>Question answering</a:t>
            </a:r>
            <a:r>
              <a:rPr lang="en-US" sz="1600" dirty="0">
                <a:solidFill>
                  <a:schemeClr val="tx1"/>
                </a:solidFill>
                <a:latin typeface="Calibri" pitchFamily="34" charset="0"/>
                <a:ea typeface="Calibri" pitchFamily="34" charset="-122"/>
                <a:cs typeface="Calibri" pitchFamily="34" charset="-120"/>
              </a:rPr>
              <a:t>: Vietnamese or English, six visible steps (next slide)</a:t>
            </a:r>
            <a:endParaRPr lang="en-US" sz="1600" dirty="0"/>
          </a:p>
          <a:p>
            <a:pPr marL="203200" indent="-203200">
              <a:spcAft>
                <a:spcPts val="300"/>
              </a:spcAft>
              <a:buSzPct val="100000"/>
              <a:buChar char="•"/>
            </a:pPr>
            <a:r>
              <a:rPr lang="en-US" sz="1600" b="1" dirty="0">
                <a:solidFill>
                  <a:schemeClr val="tx1"/>
                </a:solidFill>
                <a:latin typeface="Calibri" pitchFamily="34" charset="0"/>
                <a:ea typeface="Calibri" pitchFamily="34" charset="-122"/>
                <a:cs typeface="Calibri" pitchFamily="34" charset="-120"/>
              </a:rPr>
              <a:t>SPARQL</a:t>
            </a:r>
            <a:r>
              <a:rPr lang="en-US" sz="1600" dirty="0">
                <a:solidFill>
                  <a:schemeClr val="tx1"/>
                </a:solidFill>
                <a:latin typeface="Calibri" pitchFamily="34" charset="0"/>
                <a:ea typeface="Calibri" pitchFamily="34" charset="-122"/>
                <a:cs typeface="Calibri" pitchFamily="34" charset="-120"/>
              </a:rPr>
              <a:t> (right): editor, 19 prefixes, 9 examples, inference switch, JSON/CSV</a:t>
            </a:r>
            <a:endParaRPr lang="en-US" sz="1600" dirty="0"/>
          </a:p>
          <a:p>
            <a:pPr marL="203200" indent="-203200">
              <a:spcAft>
                <a:spcPts val="300"/>
              </a:spcAft>
              <a:buSzPct val="100000"/>
              <a:buChar char="•"/>
            </a:pPr>
            <a:r>
              <a:rPr lang="en-US" sz="1600" b="1" dirty="0">
                <a:solidFill>
                  <a:schemeClr val="tx1"/>
                </a:solidFill>
                <a:latin typeface="Calibri" pitchFamily="34" charset="0"/>
                <a:ea typeface="Calibri" pitchFamily="34" charset="-122"/>
                <a:cs typeface="Calibri" pitchFamily="34" charset="-120"/>
              </a:rPr>
              <a:t>Hiện suy luận</a:t>
            </a:r>
            <a:r>
              <a:rPr lang="en-US" sz="1600" dirty="0">
                <a:solidFill>
                  <a:schemeClr val="tx1"/>
                </a:solidFill>
                <a:latin typeface="Calibri" pitchFamily="34" charset="0"/>
                <a:ea typeface="Calibri" pitchFamily="34" charset="-122"/>
                <a:cs typeface="Calibri" pitchFamily="34" charset="-120"/>
              </a:rPr>
              <a:t> switch: hides inferred triples in every graph</a:t>
            </a:r>
            <a:endParaRPr lang="en-US" sz="16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Question Answering: the LLM Writes SPARQL</a:t>
            </a:r>
            <a:endParaRPr lang="en-US" sz="2600" dirty="0"/>
          </a:p>
        </p:txBody>
      </p:sp>
      <p:sp>
        <p:nvSpPr>
          <p:cNvPr id="4" name="Text 1"/>
          <p:cNvSpPr txBox="1"/>
          <p:nvPr/>
        </p:nvSpPr>
        <p:spPr>
          <a:xfrm>
            <a:off x="457200" y="1051560"/>
            <a:ext cx="1828800" cy="868680"/>
          </a:xfrm>
          <a:prstGeom prst="roundRect">
            <a:avLst>
              <a:gd name="adj" fmla="val 5263"/>
            </a:avLst>
          </a:prstGeom>
          <a:solidFill>
            <a:srgbClr val="EDEDED"/>
          </a:solidFill>
          <a:ln w="9525">
            <a:solidFill>
              <a:srgbClr val="737373"/>
            </a:solidFill>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Question</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(Vietnamese or English)</a:t>
            </a:r>
            <a:endParaRPr lang="en-US" sz="1300" dirty="0"/>
          </a:p>
        </p:txBody>
      </p:sp>
      <p:sp>
        <p:nvSpPr>
          <p:cNvPr id="5" name="Text 2"/>
          <p:cNvSpPr txBox="1"/>
          <p:nvPr/>
        </p:nvSpPr>
        <p:spPr>
          <a:xfrm>
            <a:off x="2587752" y="1051560"/>
            <a:ext cx="1828800" cy="868680"/>
          </a:xfrm>
          <a:prstGeom prst="roundRect">
            <a:avLst>
              <a:gd name="adj" fmla="val 5263"/>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(1) Entity linking:</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IRIs from the name</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index → prompt</a:t>
            </a:r>
            <a:endParaRPr lang="en-US" sz="1300" dirty="0"/>
          </a:p>
        </p:txBody>
      </p:sp>
      <p:sp>
        <p:nvSpPr>
          <p:cNvPr id="6" name="Text 3"/>
          <p:cNvSpPr txBox="1"/>
          <p:nvPr/>
        </p:nvSpPr>
        <p:spPr>
          <a:xfrm>
            <a:off x="4718304" y="1051560"/>
            <a:ext cx="1828800" cy="868680"/>
          </a:xfrm>
          <a:prstGeom prst="roundRect">
            <a:avLst>
              <a:gd name="adj" fmla="val 5263"/>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LLM + prompt</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(schema, rules,</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6 examples)</a:t>
            </a:r>
            <a:endParaRPr lang="en-US" sz="1300" dirty="0"/>
          </a:p>
        </p:txBody>
      </p:sp>
      <p:sp>
        <p:nvSpPr>
          <p:cNvPr id="7" name="Text 4"/>
          <p:cNvSpPr txBox="1"/>
          <p:nvPr/>
        </p:nvSpPr>
        <p:spPr>
          <a:xfrm>
            <a:off x="6848856" y="1051560"/>
            <a:ext cx="1828800" cy="868680"/>
          </a:xfrm>
          <a:prstGeom prst="roundRect">
            <a:avLst>
              <a:gd name="adj" fmla="val 5263"/>
            </a:avLst>
          </a:prstGeom>
          <a:solidFill>
            <a:srgbClr val="EDEDED"/>
          </a:solidFill>
          <a:ln w="9525">
            <a:solidFill>
              <a:srgbClr val="737373"/>
            </a:solidFill>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(2) SPARQL query</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every attempt shown</a:t>
            </a:r>
            <a:endParaRPr lang="en-US" sz="1300" dirty="0"/>
          </a:p>
        </p:txBody>
      </p:sp>
      <p:sp>
        <p:nvSpPr>
          <p:cNvPr id="8" name="Text 5"/>
          <p:cNvSpPr txBox="1"/>
          <p:nvPr/>
        </p:nvSpPr>
        <p:spPr>
          <a:xfrm>
            <a:off x="6848856" y="2514600"/>
            <a:ext cx="1828800" cy="868680"/>
          </a:xfrm>
          <a:prstGeom prst="roundRect">
            <a:avLst>
              <a:gd name="adj" fmla="val 5263"/>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(3) Checks:</a:t>
            </a:r>
            <a:endParaRPr lang="en-US" sz="1300" dirty="0"/>
          </a:p>
          <a:p>
            <a:pPr algn="ctr" indent="0" marL="0">
              <a:buNone/>
            </a:pPr>
            <a:r>
              <a:rPr lang="en-US" sz="1300" dirty="0">
                <a:solidFill>
                  <a:schemeClr val="tx1"/>
                </a:solidFill>
                <a:latin typeface="Consolas" pitchFamily="34" charset="0"/>
                <a:ea typeface="Consolas" pitchFamily="34" charset="-122"/>
                <a:cs typeface="Consolas" pitchFamily="34" charset="-120"/>
              </a:rPr>
              <a:t>SELECT</a:t>
            </a:r>
            <a:r>
              <a:rPr lang="en-US" sz="1300" dirty="0">
                <a:solidFill>
                  <a:schemeClr val="tx1"/>
                </a:solidFill>
                <a:latin typeface="Calibri" pitchFamily="34" charset="0"/>
                <a:ea typeface="Calibri" pitchFamily="34" charset="-122"/>
                <a:cs typeface="Calibri" pitchFamily="34" charset="-120"/>
              </a:rPr>
              <a:t>/</a:t>
            </a:r>
            <a:r>
              <a:rPr lang="en-US" sz="1300" dirty="0">
                <a:solidFill>
                  <a:schemeClr val="tx1"/>
                </a:solidFill>
                <a:latin typeface="Consolas" pitchFamily="34" charset="0"/>
                <a:ea typeface="Consolas" pitchFamily="34" charset="-122"/>
                <a:cs typeface="Consolas" pitchFamily="34" charset="-120"/>
              </a:rPr>
              <a:t>ASK</a:t>
            </a:r>
            <a:r>
              <a:rPr lang="en-US" sz="1300" dirty="0">
                <a:solidFill>
                  <a:schemeClr val="tx1"/>
                </a:solidFill>
                <a:latin typeface="Calibri" pitchFamily="34" charset="0"/>
                <a:ea typeface="Calibri" pitchFamily="34" charset="-122"/>
                <a:cs typeface="Calibri" pitchFamily="34" charset="-120"/>
              </a:rPr>
              <a:t>, </a:t>
            </a:r>
            <a:r>
              <a:rPr lang="en-US" sz="1300" dirty="0">
                <a:solidFill>
                  <a:schemeClr val="tx1"/>
                </a:solidFill>
                <a:latin typeface="Consolas" pitchFamily="34" charset="0"/>
                <a:ea typeface="Consolas" pitchFamily="34" charset="-122"/>
                <a:cs typeface="Consolas" pitchFamily="34" charset="-120"/>
              </a:rPr>
              <a:t>LIMIT</a:t>
            </a:r>
            <a:r>
              <a:rPr lang="en-US" sz="1300" dirty="0">
                <a:solidFill>
                  <a:schemeClr val="tx1"/>
                </a:solidFill>
                <a:latin typeface="Calibri" pitchFamily="34" charset="0"/>
                <a:ea typeface="Calibri" pitchFamily="34" charset="-122"/>
                <a:cs typeface="Calibri" pitchFamily="34" charset="-120"/>
              </a:rPr>
              <a:t>,</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IRIs exist in graph</a:t>
            </a:r>
            <a:endParaRPr lang="en-US" sz="1300" dirty="0"/>
          </a:p>
        </p:txBody>
      </p:sp>
      <p:sp>
        <p:nvSpPr>
          <p:cNvPr id="9" name="Text 6"/>
          <p:cNvSpPr txBox="1"/>
          <p:nvPr/>
        </p:nvSpPr>
        <p:spPr>
          <a:xfrm>
            <a:off x="4718304" y="2514600"/>
            <a:ext cx="1828800" cy="868680"/>
          </a:xfrm>
          <a:prstGeom prst="roundRect">
            <a:avLst>
              <a:gd name="adj" fmla="val 5263"/>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(4) Run with and</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without inference</a:t>
            </a:r>
            <a:endParaRPr lang="en-US" sz="1300" dirty="0"/>
          </a:p>
        </p:txBody>
      </p:sp>
      <p:sp>
        <p:nvSpPr>
          <p:cNvPr id="10" name="Text 7"/>
          <p:cNvSpPr txBox="1"/>
          <p:nvPr/>
        </p:nvSpPr>
        <p:spPr>
          <a:xfrm>
            <a:off x="2587752" y="2514600"/>
            <a:ext cx="1828800" cy="868680"/>
          </a:xfrm>
          <a:prstGeom prst="roundRect">
            <a:avLst>
              <a:gd name="adj" fmla="val 5263"/>
            </a:avLst>
          </a:prstGeom>
          <a:solidFill>
            <a:schemeClr val="bg2"/>
          </a:solidFill>
          <a:ln w="15875">
            <a:solidFill>
              <a:schemeClr val="accent1"/>
            </a:solidFill>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(5) LLM answers</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from at most</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30 rows</a:t>
            </a:r>
            <a:endParaRPr lang="en-US" sz="1300" dirty="0"/>
          </a:p>
        </p:txBody>
      </p:sp>
      <p:sp>
        <p:nvSpPr>
          <p:cNvPr id="11" name="Text 8"/>
          <p:cNvSpPr txBox="1"/>
          <p:nvPr/>
        </p:nvSpPr>
        <p:spPr>
          <a:xfrm>
            <a:off x="457200" y="2514600"/>
            <a:ext cx="1828800" cy="868680"/>
          </a:xfrm>
          <a:prstGeom prst="roundRect">
            <a:avLst>
              <a:gd name="adj" fmla="val 5263"/>
            </a:avLst>
          </a:prstGeom>
          <a:solidFill>
            <a:srgbClr val="EDEDED"/>
          </a:solidFill>
          <a:ln w="9525">
            <a:solidFill>
              <a:srgbClr val="737373"/>
            </a:solidFill>
          </a:ln>
        </p:spPr>
        <p:txBody>
          <a:bodyPr wrap="square" lIns="25400" tIns="25400" rIns="25400" bIns="2540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(6) Answer first</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 evidence graph</a:t>
            </a:r>
            <a:endParaRPr lang="en-US" sz="1300" dirty="0"/>
          </a:p>
        </p:txBody>
      </p:sp>
      <p:sp>
        <p:nvSpPr>
          <p:cNvPr id="12" name="Shape 9"/>
          <p:cNvSpPr/>
          <p:nvPr/>
        </p:nvSpPr>
        <p:spPr>
          <a:xfrm>
            <a:off x="2286000" y="1485900"/>
            <a:ext cx="301752" cy="0"/>
          </a:xfrm>
          <a:prstGeom prst="line">
            <a:avLst/>
          </a:prstGeom>
          <a:noFill/>
          <a:ln w="19050">
            <a:solidFill>
              <a:srgbClr val="666666"/>
            </a:solidFill>
            <a:prstDash val="solid"/>
            <a:tailEnd type="triangle"/>
          </a:ln>
        </p:spPr>
      </p:sp>
      <p:sp>
        <p:nvSpPr>
          <p:cNvPr id="13" name="Shape 10"/>
          <p:cNvSpPr/>
          <p:nvPr/>
        </p:nvSpPr>
        <p:spPr>
          <a:xfrm>
            <a:off x="4416552" y="1485900"/>
            <a:ext cx="301752" cy="0"/>
          </a:xfrm>
          <a:prstGeom prst="line">
            <a:avLst/>
          </a:prstGeom>
          <a:noFill/>
          <a:ln w="19050">
            <a:solidFill>
              <a:srgbClr val="666666"/>
            </a:solidFill>
            <a:prstDash val="solid"/>
            <a:tailEnd type="triangle"/>
          </a:ln>
        </p:spPr>
      </p:sp>
      <p:sp>
        <p:nvSpPr>
          <p:cNvPr id="14" name="Shape 11"/>
          <p:cNvSpPr/>
          <p:nvPr/>
        </p:nvSpPr>
        <p:spPr>
          <a:xfrm>
            <a:off x="6547104" y="1485900"/>
            <a:ext cx="301752" cy="0"/>
          </a:xfrm>
          <a:prstGeom prst="line">
            <a:avLst/>
          </a:prstGeom>
          <a:noFill/>
          <a:ln w="19050">
            <a:solidFill>
              <a:srgbClr val="666666"/>
            </a:solidFill>
            <a:prstDash val="solid"/>
            <a:tailEnd type="triangle"/>
          </a:ln>
        </p:spPr>
      </p:sp>
      <p:sp>
        <p:nvSpPr>
          <p:cNvPr id="15" name="Shape 12"/>
          <p:cNvSpPr/>
          <p:nvPr/>
        </p:nvSpPr>
        <p:spPr>
          <a:xfrm>
            <a:off x="7763256" y="1920240"/>
            <a:ext cx="0" cy="594360"/>
          </a:xfrm>
          <a:prstGeom prst="line">
            <a:avLst/>
          </a:prstGeom>
          <a:noFill/>
          <a:ln w="19050">
            <a:solidFill>
              <a:srgbClr val="666666"/>
            </a:solidFill>
            <a:prstDash val="solid"/>
            <a:tailEnd type="triangle"/>
          </a:ln>
        </p:spPr>
      </p:sp>
      <p:sp>
        <p:nvSpPr>
          <p:cNvPr id="16" name="Shape 13"/>
          <p:cNvSpPr/>
          <p:nvPr/>
        </p:nvSpPr>
        <p:spPr>
          <a:xfrm flipH="1">
            <a:off x="6547104" y="2948940"/>
            <a:ext cx="301752" cy="0"/>
          </a:xfrm>
          <a:prstGeom prst="line">
            <a:avLst/>
          </a:prstGeom>
          <a:noFill/>
          <a:ln w="19050">
            <a:solidFill>
              <a:srgbClr val="666666"/>
            </a:solidFill>
            <a:prstDash val="solid"/>
            <a:tailEnd type="triangle"/>
          </a:ln>
        </p:spPr>
      </p:sp>
      <p:sp>
        <p:nvSpPr>
          <p:cNvPr id="17" name="Shape 14"/>
          <p:cNvSpPr/>
          <p:nvPr/>
        </p:nvSpPr>
        <p:spPr>
          <a:xfrm flipH="1">
            <a:off x="4416552" y="2948940"/>
            <a:ext cx="301752" cy="0"/>
          </a:xfrm>
          <a:prstGeom prst="line">
            <a:avLst/>
          </a:prstGeom>
          <a:noFill/>
          <a:ln w="19050">
            <a:solidFill>
              <a:srgbClr val="666666"/>
            </a:solidFill>
            <a:prstDash val="solid"/>
            <a:tailEnd type="triangle"/>
          </a:ln>
        </p:spPr>
      </p:sp>
      <p:sp>
        <p:nvSpPr>
          <p:cNvPr id="18" name="Shape 15"/>
          <p:cNvSpPr/>
          <p:nvPr/>
        </p:nvSpPr>
        <p:spPr>
          <a:xfrm flipH="1">
            <a:off x="2286000" y="2948940"/>
            <a:ext cx="301752" cy="0"/>
          </a:xfrm>
          <a:prstGeom prst="line">
            <a:avLst/>
          </a:prstGeom>
          <a:noFill/>
          <a:ln w="19050">
            <a:solidFill>
              <a:srgbClr val="666666"/>
            </a:solidFill>
            <a:prstDash val="solid"/>
            <a:tailEnd type="triangle"/>
          </a:ln>
        </p:spPr>
      </p:sp>
      <p:sp>
        <p:nvSpPr>
          <p:cNvPr id="19" name="Shape 16"/>
          <p:cNvSpPr/>
          <p:nvPr/>
        </p:nvSpPr>
        <p:spPr>
          <a:xfrm flipV="1">
            <a:off x="5632704" y="1920240"/>
            <a:ext cx="0" cy="594360"/>
          </a:xfrm>
          <a:prstGeom prst="line">
            <a:avLst/>
          </a:prstGeom>
          <a:noFill/>
          <a:ln w="22225">
            <a:solidFill>
              <a:schemeClr val="accent1"/>
            </a:solidFill>
            <a:prstDash val="dash"/>
            <a:tailEnd type="triangle"/>
          </a:ln>
        </p:spPr>
      </p:sp>
      <p:sp>
        <p:nvSpPr>
          <p:cNvPr id="20" name="Text 17"/>
          <p:cNvSpPr txBox="1"/>
          <p:nvPr/>
        </p:nvSpPr>
        <p:spPr>
          <a:xfrm>
            <a:off x="5705856" y="1956816"/>
            <a:ext cx="1280160" cy="502920"/>
          </a:xfrm>
          <a:prstGeom prst="rect">
            <a:avLst/>
          </a:prstGeom>
          <a:noFill/>
          <a:ln/>
        </p:spPr>
        <p:txBody>
          <a:bodyPr wrap="square" lIns="0" tIns="0" rIns="0" bIns="0" rtlCol="0" anchor="ctr"/>
          <a:lstStyle/>
          <a:p>
            <a:pPr indent="0" marL="0">
              <a:buNone/>
            </a:pPr>
            <a:r>
              <a:rPr lang="en-US" sz="1100" dirty="0">
                <a:solidFill>
                  <a:schemeClr val="accent1"/>
                </a:solidFill>
                <a:latin typeface="Calibri" pitchFamily="34" charset="0"/>
                <a:ea typeface="Calibri" pitchFamily="34" charset="-122"/>
                <a:cs typeface="Calibri" pitchFamily="34" charset="-120"/>
              </a:rPr>
              <a:t>error or 0 rows:</a:t>
            </a:r>
            <a:endParaRPr lang="en-US" sz="1100" dirty="0"/>
          </a:p>
          <a:p>
            <a:pPr indent="0" marL="0">
              <a:buNone/>
            </a:pPr>
            <a:r>
              <a:rPr lang="en-US" sz="1100" dirty="0">
                <a:solidFill>
                  <a:schemeClr val="accent1"/>
                </a:solidFill>
                <a:latin typeface="Calibri" pitchFamily="34" charset="0"/>
                <a:ea typeface="Calibri" pitchFamily="34" charset="-122"/>
                <a:cs typeface="Calibri" pitchFamily="34" charset="-120"/>
              </a:rPr>
              <a:t>repair once</a:t>
            </a:r>
            <a:endParaRPr lang="en-US" sz="1100" dirty="0"/>
          </a:p>
        </p:txBody>
      </p:sp>
      <p:sp>
        <p:nvSpPr>
          <p:cNvPr id="21" name="Text 18"/>
          <p:cNvSpPr txBox="1"/>
          <p:nvPr/>
        </p:nvSpPr>
        <p:spPr>
          <a:xfrm>
            <a:off x="457200" y="3703320"/>
            <a:ext cx="8229600" cy="2468880"/>
          </a:xfrm>
          <a:prstGeom prst="rect">
            <a:avLst/>
          </a:prstGeom>
          <a:noFill/>
          <a:ln/>
        </p:spPr>
        <p:txBody>
          <a:bodyPr wrap="square" lIns="38100" tIns="38100" rIns="38100" bIns="38100" rtlCol="0" anchor="t"/>
          <a:lstStyle/>
          <a:p>
            <a:pPr marL="203200" indent="-203200">
              <a:spcAft>
                <a:spcPts val="600"/>
              </a:spcAft>
              <a:buSzPct val="100000"/>
              <a:buChar char="•"/>
            </a:pPr>
            <a:r>
              <a:rPr lang="en-US" sz="1700" b="1" dirty="0">
                <a:solidFill>
                  <a:schemeClr val="tx1"/>
                </a:solidFill>
                <a:latin typeface="Calibri" pitchFamily="34" charset="0"/>
                <a:ea typeface="Calibri" pitchFamily="34" charset="-122"/>
                <a:cs typeface="Calibri" pitchFamily="34" charset="-120"/>
              </a:rPr>
              <a:t>Answer first, then six visible steps</a:t>
            </a:r>
            <a:r>
              <a:rPr lang="en-US" sz="1700" dirty="0">
                <a:solidFill>
                  <a:schemeClr val="tx1"/>
                </a:solidFill>
                <a:latin typeface="Calibri" pitchFamily="34" charset="0"/>
                <a:ea typeface="Calibri" pitchFamily="34" charset="-122"/>
                <a:cs typeface="Calibri" pitchFamily="34" charset="-120"/>
              </a:rPr>
              <a:t>: Than Quảng Ninh → 39 players with reasoning, 0 on the asserted data</a:t>
            </a:r>
            <a:endParaRPr lang="en-US" sz="1700" dirty="0"/>
          </a:p>
          <a:p>
            <a:pPr marL="203200" indent="-203200">
              <a:spcAft>
                <a:spcPts val="600"/>
              </a:spcAft>
              <a:buSzPct val="100000"/>
              <a:buChar char="•"/>
            </a:pPr>
            <a:r>
              <a:rPr lang="en-US" sz="1700" b="1" dirty="0">
                <a:solidFill>
                  <a:schemeClr val="tx1"/>
                </a:solidFill>
                <a:latin typeface="Calibri" pitchFamily="34" charset="0"/>
                <a:ea typeface="Calibri" pitchFamily="34" charset="-122"/>
                <a:cs typeface="Calibri" pitchFamily="34" charset="-120"/>
              </a:rPr>
              <a:t>Entity lookup by name in a subquery</a:t>
            </a:r>
            <a:pPr indent="0" marL="0">
              <a:buNone/>
            </a:pPr>
            <a:r>
              <a:rPr lang="en-US" sz="1700" dirty="0">
                <a:solidFill>
                  <a:schemeClr val="tx1"/>
                </a:solidFill>
                <a:latin typeface="Calibri" pitchFamily="34" charset="0"/>
                <a:ea typeface="Calibri" pitchFamily="34" charset="-122"/>
                <a:cs typeface="Calibri" pitchFamily="34" charset="-120"/>
              </a:rPr>
              <a:t>: rdflib applies </a:t>
            </a:r>
            <a:pPr indent="0" marL="0">
              <a:buNone/>
            </a:pPr>
            <a:r>
              <a:rPr lang="en-US" sz="1700" dirty="0">
                <a:solidFill>
                  <a:schemeClr val="tx1"/>
                </a:solidFill>
                <a:latin typeface="Consolas" pitchFamily="34" charset="0"/>
                <a:ea typeface="Consolas" pitchFamily="34" charset="-122"/>
                <a:cs typeface="Consolas" pitchFamily="34" charset="-120"/>
              </a:rPr>
              <a:t>FILTER</a:t>
            </a:r>
            <a:pPr indent="0" marL="0">
              <a:buNone/>
            </a:pPr>
            <a:r>
              <a:rPr lang="en-US" sz="1700" dirty="0">
                <a:solidFill>
                  <a:schemeClr val="tx1"/>
                </a:solidFill>
                <a:latin typeface="Calibri" pitchFamily="34" charset="0"/>
                <a:ea typeface="Calibri" pitchFamily="34" charset="-122"/>
                <a:cs typeface="Calibri" pitchFamily="34" charset="-120"/>
              </a:rPr>
              <a:t> after the join, so the Công Phượng career query drops from </a:t>
            </a:r>
            <a:pPr indent="0" marL="0">
              <a:buNone/>
            </a:pPr>
            <a:r>
              <a:rPr lang="en-US" sz="1700" dirty="0">
                <a:solidFill>
                  <a:schemeClr val="accent1"/>
                </a:solidFill>
                <a:latin typeface="Calibri" pitchFamily="34" charset="0"/>
                <a:ea typeface="Calibri" pitchFamily="34" charset="-122"/>
                <a:cs typeface="Calibri" pitchFamily="34" charset="-120"/>
              </a:rPr>
              <a:t>10.7 s to 0.27 s</a:t>
            </a:r>
            <a:endParaRPr lang="en-US" sz="1700" dirty="0"/>
          </a:p>
          <a:p>
            <a:pPr marL="203200" indent="-203200">
              <a:spcAft>
                <a:spcPts val="600"/>
              </a:spcAft>
              <a:buSzPct val="100000"/>
              <a:buChar char="•"/>
            </a:pPr>
            <a:r>
              <a:rPr lang="en-US" sz="1700" dirty="0">
                <a:solidFill>
                  <a:schemeClr val="tx1"/>
                </a:solidFill>
                <a:latin typeface="Calibri" pitchFamily="34" charset="0"/>
                <a:ea typeface="Calibri" pitchFamily="34" charset="-122"/>
                <a:cs typeface="Calibri" pitchFamily="34" charset="-120"/>
              </a:rPr>
              <a:t>Works with any OpenAI-compatible API (gpt-4o in the demo, Gemini, Ollama) via </a:t>
            </a:r>
            <a:r>
              <a:rPr lang="en-US" sz="1700" dirty="0">
                <a:solidFill>
                  <a:schemeClr val="tx1"/>
                </a:solidFill>
                <a:latin typeface="Consolas" pitchFamily="34" charset="0"/>
                <a:ea typeface="Consolas" pitchFamily="34" charset="-122"/>
                <a:cs typeface="Consolas" pitchFamily="34" charset="-120"/>
              </a:rPr>
              <a:t>.env</a:t>
            </a:r>
            <a:r>
              <a:rPr lang="en-US" sz="1700" dirty="0">
                <a:solidFill>
                  <a:schemeClr val="tx1"/>
                </a:solidFill>
                <a:latin typeface="Calibri" pitchFamily="34" charset="0"/>
                <a:ea typeface="Calibri" pitchFamily="34" charset="-122"/>
                <a:cs typeface="Calibri" pitchFamily="34" charset="-120"/>
              </a:rPr>
              <a:t>; tests use a stubbed model, no API key needed</a:t>
            </a:r>
            <a:endParaRPr lang="en-US" sz="17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Evaluation: Dataset and Competency Questions</a:t>
            </a:r>
            <a:endParaRPr lang="en-US" sz="2600" dirty="0"/>
          </a:p>
        </p:txBody>
      </p:sp>
      <p:sp>
        <p:nvSpPr>
          <p:cNvPr id="4" name="Text 1"/>
          <p:cNvSpPr txBox="1"/>
          <p:nvPr/>
        </p:nvSpPr>
        <p:spPr>
          <a:xfrm>
            <a:off x="685800" y="960120"/>
            <a:ext cx="1828800" cy="548640"/>
          </a:xfrm>
          <a:prstGeom prst="rect">
            <a:avLst/>
          </a:prstGeom>
          <a:noFill/>
          <a:ln/>
        </p:spPr>
        <p:txBody>
          <a:bodyPr wrap="square" lIns="0" tIns="0" rIns="0" bIns="0" rtlCol="0" anchor="b"/>
          <a:lstStyle/>
          <a:p>
            <a:pPr algn="ctr" indent="0" marL="0">
              <a:buNone/>
            </a:pPr>
            <a:r>
              <a:rPr lang="en-US" sz="3200" b="1" dirty="0">
                <a:solidFill>
                  <a:schemeClr val="accent1"/>
                </a:solidFill>
                <a:latin typeface="Calibri" pitchFamily="34" charset="0"/>
                <a:ea typeface="Calibri" pitchFamily="34" charset="-122"/>
                <a:cs typeface="Calibri" pitchFamily="34" charset="-120"/>
              </a:rPr>
              <a:t>131,543</a:t>
            </a:r>
            <a:endParaRPr lang="en-US" sz="3200" dirty="0"/>
          </a:p>
        </p:txBody>
      </p:sp>
      <p:sp>
        <p:nvSpPr>
          <p:cNvPr id="5" name="Text 2"/>
          <p:cNvSpPr txBox="1"/>
          <p:nvPr/>
        </p:nvSpPr>
        <p:spPr>
          <a:xfrm>
            <a:off x="685800" y="1508760"/>
            <a:ext cx="1828800" cy="2743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triples</a:t>
            </a:r>
            <a:endParaRPr lang="en-US" sz="1300" dirty="0"/>
          </a:p>
        </p:txBody>
      </p:sp>
      <p:sp>
        <p:nvSpPr>
          <p:cNvPr id="6" name="Text 3"/>
          <p:cNvSpPr txBox="1"/>
          <p:nvPr/>
        </p:nvSpPr>
        <p:spPr>
          <a:xfrm>
            <a:off x="2651760" y="960120"/>
            <a:ext cx="1828800" cy="548640"/>
          </a:xfrm>
          <a:prstGeom prst="rect">
            <a:avLst/>
          </a:prstGeom>
          <a:noFill/>
          <a:ln/>
        </p:spPr>
        <p:txBody>
          <a:bodyPr wrap="square" lIns="0" tIns="0" rIns="0" bIns="0" rtlCol="0" anchor="b"/>
          <a:lstStyle/>
          <a:p>
            <a:pPr algn="ctr" indent="0" marL="0">
              <a:buNone/>
            </a:pPr>
            <a:r>
              <a:rPr lang="en-US" sz="3200" b="1" dirty="0">
                <a:solidFill>
                  <a:schemeClr val="accent1"/>
                </a:solidFill>
                <a:latin typeface="Calibri" pitchFamily="34" charset="0"/>
                <a:ea typeface="Calibri" pitchFamily="34" charset="-122"/>
                <a:cs typeface="Calibri" pitchFamily="34" charset="-120"/>
              </a:rPr>
              <a:t>990</a:t>
            </a:r>
            <a:endParaRPr lang="en-US" sz="3200" dirty="0"/>
          </a:p>
        </p:txBody>
      </p:sp>
      <p:sp>
        <p:nvSpPr>
          <p:cNvPr id="7" name="Text 4"/>
          <p:cNvSpPr txBox="1"/>
          <p:nvPr/>
        </p:nvSpPr>
        <p:spPr>
          <a:xfrm>
            <a:off x="2651760" y="1508760"/>
            <a:ext cx="1828800" cy="2743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entities</a:t>
            </a:r>
            <a:endParaRPr lang="en-US" sz="1300" dirty="0"/>
          </a:p>
        </p:txBody>
      </p:sp>
      <p:sp>
        <p:nvSpPr>
          <p:cNvPr id="8" name="Text 5"/>
          <p:cNvSpPr txBox="1"/>
          <p:nvPr/>
        </p:nvSpPr>
        <p:spPr>
          <a:xfrm>
            <a:off x="4617720" y="960120"/>
            <a:ext cx="1828800" cy="548640"/>
          </a:xfrm>
          <a:prstGeom prst="rect">
            <a:avLst/>
          </a:prstGeom>
          <a:noFill/>
          <a:ln/>
        </p:spPr>
        <p:txBody>
          <a:bodyPr wrap="square" lIns="0" tIns="0" rIns="0" bIns="0" rtlCol="0" anchor="b"/>
          <a:lstStyle/>
          <a:p>
            <a:pPr algn="ctr" indent="0" marL="0">
              <a:buNone/>
            </a:pPr>
            <a:r>
              <a:rPr lang="en-US" sz="3200" b="1" dirty="0">
                <a:solidFill>
                  <a:schemeClr val="accent1"/>
                </a:solidFill>
                <a:latin typeface="Calibri" pitchFamily="34" charset="0"/>
                <a:ea typeface="Calibri" pitchFamily="34" charset="-122"/>
                <a:cs typeface="Calibri" pitchFamily="34" charset="-120"/>
              </a:rPr>
              <a:t>3,382</a:t>
            </a:r>
            <a:endParaRPr lang="en-US" sz="3200" dirty="0"/>
          </a:p>
        </p:txBody>
      </p:sp>
      <p:sp>
        <p:nvSpPr>
          <p:cNvPr id="9" name="Text 6"/>
          <p:cNvSpPr txBox="1"/>
          <p:nvPr/>
        </p:nvSpPr>
        <p:spPr>
          <a:xfrm>
            <a:off x="4617720" y="1508760"/>
            <a:ext cx="1828800" cy="2743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career stations</a:t>
            </a:r>
            <a:endParaRPr lang="en-US" sz="1300" dirty="0"/>
          </a:p>
        </p:txBody>
      </p:sp>
      <p:sp>
        <p:nvSpPr>
          <p:cNvPr id="10" name="Text 7"/>
          <p:cNvSpPr txBox="1"/>
          <p:nvPr/>
        </p:nvSpPr>
        <p:spPr>
          <a:xfrm>
            <a:off x="6583680" y="960120"/>
            <a:ext cx="1828800" cy="548640"/>
          </a:xfrm>
          <a:prstGeom prst="rect">
            <a:avLst/>
          </a:prstGeom>
          <a:noFill/>
          <a:ln/>
        </p:spPr>
        <p:txBody>
          <a:bodyPr wrap="square" lIns="0" tIns="0" rIns="0" bIns="0" rtlCol="0" anchor="b"/>
          <a:lstStyle/>
          <a:p>
            <a:pPr algn="ctr" indent="0" marL="0">
              <a:buNone/>
            </a:pPr>
            <a:r>
              <a:rPr lang="en-US" sz="3200" b="1" dirty="0">
                <a:solidFill>
                  <a:schemeClr val="accent1"/>
                </a:solidFill>
                <a:latin typeface="Calibri" pitchFamily="34" charset="0"/>
                <a:ea typeface="Calibri" pitchFamily="34" charset="-122"/>
                <a:cs typeface="Calibri" pitchFamily="34" charset="-120"/>
              </a:rPr>
              <a:t>0</a:t>
            </a:r>
            <a:endParaRPr lang="en-US" sz="3200" dirty="0"/>
          </a:p>
        </p:txBody>
      </p:sp>
      <p:sp>
        <p:nvSpPr>
          <p:cNvPr id="11" name="Text 8"/>
          <p:cNvSpPr txBox="1"/>
          <p:nvPr/>
        </p:nvSpPr>
        <p:spPr>
          <a:xfrm>
            <a:off x="6583680" y="1508760"/>
            <a:ext cx="1828800" cy="27432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validation errors</a:t>
            </a:r>
            <a:endParaRPr lang="en-US" sz="1300" dirty="0"/>
          </a:p>
        </p:txBody>
      </p:sp>
      <p:sp>
        <p:nvSpPr>
          <p:cNvPr id="12" name="Text 9"/>
          <p:cNvSpPr txBox="1"/>
          <p:nvPr/>
        </p:nvSpPr>
        <p:spPr>
          <a:xfrm>
            <a:off x="457200" y="1828800"/>
            <a:ext cx="8229600" cy="274320"/>
          </a:xfrm>
          <a:prstGeom prst="rect">
            <a:avLst/>
          </a:prstGeom>
          <a:noFill/>
          <a:ln/>
        </p:spPr>
        <p:txBody>
          <a:bodyPr wrap="square" lIns="38100" tIns="38100" rIns="38100" bIns="38100" rtlCol="0" anchor="t"/>
          <a:lstStyle/>
          <a:p>
            <a:pPr algn="ctr" indent="0" marL="0">
              <a:buNone/>
            </a:pPr>
            <a:r>
              <a:rPr lang="en-US" sz="1300" dirty="0">
                <a:solidFill>
                  <a:srgbClr val="666666"/>
                </a:solidFill>
                <a:latin typeface="Calibri" pitchFamily="34" charset="0"/>
                <a:ea typeface="Calibri" pitchFamily="34" charset="-122"/>
                <a:cs typeface="Calibri" pitchFamily="34" charset="-120"/>
              </a:rPr>
              <a:t>88,898 asserted + 41,730 inferred + 859 ontology + 56 VoID</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914400"/>
        </p:xfrm>
        <a:graphic>
          <a:graphicData uri="http://schemas.openxmlformats.org/drawingml/2006/table">
            <a:tbl>
              <a:tblPr/>
              <a:tblGrid>
                <a:gridCol w="3703320"/>
                <a:gridCol w="2788920"/>
                <a:gridCol w="1737360"/>
              </a:tblGrid>
              <a:tr h="38404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Question</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Answer from the graph</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Relies on</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19050" cap="flat" cmpd="sng" algn="ctr">
                      <a:solidFill>
                        <a:srgbClr val="1F1F1F"/>
                      </a:solidFill>
                      <a:prstDash val="solid"/>
                      <a:round/>
                      <a:headEnd type="none" w="med" len="med"/>
                      <a:tailEnd type="none" w="med" len="med"/>
                    </a:lnT>
                    <a:lnB w="9525" cap="flat" cmpd="sng" algn="ctr">
                      <a:solidFill>
                        <a:srgbClr val="1F1F1F"/>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How many provinces are there now?</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500" dirty="0">
                          <a:solidFill>
                            <a:schemeClr val="accent1"/>
                          </a:solidFill>
                          <a:latin typeface="Calibri" pitchFamily="34" charset="0"/>
                          <a:ea typeface="Calibri" pitchFamily="34" charset="-122"/>
                          <a:cs typeface="Calibri" pitchFamily="34" charset="-120"/>
                        </a:rPr>
                        <a:t>34</a:t>
                      </a:r>
                      <a:pPr algn="l" indent="0" marL="0">
                        <a:buNone/>
                      </a:pPr>
                      <a:r>
                        <a:rPr lang="en-US" sz="1500" dirty="0">
                          <a:solidFill>
                            <a:schemeClr val="tx1"/>
                          </a:solidFill>
                          <a:latin typeface="Calibri" pitchFamily="34" charset="0"/>
                          <a:ea typeface="Calibri" pitchFamily="34" charset="-122"/>
                          <a:cs typeface="Calibri" pitchFamily="34" charset="-120"/>
                        </a:rPr>
                        <a:t> (76 former)</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FormerProvince</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9525" cap="flat" cmpd="sng" algn="ctr">
                      <a:solidFill>
                        <a:srgbClr val="1F1F1F"/>
                      </a:solidFill>
                      <a:prstDash val="solid"/>
                      <a:round/>
                      <a:headEnd type="none" w="med" len="med"/>
                      <a:tailEnd type="none" w="med" len="med"/>
                    </a:lnT>
                    <a:lnB w="0" cap="flat" cmpd="sng" algn="ctr">
                      <a:noFill/>
                    </a:lnB>
                    <a:solidFill>
                      <a:srgbClr val="FFFFFF"/>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Which unit succeeded Hà Tây?</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Hà Nội</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successor</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Which teams has Công Phượng played for?</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11 teams, 7 club stations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property chain</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Which provinces have the most players?</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Nghệ An 58, Hà Nội 48, Thanh Hóa 42</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birthProvince</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How many universities are in Hà Nội?</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54</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chemeClr val="tx1"/>
                          </a:solidFill>
                          <a:latin typeface="Consolas" pitchFamily="34" charset="0"/>
                          <a:ea typeface="Consolas" pitchFamily="34" charset="-122"/>
                          <a:cs typeface="Consolas" pitchFamily="34" charset="-120"/>
                        </a:rPr>
                        <a:t>province</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Who is “Công Phượng”?</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Nguyễn Công Phượng</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redirect</a:t>
                      </a:r>
                      <a:endParaRPr lang="en-US" sz="150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19050" cap="flat" cmpd="sng" algn="ctr">
                      <a:solidFill>
                        <a:srgbClr val="1F1F1F"/>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457200" y="5440680"/>
            <a:ext cx="8229600" cy="320040"/>
          </a:xfrm>
          <a:prstGeom prst="rect">
            <a:avLst/>
          </a:prstGeom>
          <a:noFill/>
          <a:ln/>
        </p:spPr>
        <p:txBody>
          <a:bodyPr wrap="square" lIns="38100" tIns="38100" rIns="38100" bIns="38100" rtlCol="0" anchor="t"/>
          <a:lstStyle/>
          <a:p>
            <a:pPr algn="ctr" indent="0" marL="0">
              <a:buNone/>
            </a:pPr>
            <a:r>
              <a:rPr lang="en-US" sz="1300" dirty="0">
                <a:solidFill>
                  <a:srgbClr val="666666"/>
                </a:solidFill>
                <a:latin typeface="Calibri" pitchFamily="34" charset="0"/>
                <a:ea typeface="Calibri" pitchFamily="34" charset="-122"/>
                <a:cs typeface="Calibri" pitchFamily="34" charset="-120"/>
              </a:rPr>
              <a:t>Every question is an automated test on the real data (lower bounds, so tests survive a re-crawl)</a:t>
            </a:r>
            <a:endParaRPr lang="en-US" sz="13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Limitations and Future Work</a:t>
            </a:r>
            <a:endParaRPr lang="en-US" sz="2600" dirty="0"/>
          </a:p>
        </p:txBody>
      </p:sp>
      <p:sp>
        <p:nvSpPr>
          <p:cNvPr id="4" name="Shape 1"/>
          <p:cNvSpPr/>
          <p:nvPr/>
        </p:nvSpPr>
        <p:spPr>
          <a:xfrm>
            <a:off x="457200" y="1024128"/>
            <a:ext cx="8229600" cy="2788920"/>
          </a:xfrm>
          <a:prstGeom prst="roundRect">
            <a:avLst>
              <a:gd name="adj" fmla="val 2295"/>
            </a:avLst>
          </a:prstGeom>
          <a:solidFill>
            <a:schemeClr val="bg2"/>
          </a:solidFill>
          <a:ln/>
        </p:spPr>
      </p:sp>
      <p:sp>
        <p:nvSpPr>
          <p:cNvPr id="5" name="Shape 2"/>
          <p:cNvSpPr/>
          <p:nvPr/>
        </p:nvSpPr>
        <p:spPr>
          <a:xfrm>
            <a:off x="457200" y="1024128"/>
            <a:ext cx="8229600" cy="384048"/>
          </a:xfrm>
          <a:prstGeom prst="roundRect">
            <a:avLst>
              <a:gd name="adj" fmla="val 16667"/>
            </a:avLst>
          </a:prstGeom>
          <a:solidFill>
            <a:schemeClr val="accent1"/>
          </a:solidFill>
          <a:ln/>
        </p:spPr>
      </p:sp>
      <p:sp>
        <p:nvSpPr>
          <p:cNvPr id="6" name="Shape 3"/>
          <p:cNvSpPr/>
          <p:nvPr/>
        </p:nvSpPr>
        <p:spPr>
          <a:xfrm>
            <a:off x="457200" y="1216152"/>
            <a:ext cx="8229600" cy="192024"/>
          </a:xfrm>
          <a:prstGeom prst="rect">
            <a:avLst/>
          </a:prstGeom>
          <a:solidFill>
            <a:schemeClr val="accent1"/>
          </a:solidFill>
          <a:ln/>
        </p:spPr>
      </p:sp>
      <p:sp>
        <p:nvSpPr>
          <p:cNvPr id="7" name="Text 4"/>
          <p:cNvSpPr txBox="1"/>
          <p:nvPr/>
        </p:nvSpPr>
        <p:spPr>
          <a:xfrm>
            <a:off x="548640" y="1024128"/>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Limitations</a:t>
            </a:r>
            <a:endParaRPr lang="en-US" sz="1900" dirty="0"/>
          </a:p>
        </p:txBody>
      </p:sp>
      <p:sp>
        <p:nvSpPr>
          <p:cNvPr id="8" name="Text 5"/>
          <p:cNvSpPr txBox="1"/>
          <p:nvPr/>
        </p:nvSpPr>
        <p:spPr>
          <a:xfrm>
            <a:off x="548640" y="1453896"/>
            <a:ext cx="8046720" cy="2313432"/>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One domain, 990 entities — each new class needs a seed query, ontology terms, a mapping and a build function</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44 of 777 DBpedia links are stale (12 redirects, 32 missing)</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129 career stations without a team IRI; 26 universities without a province</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No time limit on </a:t>
            </a:r>
            <a:pPr indent="0" marL="0">
              <a:buNone/>
            </a:pPr>
            <a:r>
              <a:rPr lang="en-US" sz="1600" dirty="0">
                <a:solidFill>
                  <a:schemeClr val="tx1"/>
                </a:solidFill>
                <a:latin typeface="Consolas" pitchFamily="34" charset="0"/>
                <a:ea typeface="Consolas" pitchFamily="34" charset="-122"/>
                <a:cs typeface="Consolas" pitchFamily="34" charset="-120"/>
              </a:rPr>
              <a:t>/sparql</a:t>
            </a:r>
            <a:pPr indent="0" marL="0">
              <a:buNone/>
            </a:pPr>
            <a:r>
              <a:rPr lang="en-US" sz="1600" dirty="0">
                <a:solidFill>
                  <a:schemeClr val="tx1"/>
                </a:solidFill>
                <a:latin typeface="Calibri" pitchFamily="34" charset="0"/>
                <a:ea typeface="Calibri" pitchFamily="34" charset="-122"/>
                <a:cs typeface="Calibri" pitchFamily="34" charset="-120"/>
              </a:rPr>
              <a:t> queries: rdflib cannot cancel a running query</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Question answering not measured on a benchmark; its evidence graph is empty when rows hold one end of each relation</a:t>
            </a:r>
            <a:endParaRPr lang="en-US" sz="1600" dirty="0"/>
          </a:p>
        </p:txBody>
      </p:sp>
      <p:sp>
        <p:nvSpPr>
          <p:cNvPr id="9" name="Shape 6"/>
          <p:cNvSpPr/>
          <p:nvPr/>
        </p:nvSpPr>
        <p:spPr>
          <a:xfrm>
            <a:off x="457200" y="3977640"/>
            <a:ext cx="8229600" cy="1600200"/>
          </a:xfrm>
          <a:prstGeom prst="roundRect">
            <a:avLst>
              <a:gd name="adj" fmla="val 4000"/>
            </a:avLst>
          </a:prstGeom>
          <a:solidFill>
            <a:schemeClr val="bg2"/>
          </a:solidFill>
          <a:ln/>
        </p:spPr>
      </p:sp>
      <p:sp>
        <p:nvSpPr>
          <p:cNvPr id="10" name="Shape 7"/>
          <p:cNvSpPr/>
          <p:nvPr/>
        </p:nvSpPr>
        <p:spPr>
          <a:xfrm>
            <a:off x="457200" y="3977640"/>
            <a:ext cx="8229600" cy="384048"/>
          </a:xfrm>
          <a:prstGeom prst="roundRect">
            <a:avLst>
              <a:gd name="adj" fmla="val 16667"/>
            </a:avLst>
          </a:prstGeom>
          <a:solidFill>
            <a:schemeClr val="accent1"/>
          </a:solidFill>
          <a:ln/>
        </p:spPr>
      </p:sp>
      <p:sp>
        <p:nvSpPr>
          <p:cNvPr id="11" name="Shape 8"/>
          <p:cNvSpPr/>
          <p:nvPr/>
        </p:nvSpPr>
        <p:spPr>
          <a:xfrm>
            <a:off x="457200" y="4169664"/>
            <a:ext cx="8229600" cy="192024"/>
          </a:xfrm>
          <a:prstGeom prst="rect">
            <a:avLst/>
          </a:prstGeom>
          <a:solidFill>
            <a:schemeClr val="accent1"/>
          </a:solidFill>
          <a:ln/>
        </p:spPr>
      </p:sp>
      <p:sp>
        <p:nvSpPr>
          <p:cNvPr id="12" name="Text 9"/>
          <p:cNvSpPr txBox="1"/>
          <p:nvPr/>
        </p:nvSpPr>
        <p:spPr>
          <a:xfrm>
            <a:off x="548640" y="3977640"/>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Future work</a:t>
            </a:r>
            <a:endParaRPr lang="en-US" sz="1900" dirty="0"/>
          </a:p>
        </p:txBody>
      </p:sp>
      <p:sp>
        <p:nvSpPr>
          <p:cNvPr id="13" name="Text 10"/>
          <p:cNvSpPr txBox="1"/>
          <p:nvPr/>
        </p:nvSpPr>
        <p:spPr>
          <a:xfrm>
            <a:off x="548640" y="4407408"/>
            <a:ext cx="8046720" cy="1124712"/>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Query time limits, or a triple store such as Virtuoso when the data grows; follow DBpedia redirects at build time</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More classes (coaches, competitions) and page links (</a:t>
            </a:r>
            <a:pPr indent="0" marL="0">
              <a:buNone/>
            </a:pPr>
            <a:r>
              <a:rPr lang="en-US" sz="1600" dirty="0">
                <a:solidFill>
                  <a:schemeClr val="tx1"/>
                </a:solidFill>
                <a:latin typeface="Consolas" pitchFamily="34" charset="0"/>
                <a:ea typeface="Consolas" pitchFamily="34" charset="-122"/>
                <a:cs typeface="Consolas" pitchFamily="34" charset="-120"/>
              </a:rPr>
              <a:t>dbo:wikiPageWikiLink</a:t>
            </a:r>
            <a:pP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p>
          <a:p>
            <a:pPr marL="203200" indent="-203200">
              <a:spcAft>
                <a:spcPts val="300"/>
              </a:spcAft>
              <a:buSzPct val="100000"/>
              <a:buChar char="•"/>
            </a:pPr>
            <a:r>
              <a:rPr lang="en-US" sz="1600" dirty="0">
                <a:solidFill>
                  <a:schemeClr val="tx1"/>
                </a:solidFill>
                <a:latin typeface="Calibri" pitchFamily="34" charset="0"/>
                <a:ea typeface="Calibri" pitchFamily="34" charset="-122"/>
                <a:cs typeface="Calibri" pitchFamily="34" charset="-120"/>
              </a:rPr>
              <a:t>A benchmark of Vietnamese questions for question answering</a:t>
            </a:r>
            <a:endParaRPr lang="en-US" sz="16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365760" y="73152"/>
            <a:ext cx="8412480" cy="640080"/>
          </a:xfrm>
          <a:prstGeom prst="rect">
            <a:avLst/>
          </a:prstGeom>
          <a:noFill/>
          <a:ln/>
        </p:spPr>
        <p:txBody>
          <a:bodyPr wrap="square" lIns="0" tIns="0" rIns="0" bIns="0" rtlCol="0" anchor="ctr"/>
          <a:lstStyle/>
          <a:p>
            <a:pPr indent="0" marL="0">
              <a:buNone/>
            </a:pPr>
            <a:r>
              <a:rPr lang="en-US" sz="2600" dirty="0">
                <a:solidFill>
                  <a:schemeClr val="bg1"/>
                </a:solidFill>
              </a:rPr>
              <a:t>Conclusion</a:t>
            </a:r>
            <a:endParaRPr lang="en-US" sz="2600" dirty="0"/>
          </a:p>
        </p:txBody>
      </p:sp>
      <p:sp>
        <p:nvSpPr>
          <p:cNvPr id="4" name="Shape 1"/>
          <p:cNvSpPr/>
          <p:nvPr/>
        </p:nvSpPr>
        <p:spPr>
          <a:xfrm>
            <a:off x="457200" y="1024128"/>
            <a:ext cx="8229600" cy="1143000"/>
          </a:xfrm>
          <a:prstGeom prst="roundRect">
            <a:avLst>
              <a:gd name="adj" fmla="val 5600"/>
            </a:avLst>
          </a:prstGeom>
          <a:solidFill>
            <a:schemeClr val="bg2"/>
          </a:solidFill>
          <a:ln/>
        </p:spPr>
      </p:sp>
      <p:sp>
        <p:nvSpPr>
          <p:cNvPr id="5" name="Shape 2"/>
          <p:cNvSpPr/>
          <p:nvPr/>
        </p:nvSpPr>
        <p:spPr>
          <a:xfrm>
            <a:off x="457200" y="1024128"/>
            <a:ext cx="8229600" cy="384048"/>
          </a:xfrm>
          <a:prstGeom prst="roundRect">
            <a:avLst>
              <a:gd name="adj" fmla="val 16667"/>
            </a:avLst>
          </a:prstGeom>
          <a:solidFill>
            <a:schemeClr val="accent1"/>
          </a:solidFill>
          <a:ln/>
        </p:spPr>
      </p:sp>
      <p:sp>
        <p:nvSpPr>
          <p:cNvPr id="6" name="Shape 3"/>
          <p:cNvSpPr/>
          <p:nvPr/>
        </p:nvSpPr>
        <p:spPr>
          <a:xfrm>
            <a:off x="457200" y="1216152"/>
            <a:ext cx="8229600" cy="192024"/>
          </a:xfrm>
          <a:prstGeom prst="rect">
            <a:avLst/>
          </a:prstGeom>
          <a:solidFill>
            <a:schemeClr val="accent1"/>
          </a:solidFill>
          <a:ln/>
        </p:spPr>
      </p:sp>
      <p:sp>
        <p:nvSpPr>
          <p:cNvPr id="7" name="Text 4"/>
          <p:cNvSpPr txBox="1"/>
          <p:nvPr/>
        </p:nvSpPr>
        <p:spPr>
          <a:xfrm>
            <a:off x="548640" y="1024128"/>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A Vietnamese DBpedia for football, provinces and universities</a:t>
            </a:r>
            <a:endParaRPr lang="en-US" sz="1900" dirty="0"/>
          </a:p>
        </p:txBody>
      </p:sp>
      <p:sp>
        <p:nvSpPr>
          <p:cNvPr id="8" name="Text 5"/>
          <p:cNvSpPr txBox="1"/>
          <p:nvPr/>
        </p:nvSpPr>
        <p:spPr>
          <a:xfrm>
            <a:off x="548640" y="1453896"/>
            <a:ext cx="8046720" cy="667512"/>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Ontology </a:t>
            </a:r>
            <a:pPr indent="0" marL="0">
              <a:buNone/>
            </a:pPr>
            <a:r>
              <a:rPr lang="en-US" sz="1800" dirty="0">
                <a:solidFill>
                  <a:schemeClr val="tx1"/>
                </a:solidFill>
                <a:latin typeface="Consolas" pitchFamily="34" charset="0"/>
                <a:ea typeface="Consolas" pitchFamily="34" charset="-122"/>
                <a:cs typeface="Consolas" pitchFamily="34" charset="-120"/>
              </a:rPr>
              <a:t>vio:</a:t>
            </a:r>
            <a:pPr indent="0" marL="0">
              <a:buNone/>
            </a:pPr>
            <a:r>
              <a:rPr lang="en-US" sz="1800" dirty="0">
                <a:solidFill>
                  <a:schemeClr val="tx1"/>
                </a:solidFill>
                <a:latin typeface="Calibri" pitchFamily="34" charset="0"/>
                <a:ea typeface="Calibri" pitchFamily="34" charset="-122"/>
                <a:cs typeface="Calibri" pitchFamily="34" charset="-120"/>
              </a:rPr>
              <a:t> (18 classes, 54 properties) aligned with DBpedia; 990 Vietnamese articles → </a:t>
            </a:r>
            <a:pPr indent="0" marL="0">
              <a:buNone/>
            </a:pPr>
            <a:r>
              <a:rPr lang="en-US" sz="1800" dirty="0">
                <a:solidFill>
                  <a:schemeClr val="accent1"/>
                </a:solidFill>
                <a:latin typeface="Calibri" pitchFamily="34" charset="0"/>
                <a:ea typeface="Calibri" pitchFamily="34" charset="-122"/>
                <a:cs typeface="Calibri" pitchFamily="34" charset="-120"/>
              </a:rPr>
              <a:t>131,543 triples</a:t>
            </a:r>
            <a:pPr indent="0" marL="0">
              <a:buNone/>
            </a:pPr>
            <a:r>
              <a:rPr lang="en-US" sz="1800" dirty="0">
                <a:solidFill>
                  <a:schemeClr val="tx1"/>
                </a:solidFill>
                <a:latin typeface="Calibri" pitchFamily="34" charset="0"/>
                <a:ea typeface="Calibri" pitchFamily="34" charset="-122"/>
                <a:cs typeface="Calibri" pitchFamily="34" charset="-120"/>
              </a:rPr>
              <a:t>, 0 validation errors</a:t>
            </a:r>
            <a:endParaRPr lang="en-US" sz="1800" dirty="0"/>
          </a:p>
        </p:txBody>
      </p:sp>
      <p:sp>
        <p:nvSpPr>
          <p:cNvPr id="9" name="Shape 6"/>
          <p:cNvSpPr/>
          <p:nvPr/>
        </p:nvSpPr>
        <p:spPr>
          <a:xfrm>
            <a:off x="457200" y="2331720"/>
            <a:ext cx="8229600" cy="1143000"/>
          </a:xfrm>
          <a:prstGeom prst="roundRect">
            <a:avLst>
              <a:gd name="adj" fmla="val 5600"/>
            </a:avLst>
          </a:prstGeom>
          <a:solidFill>
            <a:schemeClr val="bg2"/>
          </a:solidFill>
          <a:ln/>
        </p:spPr>
      </p:sp>
      <p:sp>
        <p:nvSpPr>
          <p:cNvPr id="10" name="Shape 7"/>
          <p:cNvSpPr/>
          <p:nvPr/>
        </p:nvSpPr>
        <p:spPr>
          <a:xfrm>
            <a:off x="457200" y="2331720"/>
            <a:ext cx="8229600" cy="384048"/>
          </a:xfrm>
          <a:prstGeom prst="roundRect">
            <a:avLst>
              <a:gd name="adj" fmla="val 16667"/>
            </a:avLst>
          </a:prstGeom>
          <a:solidFill>
            <a:schemeClr val="accent1"/>
          </a:solidFill>
          <a:ln/>
        </p:spPr>
      </p:sp>
      <p:sp>
        <p:nvSpPr>
          <p:cNvPr id="11" name="Shape 8"/>
          <p:cNvSpPr/>
          <p:nvPr/>
        </p:nvSpPr>
        <p:spPr>
          <a:xfrm>
            <a:off x="457200" y="2523744"/>
            <a:ext cx="8229600" cy="192024"/>
          </a:xfrm>
          <a:prstGeom prst="rect">
            <a:avLst/>
          </a:prstGeom>
          <a:solidFill>
            <a:schemeClr val="accent1"/>
          </a:solidFill>
          <a:ln/>
        </p:spPr>
      </p:sp>
      <p:sp>
        <p:nvSpPr>
          <p:cNvPr id="12" name="Text 9"/>
          <p:cNvSpPr txBox="1"/>
          <p:nvPr/>
        </p:nvSpPr>
        <p:spPr>
          <a:xfrm>
            <a:off x="548640" y="2331720"/>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Reasoning makes it interoperable</a:t>
            </a:r>
            <a:endParaRPr lang="en-US" sz="1900" dirty="0"/>
          </a:p>
        </p:txBody>
      </p:sp>
      <p:sp>
        <p:nvSpPr>
          <p:cNvPr id="13" name="Text 10"/>
          <p:cNvSpPr txBox="1"/>
          <p:nvPr/>
        </p:nvSpPr>
        <p:spPr>
          <a:xfrm>
            <a:off x="548640" y="2761488"/>
            <a:ext cx="8046720" cy="667512"/>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OWL 2 RL adds the DBpedia types and properties clients expect, and shortcut edges for multi-hop questions (</a:t>
            </a:r>
            <a:pPr indent="0" marL="0">
              <a:buNone/>
            </a:pPr>
            <a:r>
              <a:rPr lang="en-US" sz="1800" dirty="0">
                <a:solidFill>
                  <a:schemeClr val="tx1"/>
                </a:solidFill>
                <a:latin typeface="Consolas" pitchFamily="34" charset="0"/>
                <a:ea typeface="Consolas" pitchFamily="34" charset="-122"/>
                <a:cs typeface="Consolas" pitchFamily="34" charset="-120"/>
              </a:rPr>
              <a:t>playedFor</a:t>
            </a:r>
            <a:pPr indent="0" marL="0">
              <a:buNone/>
            </a:pPr>
            <a:r>
              <a:rPr lang="en-US" sz="1800" dirty="0">
                <a:solidFill>
                  <a:schemeClr val="tx1"/>
                </a:solidFill>
                <a:latin typeface="Calibri" pitchFamily="34" charset="0"/>
                <a:ea typeface="Calibri" pitchFamily="34" charset="-122"/>
                <a:cs typeface="Calibri" pitchFamily="34" charset="-120"/>
              </a:rPr>
              <a:t>: 0 → 2,772)</a:t>
            </a:r>
            <a:endParaRPr lang="en-US" sz="1800" dirty="0"/>
          </a:p>
        </p:txBody>
      </p:sp>
      <p:sp>
        <p:nvSpPr>
          <p:cNvPr id="14" name="Shape 11"/>
          <p:cNvSpPr/>
          <p:nvPr/>
        </p:nvSpPr>
        <p:spPr>
          <a:xfrm>
            <a:off x="457200" y="3639312"/>
            <a:ext cx="8229600" cy="1371600"/>
          </a:xfrm>
          <a:prstGeom prst="roundRect">
            <a:avLst>
              <a:gd name="adj" fmla="val 4667"/>
            </a:avLst>
          </a:prstGeom>
          <a:solidFill>
            <a:schemeClr val="bg2"/>
          </a:solidFill>
          <a:ln/>
        </p:spPr>
      </p:sp>
      <p:sp>
        <p:nvSpPr>
          <p:cNvPr id="15" name="Shape 12"/>
          <p:cNvSpPr/>
          <p:nvPr/>
        </p:nvSpPr>
        <p:spPr>
          <a:xfrm>
            <a:off x="457200" y="3639312"/>
            <a:ext cx="8229600" cy="384048"/>
          </a:xfrm>
          <a:prstGeom prst="roundRect">
            <a:avLst>
              <a:gd name="adj" fmla="val 16667"/>
            </a:avLst>
          </a:prstGeom>
          <a:solidFill>
            <a:schemeClr val="accent1"/>
          </a:solidFill>
          <a:ln/>
        </p:spPr>
      </p:sp>
      <p:sp>
        <p:nvSpPr>
          <p:cNvPr id="16" name="Shape 13"/>
          <p:cNvSpPr/>
          <p:nvPr/>
        </p:nvSpPr>
        <p:spPr>
          <a:xfrm>
            <a:off x="457200" y="3831336"/>
            <a:ext cx="8229600" cy="192024"/>
          </a:xfrm>
          <a:prstGeom prst="rect">
            <a:avLst/>
          </a:prstGeom>
          <a:solidFill>
            <a:schemeClr val="accent1"/>
          </a:solidFill>
          <a:ln/>
        </p:spPr>
      </p:sp>
      <p:sp>
        <p:nvSpPr>
          <p:cNvPr id="17" name="Text 14"/>
          <p:cNvSpPr txBox="1"/>
          <p:nvPr/>
        </p:nvSpPr>
        <p:spPr>
          <a:xfrm>
            <a:off x="548640" y="3639312"/>
            <a:ext cx="8046720" cy="384048"/>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Five-star Linked Data with a query interface</a:t>
            </a:r>
            <a:endParaRPr lang="en-US" sz="1900" dirty="0"/>
          </a:p>
        </p:txBody>
      </p:sp>
      <p:sp>
        <p:nvSpPr>
          <p:cNvPr id="18" name="Text 15"/>
          <p:cNvSpPr txBox="1"/>
          <p:nvPr/>
        </p:nvSpPr>
        <p:spPr>
          <a:xfrm>
            <a:off x="548640" y="4069080"/>
            <a:ext cx="8046720" cy="896112"/>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777 links to English DBpedia (733 verified live), 990 to Wikidata; 303 + content negotiation, </a:t>
            </a:r>
            <a:pPr indent="0" marL="0">
              <a:buNone/>
            </a:pPr>
            <a:r>
              <a:rPr lang="en-US" sz="1800" dirty="0">
                <a:solidFill>
                  <a:schemeClr val="tx1"/>
                </a:solidFill>
                <a:latin typeface="Consolas" pitchFamily="34" charset="0"/>
                <a:ea typeface="Consolas" pitchFamily="34" charset="-122"/>
                <a:cs typeface="Consolas" pitchFamily="34" charset="-120"/>
              </a:rPr>
              <a:t>/sparql</a:t>
            </a:r>
            <a:pPr indent="0" marL="0">
              <a:buNone/>
            </a:pPr>
            <a:r>
              <a:rPr lang="en-US" sz="1800" dirty="0">
                <a:solidFill>
                  <a:schemeClr val="tx1"/>
                </a:solidFill>
                <a:latin typeface="Calibri" pitchFamily="34" charset="0"/>
                <a:ea typeface="Calibri" pitchFamily="34" charset="-122"/>
                <a:cs typeface="Calibri" pitchFamily="34" charset="-120"/>
              </a:rPr>
              <a:t> endpoint and terminal client, React UI with SPARQL editor and step-by-step question answering</a:t>
            </a:r>
            <a:endParaRPr lang="en-US" sz="1800" dirty="0"/>
          </a:p>
        </p:txBody>
      </p:sp>
      <p:sp>
        <p:nvSpPr>
          <p:cNvPr id="19" name="Text 16"/>
          <p:cNvSpPr txBox="1"/>
          <p:nvPr/>
        </p:nvSpPr>
        <p:spPr>
          <a:xfrm>
            <a:off x="457200" y="5303520"/>
            <a:ext cx="8229600" cy="411480"/>
          </a:xfrm>
          <a:prstGeom prst="rect">
            <a:avLst/>
          </a:prstGeom>
          <a:noFill/>
          <a:ln/>
        </p:spPr>
        <p:txBody>
          <a:bodyPr wrap="square" lIns="38100" tIns="38100" rIns="38100" bIns="38100" rtlCol="0" anchor="t"/>
          <a:lstStyle/>
          <a:p>
            <a:pPr algn="ctr" indent="0" marL="0">
              <a:buNone/>
            </a:pPr>
            <a:r>
              <a:rPr lang="en-US" sz="1800" dirty="0">
                <a:solidFill>
                  <a:schemeClr val="accent1"/>
                </a:solidFill>
                <a:latin typeface="Calibri" pitchFamily="34" charset="0"/>
                <a:ea typeface="Calibri" pitchFamily="34" charset="-122"/>
                <a:cs typeface="Calibri" pitchFamily="34" charset="-120"/>
              </a:rPr>
              <a:t>Code and data: </a:t>
            </a:r>
            <a:pPr algn="ctr" indent="0" marL="0">
              <a:buNone/>
            </a:pPr>
            <a:r>
              <a:rPr lang="en-US" sz="1800" dirty="0">
                <a:solidFill>
                  <a:schemeClr val="tx1"/>
                </a:solidFill>
                <a:latin typeface="Consolas" pitchFamily="34" charset="0"/>
                <a:ea typeface="Consolas" pitchFamily="34" charset="-122"/>
                <a:cs typeface="Consolas" pitchFamily="34" charset="-120"/>
              </a:rPr>
              <a:t>github.com/PhungHaThiKim/vietnamese-dbpedia</a:t>
            </a:r>
            <a:endParaRPr lang="en-US" sz="1800" dirty="0"/>
          </a:p>
        </p:txBody>
      </p:sp>
      <p:sp>
        <p:nvSpPr>
          <p:cNvPr id="25" name="Slide Number Placeholder 0"/>
          <p:cNvSpPr>
            <a:spLocks noGrp="1"/>
          </p:cNvSpPr>
          <p:nvPr>
            <p:ph type="sldNum" sz="quarter" idx="4294967295"/>
          </p:nvPr>
        </p:nvSpPr>
        <p:spPr>
          <a:xfrm>
            <a:off x="818388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1"/>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1371600" y="2880360"/>
            <a:ext cx="6400800" cy="960120"/>
          </a:xfrm>
          <a:prstGeom prst="rect">
            <a:avLst/>
          </a:prstGeom>
          <a:noFill/>
          <a:ln/>
        </p:spPr>
        <p:txBody>
          <a:bodyPr wrap="square" lIns="0" tIns="0" rIns="0" bIns="0" rtlCol="0" anchor="b"/>
          <a:lstStyle/>
          <a:p>
            <a:pPr algn="ctr" indent="0" marL="0">
              <a:buNone/>
            </a:pPr>
            <a:r>
              <a:rPr lang="en-US" sz="6000" b="1" dirty="0">
                <a:solidFill>
                  <a:schemeClr val="bg1"/>
                </a:solidFill>
              </a:rPr>
              <a:t>Thank you</a:t>
            </a:r>
            <a:endParaRPr lang="en-US" sz="6000" dirty="0"/>
          </a:p>
        </p:txBody>
      </p:sp>
      <p:sp>
        <p:nvSpPr>
          <p:cNvPr id="4" name="Text 0"/>
          <p:cNvSpPr/>
          <p:nvPr>
            <p:ph idx="101" type="body" hasCustomPrompt="1"/>
          </p:nvPr>
        </p:nvSpPr>
        <p:spPr>
          <a:xfrm>
            <a:off x="1371600" y="3794760"/>
            <a:ext cx="6400800" cy="731520"/>
          </a:xfrm>
          <a:prstGeom prst="rect">
            <a:avLst/>
          </a:prstGeom>
          <a:noFill/>
          <a:ln/>
        </p:spPr>
        <p:txBody>
          <a:bodyPr wrap="square" lIns="0" tIns="0" rIns="0" bIns="0" rtlCol="0" anchor="t"/>
          <a:lstStyle/>
          <a:p>
            <a:pPr algn="ctr" indent="0" marL="0">
              <a:buNone/>
            </a:pPr>
            <a:r>
              <a:rPr lang="en-US" sz="4400" b="1" dirty="0">
                <a:solidFill>
                  <a:schemeClr val="bg1"/>
                </a:solidFill>
              </a:rPr>
              <a:t>Questions?</a:t>
            </a:r>
            <a:endParaRPr lang="en-US" sz="4400" dirty="0"/>
          </a:p>
        </p:txBody>
      </p:sp>
    </p:spTree>
  </p:cSld>
  <p:clrMapOvr>
    <a:masterClrMapping/>
  </p:clrMapOvr>
</p:sld>
</file>

<file path=ppt/theme/theme1.xml><?xml version="1.0" encoding="utf-8"?>
<a:theme xmlns:a="http://schemas.openxmlformats.org/drawingml/2006/main" name="HUST Red">
  <a:themeElements>
    <a:clrScheme name="HUST Red">
      <a:dk1>
        <a:srgbClr val="1F1F1F"/>
      </a:dk1>
      <a:lt1>
        <a:srgbClr val="FFFFFF"/>
      </a:lt1>
      <a:dk2>
        <a:srgbClr val="781E23"/>
      </a:dk2>
      <a:lt2>
        <a:srgbClr val="F0DCDE"/>
      </a:lt2>
      <a:accent1>
        <a:srgbClr val="B03239"/>
      </a:accent1>
      <a:accent2>
        <a:srgbClr val="2A78D6"/>
      </a:accent2>
      <a:accent3>
        <a:srgbClr val="8A8984"/>
      </a:accent3>
      <a:accent4>
        <a:srgbClr val="781E23"/>
      </a:accent4>
      <a:accent5>
        <a:srgbClr val="D98A90"/>
      </a:accent5>
      <a:accent6>
        <a:srgbClr val="4A4A4A"/>
      </a:accent6>
      <a:hlink>
        <a:srgbClr val="2A78D6"/>
      </a:hlink>
      <a:folHlink>
        <a:srgbClr val="781E23"/>
      </a:folHlink>
    </a:clrScheme>
    <a:fontScheme name="HUST Re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Vietnamese DBpedia</dc:title>
  <dc:subject>Semantic Web, Topic 2: Build a DBpedia version for Vietnamese language</dc:subject>
  <dc:creator>Group 23</dc:creator>
  <cp:lastModifiedBy>Group 23</cp:lastModifiedBy>
  <cp:revision>1</cp:revision>
  <dcterms:created xsi:type="dcterms:W3CDTF">2026-10-09T07:53:02Z</dcterms:created>
  <dcterms:modified xsi:type="dcterms:W3CDTF">2026-10-09T07:53:02Z</dcterms:modified>
</cp:coreProperties>
</file>